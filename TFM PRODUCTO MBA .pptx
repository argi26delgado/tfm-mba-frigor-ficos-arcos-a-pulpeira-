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5"/>
    <p:sldMasterId id="214748366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Libre Franklin"/>
      <p:regular r:id="rId30"/>
      <p:bold r:id="rId31"/>
      <p:italic r:id="rId32"/>
      <p:boldItalic r:id="rId33"/>
    </p:embeddedFont>
    <p:embeddedFont>
      <p:font typeface="Roboto"/>
      <p:regular r:id="rId34"/>
      <p:bold r:id="rId35"/>
      <p:italic r:id="rId36"/>
      <p:boldItalic r:id="rId37"/>
    </p:embeddedFont>
    <p:embeddedFont>
      <p:font typeface="Libre Franklin Medium"/>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BBEE87-62AD-4EDD-BEDA-F695716BED0F}">
  <a:tblStyle styleId="{8ABBEE87-62AD-4EDD-BEDA-F695716BED0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8E6823E-F903-4DD9-82A9-AA4938FAAC1E}" styleName="Table_1">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FranklinMedium-italic.fntdata"/><Relationship Id="rId20" Type="http://schemas.openxmlformats.org/officeDocument/2006/relationships/slide" Target="slides/slide13.xml"/><Relationship Id="rId41" Type="http://schemas.openxmlformats.org/officeDocument/2006/relationships/font" Target="fonts/LibreFranklinMedium-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ibreFranklin-bold.fntdata"/><Relationship Id="rId30" Type="http://schemas.openxmlformats.org/officeDocument/2006/relationships/font" Target="fonts/LibreFranklin-regular.fntdata"/><Relationship Id="rId11" Type="http://schemas.openxmlformats.org/officeDocument/2006/relationships/slide" Target="slides/slide4.xml"/><Relationship Id="rId33" Type="http://schemas.openxmlformats.org/officeDocument/2006/relationships/font" Target="fonts/LibreFranklin-boldItalic.fntdata"/><Relationship Id="rId10" Type="http://schemas.openxmlformats.org/officeDocument/2006/relationships/slide" Target="slides/slide3.xml"/><Relationship Id="rId32" Type="http://schemas.openxmlformats.org/officeDocument/2006/relationships/font" Target="fonts/LibreFranklin-italic.fntdata"/><Relationship Id="rId13" Type="http://schemas.openxmlformats.org/officeDocument/2006/relationships/slide" Target="slides/slide6.xml"/><Relationship Id="rId35" Type="http://schemas.openxmlformats.org/officeDocument/2006/relationships/font" Target="fonts/Roboto-bold.fntdata"/><Relationship Id="rId12" Type="http://schemas.openxmlformats.org/officeDocument/2006/relationships/slide" Target="slides/slide5.xml"/><Relationship Id="rId34" Type="http://schemas.openxmlformats.org/officeDocument/2006/relationships/font" Target="fonts/Roboto-regular.fntdata"/><Relationship Id="rId15" Type="http://schemas.openxmlformats.org/officeDocument/2006/relationships/slide" Target="slides/slide8.xml"/><Relationship Id="rId37" Type="http://schemas.openxmlformats.org/officeDocument/2006/relationships/font" Target="fonts/Roboto-boldItalic.fntdata"/><Relationship Id="rId14" Type="http://schemas.openxmlformats.org/officeDocument/2006/relationships/slide" Target="slides/slide7.xml"/><Relationship Id="rId36" Type="http://schemas.openxmlformats.org/officeDocument/2006/relationships/font" Target="fonts/Roboto-italic.fntdata"/><Relationship Id="rId17" Type="http://schemas.openxmlformats.org/officeDocument/2006/relationships/slide" Target="slides/slide10.xml"/><Relationship Id="rId39" Type="http://schemas.openxmlformats.org/officeDocument/2006/relationships/font" Target="fonts/LibreFranklinMedium-bold.fntdata"/><Relationship Id="rId16" Type="http://schemas.openxmlformats.org/officeDocument/2006/relationships/slide" Target="slides/slide9.xml"/><Relationship Id="rId38" Type="http://schemas.openxmlformats.org/officeDocument/2006/relationships/font" Target="fonts/LibreFranklinMedium-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9d3deb48b2_2_35:notes"/>
          <p:cNvSpPr txBox="1"/>
          <p:nvPr>
            <p:ph idx="1" type="body"/>
          </p:nvPr>
        </p:nvSpPr>
        <p:spPr>
          <a:xfrm>
            <a:off x="685480" y="4400181"/>
            <a:ext cx="5487041" cy="360028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39d3deb48b2_2_35:notes"/>
          <p:cNvSpPr/>
          <p:nvPr>
            <p:ph idx="2" type="sldImg"/>
          </p:nvPr>
        </p:nvSpPr>
        <p:spPr>
          <a:xfrm>
            <a:off x="426022" y="1143550"/>
            <a:ext cx="6005955" cy="30855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d3deb48b2_2_50:notes"/>
          <p:cNvSpPr txBox="1"/>
          <p:nvPr>
            <p:ph idx="1" type="body"/>
          </p:nvPr>
        </p:nvSpPr>
        <p:spPr>
          <a:xfrm>
            <a:off x="685480" y="4400181"/>
            <a:ext cx="5487041" cy="360028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9d3deb48b2_2_50:notes"/>
          <p:cNvSpPr/>
          <p:nvPr>
            <p:ph idx="2" type="sldImg"/>
          </p:nvPr>
        </p:nvSpPr>
        <p:spPr>
          <a:xfrm>
            <a:off x="426022" y="1143550"/>
            <a:ext cx="6005955" cy="30855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d3deb48b2_2_59:notes"/>
          <p:cNvSpPr txBox="1"/>
          <p:nvPr>
            <p:ph idx="1" type="body"/>
          </p:nvPr>
        </p:nvSpPr>
        <p:spPr>
          <a:xfrm>
            <a:off x="685480" y="4400181"/>
            <a:ext cx="5487041" cy="360028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9d3deb48b2_2_59:notes"/>
          <p:cNvSpPr/>
          <p:nvPr>
            <p:ph idx="2" type="sldImg"/>
          </p:nvPr>
        </p:nvSpPr>
        <p:spPr>
          <a:xfrm>
            <a:off x="426022" y="1143550"/>
            <a:ext cx="6005955" cy="30855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f8d266656_1_13:notes"/>
          <p:cNvSpPr txBox="1"/>
          <p:nvPr>
            <p:ph idx="1" type="body"/>
          </p:nvPr>
        </p:nvSpPr>
        <p:spPr>
          <a:xfrm>
            <a:off x="685480" y="4400181"/>
            <a:ext cx="54870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9f8d266656_1_13: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9f8d266656_1_20:notes"/>
          <p:cNvSpPr txBox="1"/>
          <p:nvPr>
            <p:ph idx="1" type="body"/>
          </p:nvPr>
        </p:nvSpPr>
        <p:spPr>
          <a:xfrm>
            <a:off x="685480" y="4400181"/>
            <a:ext cx="54870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9f8d266656_1_20: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f8d266656_1_60:notes"/>
          <p:cNvSpPr txBox="1"/>
          <p:nvPr>
            <p:ph idx="1" type="body"/>
          </p:nvPr>
        </p:nvSpPr>
        <p:spPr>
          <a:xfrm>
            <a:off x="685480" y="4400181"/>
            <a:ext cx="54870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9f8d266656_1_60: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d3deb48b2_2_66:notes"/>
          <p:cNvSpPr txBox="1"/>
          <p:nvPr>
            <p:ph idx="1" type="body"/>
          </p:nvPr>
        </p:nvSpPr>
        <p:spPr>
          <a:xfrm>
            <a:off x="685480" y="4400181"/>
            <a:ext cx="5487041" cy="360028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9d3deb48b2_2_66:notes"/>
          <p:cNvSpPr/>
          <p:nvPr>
            <p:ph idx="2" type="sldImg"/>
          </p:nvPr>
        </p:nvSpPr>
        <p:spPr>
          <a:xfrm>
            <a:off x="426022" y="1143550"/>
            <a:ext cx="6005955" cy="30855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db2907bb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db2907bb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9db2907b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9db2907b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e0df1444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9e0df1444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9ff32ed4b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9ff32ed4b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9ff32ed4b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9ff32ed4b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9ff32ed4b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9ff32ed4b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9e82957b3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9e82957b3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e82957b3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9e82957b3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9f893a19d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9f893a19d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9e82957b3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9e82957b3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9f893a19d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9f893a19d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a0421f44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a0421f44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9d3deb48b2_2_119:notes"/>
          <p:cNvSpPr txBox="1"/>
          <p:nvPr>
            <p:ph idx="1" type="body"/>
          </p:nvPr>
        </p:nvSpPr>
        <p:spPr>
          <a:xfrm>
            <a:off x="685480" y="4400181"/>
            <a:ext cx="5487041" cy="360028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39d3deb48b2_2_119:notes"/>
          <p:cNvSpPr/>
          <p:nvPr>
            <p:ph idx="2" type="sldImg"/>
          </p:nvPr>
        </p:nvSpPr>
        <p:spPr>
          <a:xfrm>
            <a:off x="426022" y="1143550"/>
            <a:ext cx="6005955" cy="30855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9f8d266656_0_32:notes"/>
          <p:cNvSpPr txBox="1"/>
          <p:nvPr>
            <p:ph idx="1" type="body"/>
          </p:nvPr>
        </p:nvSpPr>
        <p:spPr>
          <a:xfrm>
            <a:off x="685480" y="4400181"/>
            <a:ext cx="54870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g39f8d266656_0_32: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9d3deb48b2_2_151:notes"/>
          <p:cNvSpPr txBox="1"/>
          <p:nvPr>
            <p:ph idx="1" type="body"/>
          </p:nvPr>
        </p:nvSpPr>
        <p:spPr>
          <a:xfrm>
            <a:off x="685480" y="4400181"/>
            <a:ext cx="5487041" cy="360028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9d3deb48b2_2_151:notes"/>
          <p:cNvSpPr/>
          <p:nvPr>
            <p:ph idx="2" type="sldImg"/>
          </p:nvPr>
        </p:nvSpPr>
        <p:spPr>
          <a:xfrm>
            <a:off x="426022" y="1143550"/>
            <a:ext cx="6005955" cy="30855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4" name="Shape 54"/>
        <p:cNvGrpSpPr/>
        <p:nvPr/>
      </p:nvGrpSpPr>
      <p:grpSpPr>
        <a:xfrm>
          <a:off x="0" y="0"/>
          <a:ext cx="0" cy="0"/>
          <a:chOff x="0" y="0"/>
          <a:chExt cx="0" cy="0"/>
        </a:xfrm>
      </p:grpSpPr>
      <p:pic>
        <p:nvPicPr>
          <p:cNvPr descr="Texto&#10;&#10;Descripción generada automáticamente" id="55" name="Google Shape;55;p14"/>
          <p:cNvPicPr preferRelativeResize="0"/>
          <p:nvPr/>
        </p:nvPicPr>
        <p:blipFill rotWithShape="1">
          <a:blip r:embed="rId2">
            <a:alphaModFix/>
          </a:blip>
          <a:srcRect b="0" l="0" r="0" t="0"/>
          <a:stretch/>
        </p:blipFill>
        <p:spPr>
          <a:xfrm>
            <a:off x="251619" y="4620419"/>
            <a:ext cx="1658938" cy="371475"/>
          </a:xfrm>
          <a:prstGeom prst="rect">
            <a:avLst/>
          </a:prstGeom>
          <a:noFill/>
          <a:ln>
            <a:noFill/>
          </a:ln>
        </p:spPr>
      </p:pic>
    </p:spTree>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p:spTree>
      <p:nvGrpSpPr>
        <p:cNvPr id="56" name="Shape 56"/>
        <p:cNvGrpSpPr/>
        <p:nvPr/>
      </p:nvGrpSpPr>
      <p:grpSpPr>
        <a:xfrm>
          <a:off x="0" y="0"/>
          <a:ext cx="0" cy="0"/>
          <a:chOff x="0" y="0"/>
          <a:chExt cx="0" cy="0"/>
        </a:xfrm>
      </p:grpSpPr>
      <p:cxnSp>
        <p:nvCxnSpPr>
          <p:cNvPr id="57" name="Google Shape;57;p15"/>
          <p:cNvCxnSpPr/>
          <p:nvPr/>
        </p:nvCxnSpPr>
        <p:spPr>
          <a:xfrm>
            <a:off x="352425" y="342900"/>
            <a:ext cx="0" cy="514350"/>
          </a:xfrm>
          <a:prstGeom prst="straightConnector1">
            <a:avLst/>
          </a:prstGeom>
          <a:noFill/>
          <a:ln cap="flat" cmpd="sng" w="63500">
            <a:solidFill>
              <a:schemeClr val="accent1"/>
            </a:solidFill>
            <a:prstDash val="solid"/>
            <a:miter lim="800000"/>
            <a:headEnd len="sm" w="sm" type="none"/>
            <a:tailEnd len="sm" w="sm" type="none"/>
          </a:ln>
        </p:spPr>
      </p:cxnSp>
      <p:sp>
        <p:nvSpPr>
          <p:cNvPr id="58" name="Google Shape;58;p15"/>
          <p:cNvSpPr txBox="1"/>
          <p:nvPr>
            <p:ph type="title"/>
          </p:nvPr>
        </p:nvSpPr>
        <p:spPr>
          <a:xfrm>
            <a:off x="438150" y="285706"/>
            <a:ext cx="2724151" cy="661200"/>
          </a:xfrm>
          <a:prstGeom prst="rect">
            <a:avLst/>
          </a:prstGeom>
          <a:noFill/>
          <a:ln>
            <a:noFill/>
          </a:ln>
        </p:spPr>
        <p:txBody>
          <a:bodyPr anchorCtr="0" anchor="t" bIns="22850" lIns="45725" spcFirstLastPara="1" rIns="45725" wrap="square" tIns="22850">
            <a:spAutoFit/>
          </a:bodyPr>
          <a:lstStyle>
            <a:lvl1pPr lvl="0" marR="0" rtl="0" algn="l">
              <a:lnSpc>
                <a:spcPct val="90000"/>
              </a:lnSpc>
              <a:spcBef>
                <a:spcPts val="0"/>
              </a:spcBef>
              <a:spcAft>
                <a:spcPts val="0"/>
              </a:spcAft>
              <a:buSzPts val="700"/>
              <a:buNone/>
              <a:defRPr b="1" i="0" sz="2200" u="none" cap="none" strike="noStrike">
                <a:solidFill>
                  <a:srgbClr val="219BC3"/>
                </a:solidFill>
                <a:latin typeface="Libre Franklin"/>
                <a:ea typeface="Libre Franklin"/>
                <a:cs typeface="Libre Franklin"/>
                <a:sym typeface="Libre Franklin"/>
              </a:defRPr>
            </a:lvl1pPr>
            <a:lvl2pPr lvl="1"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2pPr>
            <a:lvl3pPr lvl="2"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3pPr>
            <a:lvl4pPr lvl="3"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4pPr>
            <a:lvl5pPr lvl="4"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5pPr>
            <a:lvl6pPr lvl="5"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6pPr>
            <a:lvl7pPr lvl="6"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7pPr>
            <a:lvl8pPr lvl="7"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8pPr>
            <a:lvl9pPr lvl="8"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9pPr>
          </a:lstStyle>
          <a:p/>
        </p:txBody>
      </p:sp>
    </p:spTree>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G-SLIDE OPT-8">
  <p:cSld name="IMG-SLIDE OPT-8">
    <p:spTree>
      <p:nvGrpSpPr>
        <p:cNvPr id="59" name="Shape 59"/>
        <p:cNvGrpSpPr/>
        <p:nvPr/>
      </p:nvGrpSpPr>
      <p:grpSpPr>
        <a:xfrm>
          <a:off x="0" y="0"/>
          <a:ext cx="0" cy="0"/>
          <a:chOff x="0" y="0"/>
          <a:chExt cx="0" cy="0"/>
        </a:xfrm>
      </p:grpSpPr>
      <p:cxnSp>
        <p:nvCxnSpPr>
          <p:cNvPr id="60" name="Google Shape;60;p16"/>
          <p:cNvCxnSpPr/>
          <p:nvPr/>
        </p:nvCxnSpPr>
        <p:spPr>
          <a:xfrm>
            <a:off x="352425" y="342900"/>
            <a:ext cx="0" cy="514350"/>
          </a:xfrm>
          <a:prstGeom prst="straightConnector1">
            <a:avLst/>
          </a:prstGeom>
          <a:noFill/>
          <a:ln cap="flat" cmpd="sng" w="63500">
            <a:solidFill>
              <a:schemeClr val="accent1"/>
            </a:solidFill>
            <a:prstDash val="solid"/>
            <a:miter lim="800000"/>
            <a:headEnd len="sm" w="sm" type="none"/>
            <a:tailEnd len="sm" w="sm" type="none"/>
          </a:ln>
        </p:spPr>
      </p:cxnSp>
      <p:sp>
        <p:nvSpPr>
          <p:cNvPr id="61" name="Google Shape;61;p16"/>
          <p:cNvSpPr txBox="1"/>
          <p:nvPr>
            <p:ph type="title"/>
          </p:nvPr>
        </p:nvSpPr>
        <p:spPr>
          <a:xfrm>
            <a:off x="438150" y="285706"/>
            <a:ext cx="2724151" cy="661200"/>
          </a:xfrm>
          <a:prstGeom prst="rect">
            <a:avLst/>
          </a:prstGeom>
          <a:noFill/>
          <a:ln>
            <a:noFill/>
          </a:ln>
        </p:spPr>
        <p:txBody>
          <a:bodyPr anchorCtr="0" anchor="t" bIns="22850" lIns="45725" spcFirstLastPara="1" rIns="45725" wrap="square" tIns="22850">
            <a:spAutoFit/>
          </a:bodyPr>
          <a:lstStyle>
            <a:lvl1pPr lvl="0" marR="0" rtl="0" algn="l">
              <a:lnSpc>
                <a:spcPct val="90000"/>
              </a:lnSpc>
              <a:spcBef>
                <a:spcPts val="0"/>
              </a:spcBef>
              <a:spcAft>
                <a:spcPts val="0"/>
              </a:spcAft>
              <a:buSzPts val="700"/>
              <a:buNone/>
              <a:defRPr b="1" i="0" sz="2200" u="none" cap="none" strike="noStrike">
                <a:solidFill>
                  <a:srgbClr val="219BC3"/>
                </a:solidFill>
                <a:latin typeface="Libre Franklin"/>
                <a:ea typeface="Libre Franklin"/>
                <a:cs typeface="Libre Franklin"/>
                <a:sym typeface="Libre Franklin"/>
              </a:defRPr>
            </a:lvl1pPr>
            <a:lvl2pPr lvl="1"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2pPr>
            <a:lvl3pPr lvl="2"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3pPr>
            <a:lvl4pPr lvl="3"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4pPr>
            <a:lvl5pPr lvl="4"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5pPr>
            <a:lvl6pPr lvl="5"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6pPr>
            <a:lvl7pPr lvl="6"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7pPr>
            <a:lvl8pPr lvl="7"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8pPr>
            <a:lvl9pPr lvl="8"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9pPr>
          </a:lstStyle>
          <a:p/>
        </p:txBody>
      </p:sp>
      <p:sp>
        <p:nvSpPr>
          <p:cNvPr id="62" name="Google Shape;62;p16"/>
          <p:cNvSpPr/>
          <p:nvPr>
            <p:ph idx="2" type="pic"/>
          </p:nvPr>
        </p:nvSpPr>
        <p:spPr>
          <a:xfrm>
            <a:off x="0" y="1200150"/>
            <a:ext cx="4572000" cy="2743200"/>
          </a:xfrm>
          <a:prstGeom prst="rect">
            <a:avLst/>
          </a:prstGeom>
          <a:noFill/>
          <a:ln>
            <a:noFill/>
          </a:ln>
        </p:spPr>
      </p:sp>
    </p:spTree>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OPT-1">
  <p:cSld name="TEAM OPT-1">
    <p:spTree>
      <p:nvGrpSpPr>
        <p:cNvPr id="63" name="Shape 63"/>
        <p:cNvGrpSpPr/>
        <p:nvPr/>
      </p:nvGrpSpPr>
      <p:grpSpPr>
        <a:xfrm>
          <a:off x="0" y="0"/>
          <a:ext cx="0" cy="0"/>
          <a:chOff x="0" y="0"/>
          <a:chExt cx="0" cy="0"/>
        </a:xfrm>
      </p:grpSpPr>
      <p:cxnSp>
        <p:nvCxnSpPr>
          <p:cNvPr id="64" name="Google Shape;64;p17"/>
          <p:cNvCxnSpPr/>
          <p:nvPr/>
        </p:nvCxnSpPr>
        <p:spPr>
          <a:xfrm>
            <a:off x="352425" y="342900"/>
            <a:ext cx="0" cy="514350"/>
          </a:xfrm>
          <a:prstGeom prst="straightConnector1">
            <a:avLst/>
          </a:prstGeom>
          <a:noFill/>
          <a:ln cap="flat" cmpd="sng" w="63500">
            <a:solidFill>
              <a:schemeClr val="accent1"/>
            </a:solidFill>
            <a:prstDash val="solid"/>
            <a:miter lim="800000"/>
            <a:headEnd len="sm" w="sm" type="none"/>
            <a:tailEnd len="sm" w="sm" type="none"/>
          </a:ln>
        </p:spPr>
      </p:cxnSp>
      <p:sp>
        <p:nvSpPr>
          <p:cNvPr id="65" name="Google Shape;65;p17"/>
          <p:cNvSpPr txBox="1"/>
          <p:nvPr>
            <p:ph type="title"/>
          </p:nvPr>
        </p:nvSpPr>
        <p:spPr>
          <a:xfrm>
            <a:off x="438150" y="285706"/>
            <a:ext cx="2724151" cy="661200"/>
          </a:xfrm>
          <a:prstGeom prst="rect">
            <a:avLst/>
          </a:prstGeom>
          <a:noFill/>
          <a:ln>
            <a:noFill/>
          </a:ln>
        </p:spPr>
        <p:txBody>
          <a:bodyPr anchorCtr="0" anchor="t" bIns="22850" lIns="45725" spcFirstLastPara="1" rIns="45725" wrap="square" tIns="22850">
            <a:spAutoFit/>
          </a:bodyPr>
          <a:lstStyle>
            <a:lvl1pPr lvl="0" marR="0" rtl="0" algn="l">
              <a:lnSpc>
                <a:spcPct val="90000"/>
              </a:lnSpc>
              <a:spcBef>
                <a:spcPts val="0"/>
              </a:spcBef>
              <a:spcAft>
                <a:spcPts val="0"/>
              </a:spcAft>
              <a:buSzPts val="700"/>
              <a:buNone/>
              <a:defRPr b="1" i="0" sz="2200" u="none" cap="none" strike="noStrike">
                <a:solidFill>
                  <a:srgbClr val="219BC3"/>
                </a:solidFill>
                <a:latin typeface="Libre Franklin"/>
                <a:ea typeface="Libre Franklin"/>
                <a:cs typeface="Libre Franklin"/>
                <a:sym typeface="Libre Franklin"/>
              </a:defRPr>
            </a:lvl1pPr>
            <a:lvl2pPr lvl="1"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2pPr>
            <a:lvl3pPr lvl="2"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3pPr>
            <a:lvl4pPr lvl="3"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4pPr>
            <a:lvl5pPr lvl="4"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5pPr>
            <a:lvl6pPr lvl="5"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6pPr>
            <a:lvl7pPr lvl="6"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7pPr>
            <a:lvl8pPr lvl="7"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8pPr>
            <a:lvl9pPr lvl="8"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9pPr>
          </a:lstStyle>
          <a:p/>
        </p:txBody>
      </p:sp>
      <p:sp>
        <p:nvSpPr>
          <p:cNvPr id="66" name="Google Shape;66;p17"/>
          <p:cNvSpPr/>
          <p:nvPr>
            <p:ph idx="2" type="pic"/>
          </p:nvPr>
        </p:nvSpPr>
        <p:spPr>
          <a:xfrm>
            <a:off x="1266444" y="1293876"/>
            <a:ext cx="1353312" cy="1353312"/>
          </a:xfrm>
          <a:prstGeom prst="roundRect">
            <a:avLst>
              <a:gd fmla="val 16667" name="adj"/>
            </a:avLst>
          </a:prstGeom>
          <a:noFill/>
          <a:ln cap="flat" cmpd="sng" w="25400">
            <a:solidFill>
              <a:schemeClr val="accent1"/>
            </a:solidFill>
            <a:prstDash val="solid"/>
            <a:round/>
            <a:headEnd len="sm" w="sm" type="none"/>
            <a:tailEnd len="sm" w="sm" type="none"/>
          </a:ln>
        </p:spPr>
      </p:sp>
    </p:spTree>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OPT-5">
  <p:cSld name="TEAM OPT-5">
    <p:spTree>
      <p:nvGrpSpPr>
        <p:cNvPr id="67" name="Shape 67"/>
        <p:cNvGrpSpPr/>
        <p:nvPr/>
      </p:nvGrpSpPr>
      <p:grpSpPr>
        <a:xfrm>
          <a:off x="0" y="0"/>
          <a:ext cx="0" cy="0"/>
          <a:chOff x="0" y="0"/>
          <a:chExt cx="0" cy="0"/>
        </a:xfrm>
      </p:grpSpPr>
      <p:cxnSp>
        <p:nvCxnSpPr>
          <p:cNvPr id="68" name="Google Shape;68;p18"/>
          <p:cNvCxnSpPr/>
          <p:nvPr/>
        </p:nvCxnSpPr>
        <p:spPr>
          <a:xfrm>
            <a:off x="352425" y="342900"/>
            <a:ext cx="0" cy="514350"/>
          </a:xfrm>
          <a:prstGeom prst="straightConnector1">
            <a:avLst/>
          </a:prstGeom>
          <a:noFill/>
          <a:ln cap="flat" cmpd="sng" w="63500">
            <a:solidFill>
              <a:schemeClr val="accent1"/>
            </a:solidFill>
            <a:prstDash val="solid"/>
            <a:miter lim="800000"/>
            <a:headEnd len="sm" w="sm" type="none"/>
            <a:tailEnd len="sm" w="sm" type="none"/>
          </a:ln>
        </p:spPr>
      </p:cxnSp>
      <p:sp>
        <p:nvSpPr>
          <p:cNvPr id="69" name="Google Shape;69;p18"/>
          <p:cNvSpPr txBox="1"/>
          <p:nvPr>
            <p:ph type="title"/>
          </p:nvPr>
        </p:nvSpPr>
        <p:spPr>
          <a:xfrm>
            <a:off x="438150" y="285706"/>
            <a:ext cx="2724151" cy="661200"/>
          </a:xfrm>
          <a:prstGeom prst="rect">
            <a:avLst/>
          </a:prstGeom>
          <a:noFill/>
          <a:ln>
            <a:noFill/>
          </a:ln>
        </p:spPr>
        <p:txBody>
          <a:bodyPr anchorCtr="0" anchor="t" bIns="22850" lIns="45725" spcFirstLastPara="1" rIns="45725" wrap="square" tIns="22850">
            <a:spAutoFit/>
          </a:bodyPr>
          <a:lstStyle>
            <a:lvl1pPr lvl="0" marR="0" rtl="0" algn="l">
              <a:lnSpc>
                <a:spcPct val="90000"/>
              </a:lnSpc>
              <a:spcBef>
                <a:spcPts val="0"/>
              </a:spcBef>
              <a:spcAft>
                <a:spcPts val="0"/>
              </a:spcAft>
              <a:buSzPts val="700"/>
              <a:buNone/>
              <a:defRPr b="1" i="0" sz="2200" u="none" cap="none" strike="noStrike">
                <a:solidFill>
                  <a:srgbClr val="219BC3"/>
                </a:solidFill>
                <a:latin typeface="Libre Franklin"/>
                <a:ea typeface="Libre Franklin"/>
                <a:cs typeface="Libre Franklin"/>
                <a:sym typeface="Libre Franklin"/>
              </a:defRPr>
            </a:lvl1pPr>
            <a:lvl2pPr lvl="1"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2pPr>
            <a:lvl3pPr lvl="2"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3pPr>
            <a:lvl4pPr lvl="3"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4pPr>
            <a:lvl5pPr lvl="4"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5pPr>
            <a:lvl6pPr lvl="5"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6pPr>
            <a:lvl7pPr lvl="6"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7pPr>
            <a:lvl8pPr lvl="7"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8pPr>
            <a:lvl9pPr lvl="8"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9pPr>
          </a:lstStyle>
          <a:p/>
        </p:txBody>
      </p:sp>
      <p:sp>
        <p:nvSpPr>
          <p:cNvPr id="70" name="Google Shape;70;p18"/>
          <p:cNvSpPr/>
          <p:nvPr>
            <p:ph idx="2" type="pic"/>
          </p:nvPr>
        </p:nvSpPr>
        <p:spPr>
          <a:xfrm>
            <a:off x="1668780" y="1467612"/>
            <a:ext cx="795528" cy="795528"/>
          </a:xfrm>
          <a:prstGeom prst="roundRect">
            <a:avLst>
              <a:gd fmla="val 16667" name="adj"/>
            </a:avLst>
          </a:prstGeom>
          <a:noFill/>
          <a:ln cap="flat" cmpd="sng" w="25400">
            <a:solidFill>
              <a:schemeClr val="accent1"/>
            </a:solidFill>
            <a:prstDash val="solid"/>
            <a:round/>
            <a:headEnd len="sm" w="sm" type="none"/>
            <a:tailEnd len="sm" w="sm" type="none"/>
          </a:ln>
        </p:spPr>
      </p:sp>
      <p:sp>
        <p:nvSpPr>
          <p:cNvPr id="71" name="Google Shape;71;p18"/>
          <p:cNvSpPr/>
          <p:nvPr>
            <p:ph idx="3" type="pic"/>
          </p:nvPr>
        </p:nvSpPr>
        <p:spPr>
          <a:xfrm>
            <a:off x="1668780" y="2990088"/>
            <a:ext cx="795528" cy="795528"/>
          </a:xfrm>
          <a:prstGeom prst="roundRect">
            <a:avLst>
              <a:gd fmla="val 16667" name="adj"/>
            </a:avLst>
          </a:prstGeom>
          <a:noFill/>
          <a:ln cap="flat" cmpd="sng" w="25400">
            <a:solidFill>
              <a:schemeClr val="accent1"/>
            </a:solidFill>
            <a:prstDash val="solid"/>
            <a:round/>
            <a:headEnd len="sm" w="sm" type="none"/>
            <a:tailEnd len="sm" w="sm" type="none"/>
          </a:ln>
        </p:spPr>
      </p:sp>
      <p:sp>
        <p:nvSpPr>
          <p:cNvPr id="72" name="Google Shape;72;p18"/>
          <p:cNvSpPr/>
          <p:nvPr>
            <p:ph idx="4" type="pic"/>
          </p:nvPr>
        </p:nvSpPr>
        <p:spPr>
          <a:xfrm>
            <a:off x="4905756" y="1467612"/>
            <a:ext cx="795528" cy="795528"/>
          </a:xfrm>
          <a:prstGeom prst="roundRect">
            <a:avLst>
              <a:gd fmla="val 16667" name="adj"/>
            </a:avLst>
          </a:prstGeom>
          <a:noFill/>
          <a:ln cap="flat" cmpd="sng" w="25400">
            <a:solidFill>
              <a:schemeClr val="accent1"/>
            </a:solidFill>
            <a:prstDash val="solid"/>
            <a:round/>
            <a:headEnd len="sm" w="sm" type="none"/>
            <a:tailEnd len="sm" w="sm" type="none"/>
          </a:ln>
        </p:spPr>
      </p:sp>
      <p:sp>
        <p:nvSpPr>
          <p:cNvPr id="73" name="Google Shape;73;p18"/>
          <p:cNvSpPr/>
          <p:nvPr>
            <p:ph idx="5" type="pic"/>
          </p:nvPr>
        </p:nvSpPr>
        <p:spPr>
          <a:xfrm>
            <a:off x="4905756" y="2990850"/>
            <a:ext cx="795528" cy="795528"/>
          </a:xfrm>
          <a:prstGeom prst="roundRect">
            <a:avLst>
              <a:gd fmla="val 16667" name="adj"/>
            </a:avLst>
          </a:prstGeom>
          <a:noFill/>
          <a:ln cap="flat" cmpd="sng" w="25400">
            <a:solidFill>
              <a:schemeClr val="accent1"/>
            </a:solidFill>
            <a:prstDash val="solid"/>
            <a:round/>
            <a:headEnd len="sm" w="sm" type="none"/>
            <a:tailEnd len="sm" w="sm" type="none"/>
          </a:ln>
        </p:spPr>
      </p:sp>
    </p:spTree>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OPT-6">
  <p:cSld name="TEAM OPT-6">
    <p:spTree>
      <p:nvGrpSpPr>
        <p:cNvPr id="74" name="Shape 74"/>
        <p:cNvGrpSpPr/>
        <p:nvPr/>
      </p:nvGrpSpPr>
      <p:grpSpPr>
        <a:xfrm>
          <a:off x="0" y="0"/>
          <a:ext cx="0" cy="0"/>
          <a:chOff x="0" y="0"/>
          <a:chExt cx="0" cy="0"/>
        </a:xfrm>
      </p:grpSpPr>
      <p:cxnSp>
        <p:nvCxnSpPr>
          <p:cNvPr id="75" name="Google Shape;75;p19"/>
          <p:cNvCxnSpPr/>
          <p:nvPr/>
        </p:nvCxnSpPr>
        <p:spPr>
          <a:xfrm>
            <a:off x="352425" y="342900"/>
            <a:ext cx="0" cy="514350"/>
          </a:xfrm>
          <a:prstGeom prst="straightConnector1">
            <a:avLst/>
          </a:prstGeom>
          <a:noFill/>
          <a:ln cap="flat" cmpd="sng" w="63500">
            <a:solidFill>
              <a:schemeClr val="accent1"/>
            </a:solidFill>
            <a:prstDash val="solid"/>
            <a:miter lim="800000"/>
            <a:headEnd len="sm" w="sm" type="none"/>
            <a:tailEnd len="sm" w="sm" type="none"/>
          </a:ln>
        </p:spPr>
      </p:cxnSp>
      <p:sp>
        <p:nvSpPr>
          <p:cNvPr id="76" name="Google Shape;76;p19"/>
          <p:cNvSpPr txBox="1"/>
          <p:nvPr>
            <p:ph type="title"/>
          </p:nvPr>
        </p:nvSpPr>
        <p:spPr>
          <a:xfrm>
            <a:off x="438150" y="285706"/>
            <a:ext cx="2724151" cy="661200"/>
          </a:xfrm>
          <a:prstGeom prst="rect">
            <a:avLst/>
          </a:prstGeom>
          <a:noFill/>
          <a:ln>
            <a:noFill/>
          </a:ln>
        </p:spPr>
        <p:txBody>
          <a:bodyPr anchorCtr="0" anchor="t" bIns="22850" lIns="45725" spcFirstLastPara="1" rIns="45725" wrap="square" tIns="22850">
            <a:spAutoFit/>
          </a:bodyPr>
          <a:lstStyle>
            <a:lvl1pPr lvl="0" marR="0" rtl="0" algn="l">
              <a:lnSpc>
                <a:spcPct val="90000"/>
              </a:lnSpc>
              <a:spcBef>
                <a:spcPts val="0"/>
              </a:spcBef>
              <a:spcAft>
                <a:spcPts val="0"/>
              </a:spcAft>
              <a:buSzPts val="700"/>
              <a:buNone/>
              <a:defRPr b="1" i="0" sz="2200" u="none" cap="none" strike="noStrike">
                <a:solidFill>
                  <a:srgbClr val="219BC3"/>
                </a:solidFill>
                <a:latin typeface="Libre Franklin"/>
                <a:ea typeface="Libre Franklin"/>
                <a:cs typeface="Libre Franklin"/>
                <a:sym typeface="Libre Franklin"/>
              </a:defRPr>
            </a:lvl1pPr>
            <a:lvl2pPr lvl="1"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2pPr>
            <a:lvl3pPr lvl="2"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3pPr>
            <a:lvl4pPr lvl="3"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4pPr>
            <a:lvl5pPr lvl="4"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5pPr>
            <a:lvl6pPr lvl="5"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6pPr>
            <a:lvl7pPr lvl="6"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7pPr>
            <a:lvl8pPr lvl="7"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8pPr>
            <a:lvl9pPr lvl="8" marR="0" rtl="0" algn="l">
              <a:lnSpc>
                <a:spcPct val="90000"/>
              </a:lnSpc>
              <a:spcBef>
                <a:spcPts val="0"/>
              </a:spcBef>
              <a:spcAft>
                <a:spcPts val="0"/>
              </a:spcAft>
              <a:buSzPts val="700"/>
              <a:buNone/>
              <a:defRPr b="0" i="0" sz="3300" u="none" cap="none" strike="noStrike">
                <a:solidFill>
                  <a:schemeClr val="dk1"/>
                </a:solidFill>
                <a:latin typeface="Libre Franklin Medium"/>
                <a:ea typeface="Libre Franklin Medium"/>
                <a:cs typeface="Libre Franklin Medium"/>
                <a:sym typeface="Libre Franklin Medium"/>
              </a:defRPr>
            </a:lvl9pPr>
          </a:lstStyle>
          <a:p/>
        </p:txBody>
      </p:sp>
      <p:sp>
        <p:nvSpPr>
          <p:cNvPr id="77" name="Google Shape;77;p19"/>
          <p:cNvSpPr/>
          <p:nvPr>
            <p:ph idx="2" type="pic"/>
          </p:nvPr>
        </p:nvSpPr>
        <p:spPr>
          <a:xfrm>
            <a:off x="1143000" y="1202436"/>
            <a:ext cx="914400" cy="914400"/>
          </a:xfrm>
          <a:prstGeom prst="rect">
            <a:avLst/>
          </a:prstGeom>
          <a:noFill/>
          <a:ln>
            <a:noFill/>
          </a:ln>
        </p:spPr>
      </p:sp>
      <p:sp>
        <p:nvSpPr>
          <p:cNvPr id="78" name="Google Shape;78;p19"/>
          <p:cNvSpPr/>
          <p:nvPr>
            <p:ph idx="3" type="pic"/>
          </p:nvPr>
        </p:nvSpPr>
        <p:spPr>
          <a:xfrm>
            <a:off x="1143000" y="2116836"/>
            <a:ext cx="914400" cy="914400"/>
          </a:xfrm>
          <a:prstGeom prst="rect">
            <a:avLst/>
          </a:prstGeom>
          <a:noFill/>
          <a:ln>
            <a:noFill/>
          </a:ln>
        </p:spPr>
      </p:sp>
      <p:sp>
        <p:nvSpPr>
          <p:cNvPr id="79" name="Google Shape;79;p19"/>
          <p:cNvSpPr/>
          <p:nvPr>
            <p:ph idx="4" type="pic"/>
          </p:nvPr>
        </p:nvSpPr>
        <p:spPr>
          <a:xfrm>
            <a:off x="1143000" y="3031236"/>
            <a:ext cx="914400" cy="914400"/>
          </a:xfrm>
          <a:prstGeom prst="rect">
            <a:avLst/>
          </a:prstGeom>
          <a:noFill/>
          <a:ln>
            <a:noFill/>
          </a:ln>
        </p:spPr>
      </p:sp>
      <p:sp>
        <p:nvSpPr>
          <p:cNvPr id="80" name="Google Shape;80;p19"/>
          <p:cNvSpPr/>
          <p:nvPr>
            <p:ph idx="5" type="pic"/>
          </p:nvPr>
        </p:nvSpPr>
        <p:spPr>
          <a:xfrm>
            <a:off x="2057400" y="1202436"/>
            <a:ext cx="914400" cy="914400"/>
          </a:xfrm>
          <a:prstGeom prst="rect">
            <a:avLst/>
          </a:prstGeom>
          <a:noFill/>
          <a:ln>
            <a:noFill/>
          </a:ln>
        </p:spPr>
      </p:sp>
      <p:sp>
        <p:nvSpPr>
          <p:cNvPr id="81" name="Google Shape;81;p19"/>
          <p:cNvSpPr/>
          <p:nvPr>
            <p:ph idx="6" type="pic"/>
          </p:nvPr>
        </p:nvSpPr>
        <p:spPr>
          <a:xfrm>
            <a:off x="2057400" y="3031236"/>
            <a:ext cx="914400" cy="914400"/>
          </a:xfrm>
          <a:prstGeom prst="rect">
            <a:avLst/>
          </a:prstGeom>
          <a:noFill/>
          <a:ln>
            <a:noFill/>
          </a:ln>
        </p:spPr>
      </p:sp>
      <p:sp>
        <p:nvSpPr>
          <p:cNvPr id="82" name="Google Shape;82;p19"/>
          <p:cNvSpPr/>
          <p:nvPr>
            <p:ph idx="7" type="pic"/>
          </p:nvPr>
        </p:nvSpPr>
        <p:spPr>
          <a:xfrm>
            <a:off x="2971800" y="1202436"/>
            <a:ext cx="914400" cy="914400"/>
          </a:xfrm>
          <a:prstGeom prst="rect">
            <a:avLst/>
          </a:prstGeom>
          <a:noFill/>
          <a:ln>
            <a:noFill/>
          </a:ln>
        </p:spPr>
      </p:sp>
      <p:sp>
        <p:nvSpPr>
          <p:cNvPr id="83" name="Google Shape;83;p19"/>
          <p:cNvSpPr/>
          <p:nvPr>
            <p:ph idx="8" type="pic"/>
          </p:nvPr>
        </p:nvSpPr>
        <p:spPr>
          <a:xfrm>
            <a:off x="2971800" y="2116836"/>
            <a:ext cx="914400" cy="914400"/>
          </a:xfrm>
          <a:prstGeom prst="rect">
            <a:avLst/>
          </a:prstGeom>
          <a:noFill/>
          <a:ln>
            <a:noFill/>
          </a:ln>
        </p:spPr>
      </p:sp>
      <p:sp>
        <p:nvSpPr>
          <p:cNvPr id="84" name="Google Shape;84;p19"/>
          <p:cNvSpPr/>
          <p:nvPr>
            <p:ph idx="9" type="pic"/>
          </p:nvPr>
        </p:nvSpPr>
        <p:spPr>
          <a:xfrm>
            <a:off x="2971800" y="3031236"/>
            <a:ext cx="914400" cy="914400"/>
          </a:xfrm>
          <a:prstGeom prst="rect">
            <a:avLst/>
          </a:prstGeom>
          <a:noFill/>
          <a:ln>
            <a:noFill/>
          </a:ln>
        </p:spPr>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cxnSp>
        <p:nvCxnSpPr>
          <p:cNvPr id="51" name="Google Shape;51;p13"/>
          <p:cNvCxnSpPr/>
          <p:nvPr/>
        </p:nvCxnSpPr>
        <p:spPr>
          <a:xfrm>
            <a:off x="8372475" y="4593432"/>
            <a:ext cx="0" cy="371475"/>
          </a:xfrm>
          <a:prstGeom prst="straightConnector1">
            <a:avLst/>
          </a:prstGeom>
          <a:noFill/>
          <a:ln cap="flat" cmpd="sng" w="63500">
            <a:solidFill>
              <a:schemeClr val="accent1"/>
            </a:solidFill>
            <a:prstDash val="solid"/>
            <a:miter lim="800000"/>
            <a:headEnd len="sm" w="sm" type="none"/>
            <a:tailEnd len="sm" w="sm" type="none"/>
          </a:ln>
        </p:spPr>
      </p:cxnSp>
      <p:sp>
        <p:nvSpPr>
          <p:cNvPr id="52" name="Google Shape;52;p13"/>
          <p:cNvSpPr txBox="1"/>
          <p:nvPr>
            <p:ph idx="12" type="sldNum"/>
          </p:nvPr>
        </p:nvSpPr>
        <p:spPr>
          <a:xfrm>
            <a:off x="8546307" y="4536282"/>
            <a:ext cx="866775" cy="461963"/>
          </a:xfrm>
          <a:prstGeom prst="rect">
            <a:avLst/>
          </a:prstGeom>
          <a:noFill/>
          <a:ln>
            <a:noFill/>
          </a:ln>
        </p:spPr>
        <p:txBody>
          <a:bodyPr anchorCtr="0" anchor="t" bIns="22850" lIns="45725" spcFirstLastPara="1" rIns="45725" wrap="square" tIns="22850">
            <a:spAutoFit/>
          </a:bodyPr>
          <a:lstStyle>
            <a:lvl1pPr indent="0" lvl="0" marL="0" marR="0" rtl="0" algn="l">
              <a:spcBef>
                <a:spcPts val="0"/>
              </a:spcBef>
              <a:spcAft>
                <a:spcPts val="0"/>
              </a:spcAft>
              <a:buNone/>
              <a:defRPr b="1" i="0" sz="1400" u="none" cap="none" strike="noStrike">
                <a:solidFill>
                  <a:schemeClr val="accent2"/>
                </a:solidFill>
                <a:latin typeface="Libre Franklin Medium"/>
                <a:ea typeface="Libre Franklin Medium"/>
                <a:cs typeface="Libre Franklin Medium"/>
                <a:sym typeface="Libre Franklin Medium"/>
              </a:defRPr>
            </a:lvl1pPr>
            <a:lvl2pPr indent="0" lvl="1" marL="0" marR="0" rtl="0" algn="l">
              <a:spcBef>
                <a:spcPts val="0"/>
              </a:spcBef>
              <a:spcAft>
                <a:spcPts val="0"/>
              </a:spcAft>
              <a:buNone/>
              <a:defRPr b="1" i="0" sz="1400" u="none" cap="none" strike="noStrike">
                <a:solidFill>
                  <a:schemeClr val="accent2"/>
                </a:solidFill>
                <a:latin typeface="Libre Franklin Medium"/>
                <a:ea typeface="Libre Franklin Medium"/>
                <a:cs typeface="Libre Franklin Medium"/>
                <a:sym typeface="Libre Franklin Medium"/>
              </a:defRPr>
            </a:lvl2pPr>
            <a:lvl3pPr indent="0" lvl="2" marL="0" marR="0" rtl="0" algn="l">
              <a:spcBef>
                <a:spcPts val="0"/>
              </a:spcBef>
              <a:spcAft>
                <a:spcPts val="0"/>
              </a:spcAft>
              <a:buNone/>
              <a:defRPr b="1" i="0" sz="1400" u="none" cap="none" strike="noStrike">
                <a:solidFill>
                  <a:schemeClr val="accent2"/>
                </a:solidFill>
                <a:latin typeface="Libre Franklin Medium"/>
                <a:ea typeface="Libre Franklin Medium"/>
                <a:cs typeface="Libre Franklin Medium"/>
                <a:sym typeface="Libre Franklin Medium"/>
              </a:defRPr>
            </a:lvl3pPr>
            <a:lvl4pPr indent="0" lvl="3" marL="0" marR="0" rtl="0" algn="l">
              <a:spcBef>
                <a:spcPts val="0"/>
              </a:spcBef>
              <a:spcAft>
                <a:spcPts val="0"/>
              </a:spcAft>
              <a:buNone/>
              <a:defRPr b="1" i="0" sz="1400" u="none" cap="none" strike="noStrike">
                <a:solidFill>
                  <a:schemeClr val="accent2"/>
                </a:solidFill>
                <a:latin typeface="Libre Franklin Medium"/>
                <a:ea typeface="Libre Franklin Medium"/>
                <a:cs typeface="Libre Franklin Medium"/>
                <a:sym typeface="Libre Franklin Medium"/>
              </a:defRPr>
            </a:lvl4pPr>
            <a:lvl5pPr indent="0" lvl="4" marL="0" marR="0" rtl="0" algn="l">
              <a:spcBef>
                <a:spcPts val="0"/>
              </a:spcBef>
              <a:spcAft>
                <a:spcPts val="0"/>
              </a:spcAft>
              <a:buNone/>
              <a:defRPr b="1" i="0" sz="1400" u="none" cap="none" strike="noStrike">
                <a:solidFill>
                  <a:schemeClr val="accent2"/>
                </a:solidFill>
                <a:latin typeface="Libre Franklin Medium"/>
                <a:ea typeface="Libre Franklin Medium"/>
                <a:cs typeface="Libre Franklin Medium"/>
                <a:sym typeface="Libre Franklin Medium"/>
              </a:defRPr>
            </a:lvl5pPr>
            <a:lvl6pPr indent="0" lvl="5" marL="0" marR="0" rtl="0" algn="l">
              <a:spcBef>
                <a:spcPts val="0"/>
              </a:spcBef>
              <a:spcAft>
                <a:spcPts val="0"/>
              </a:spcAft>
              <a:buNone/>
              <a:defRPr b="1" i="0" sz="1400" u="none" cap="none" strike="noStrike">
                <a:solidFill>
                  <a:schemeClr val="accent2"/>
                </a:solidFill>
                <a:latin typeface="Libre Franklin Medium"/>
                <a:ea typeface="Libre Franklin Medium"/>
                <a:cs typeface="Libre Franklin Medium"/>
                <a:sym typeface="Libre Franklin Medium"/>
              </a:defRPr>
            </a:lvl6pPr>
            <a:lvl7pPr indent="0" lvl="6" marL="0" marR="0" rtl="0" algn="l">
              <a:spcBef>
                <a:spcPts val="0"/>
              </a:spcBef>
              <a:spcAft>
                <a:spcPts val="0"/>
              </a:spcAft>
              <a:buNone/>
              <a:defRPr b="1" i="0" sz="1400" u="none" cap="none" strike="noStrike">
                <a:solidFill>
                  <a:schemeClr val="accent2"/>
                </a:solidFill>
                <a:latin typeface="Libre Franklin Medium"/>
                <a:ea typeface="Libre Franklin Medium"/>
                <a:cs typeface="Libre Franklin Medium"/>
                <a:sym typeface="Libre Franklin Medium"/>
              </a:defRPr>
            </a:lvl7pPr>
            <a:lvl8pPr indent="0" lvl="7" marL="0" marR="0" rtl="0" algn="l">
              <a:spcBef>
                <a:spcPts val="0"/>
              </a:spcBef>
              <a:spcAft>
                <a:spcPts val="0"/>
              </a:spcAft>
              <a:buNone/>
              <a:defRPr b="1" i="0" sz="1400" u="none" cap="none" strike="noStrike">
                <a:solidFill>
                  <a:schemeClr val="accent2"/>
                </a:solidFill>
                <a:latin typeface="Libre Franklin Medium"/>
                <a:ea typeface="Libre Franklin Medium"/>
                <a:cs typeface="Libre Franklin Medium"/>
                <a:sym typeface="Libre Franklin Medium"/>
              </a:defRPr>
            </a:lvl8pPr>
            <a:lvl9pPr indent="0" lvl="8" marL="0" marR="0" rtl="0" algn="l">
              <a:spcBef>
                <a:spcPts val="0"/>
              </a:spcBef>
              <a:spcAft>
                <a:spcPts val="0"/>
              </a:spcAft>
              <a:buNone/>
              <a:defRPr b="1" i="0" sz="1400" u="none" cap="none" strike="noStrike">
                <a:solidFill>
                  <a:schemeClr val="accent2"/>
                </a:solidFill>
                <a:latin typeface="Libre Franklin Medium"/>
                <a:ea typeface="Libre Franklin Medium"/>
                <a:cs typeface="Libre Franklin Medium"/>
                <a:sym typeface="Libre Franklin Medium"/>
              </a:defRPr>
            </a:lvl9pPr>
          </a:lstStyle>
          <a:p>
            <a:pPr indent="0" lvl="0" marL="0" rtl="0" algn="l">
              <a:spcBef>
                <a:spcPts val="0"/>
              </a:spcBef>
              <a:spcAft>
                <a:spcPts val="0"/>
              </a:spcAft>
              <a:buNone/>
            </a:pPr>
            <a:r>
              <a:rPr lang="es"/>
              <a:t>Pag.</a:t>
            </a:r>
            <a:endParaRPr b="0" sz="700">
              <a:solidFill>
                <a:srgbClr val="000000"/>
              </a:solidFill>
              <a:latin typeface="Arial"/>
              <a:ea typeface="Arial"/>
              <a:cs typeface="Arial"/>
              <a:sym typeface="Arial"/>
            </a:endParaRPr>
          </a:p>
          <a:p>
            <a:pPr indent="0" lvl="0" marL="0" rtl="0" algn="l">
              <a:spcBef>
                <a:spcPts val="0"/>
              </a:spcBef>
              <a:spcAft>
                <a:spcPts val="0"/>
              </a:spcAft>
              <a:buNone/>
            </a:pPr>
            <a:fld id="{00000000-1234-1234-1234-123412341234}" type="slidenum">
              <a:rPr lang="es"/>
              <a:t>‹#›</a:t>
            </a:fld>
            <a:endParaRPr/>
          </a:p>
        </p:txBody>
      </p:sp>
      <p:pic>
        <p:nvPicPr>
          <p:cNvPr descr="Texto&#10;&#10;Descripción generada automáticamente" id="53" name="Google Shape;53;p13"/>
          <p:cNvPicPr preferRelativeResize="0"/>
          <p:nvPr/>
        </p:nvPicPr>
        <p:blipFill rotWithShape="1">
          <a:blip r:embed="rId1">
            <a:alphaModFix/>
          </a:blip>
          <a:srcRect b="0" l="0" r="0" t="0"/>
          <a:stretch/>
        </p:blipFill>
        <p:spPr>
          <a:xfrm>
            <a:off x="257969" y="4627563"/>
            <a:ext cx="1658938" cy="37068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p:nvPr/>
        </p:nvSpPr>
        <p:spPr>
          <a:xfrm>
            <a:off x="0" y="0"/>
            <a:ext cx="9144000" cy="4501357"/>
          </a:xfrm>
          <a:prstGeom prst="rect">
            <a:avLst/>
          </a:prstGeom>
          <a:solidFill>
            <a:schemeClr val="accent1"/>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b="1" i="0" sz="4500" u="none" cap="none" strike="noStrike">
              <a:solidFill>
                <a:schemeClr val="lt1"/>
              </a:solidFill>
              <a:latin typeface="Libre Franklin Medium"/>
              <a:ea typeface="Libre Franklin Medium"/>
              <a:cs typeface="Libre Franklin Medium"/>
              <a:sym typeface="Libre Franklin Medium"/>
            </a:endParaRPr>
          </a:p>
        </p:txBody>
      </p:sp>
      <p:sp>
        <p:nvSpPr>
          <p:cNvPr id="90" name="Google Shape;90;p20"/>
          <p:cNvSpPr/>
          <p:nvPr/>
        </p:nvSpPr>
        <p:spPr>
          <a:xfrm>
            <a:off x="0" y="4520407"/>
            <a:ext cx="9144000" cy="623093"/>
          </a:xfrm>
          <a:prstGeom prst="rect">
            <a:avLst/>
          </a:prstGeom>
          <a:solidFill>
            <a:schemeClr val="lt1"/>
          </a:solidFill>
          <a:ln>
            <a:noFill/>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b="0" i="0" sz="1400" u="none" cap="none" strike="noStrike">
              <a:solidFill>
                <a:schemeClr val="dk1"/>
              </a:solidFill>
              <a:latin typeface="Libre Franklin"/>
              <a:ea typeface="Libre Franklin"/>
              <a:cs typeface="Libre Franklin"/>
              <a:sym typeface="Libre Franklin"/>
            </a:endParaRPr>
          </a:p>
        </p:txBody>
      </p:sp>
      <p:sp>
        <p:nvSpPr>
          <p:cNvPr id="91" name="Google Shape;91;p20"/>
          <p:cNvSpPr txBox="1"/>
          <p:nvPr/>
        </p:nvSpPr>
        <p:spPr>
          <a:xfrm>
            <a:off x="2147125" y="1488825"/>
            <a:ext cx="6470700" cy="15237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es" sz="4800">
                <a:solidFill>
                  <a:schemeClr val="accent4"/>
                </a:solidFill>
                <a:latin typeface="Libre Franklin Medium"/>
                <a:ea typeface="Libre Franklin Medium"/>
                <a:cs typeface="Libre Franklin Medium"/>
                <a:sym typeface="Libre Franklin Medium"/>
              </a:rPr>
              <a:t>Frigoríficos Arcos (“A Pulpeira”)</a:t>
            </a:r>
            <a:endParaRPr sz="700"/>
          </a:p>
        </p:txBody>
      </p:sp>
      <p:sp>
        <p:nvSpPr>
          <p:cNvPr id="92" name="Google Shape;92;p20"/>
          <p:cNvSpPr txBox="1"/>
          <p:nvPr/>
        </p:nvSpPr>
        <p:spPr>
          <a:xfrm>
            <a:off x="122988" y="3132238"/>
            <a:ext cx="8898000" cy="1154400"/>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lang="es" sz="1800">
                <a:solidFill>
                  <a:schemeClr val="accent4"/>
                </a:solidFill>
                <a:latin typeface="Libre Franklin Medium"/>
                <a:ea typeface="Libre Franklin Medium"/>
                <a:cs typeface="Libre Franklin Medium"/>
                <a:sym typeface="Libre Franklin Medium"/>
              </a:rPr>
              <a:t>María del Pilar </a:t>
            </a:r>
            <a:r>
              <a:rPr lang="es" sz="1800">
                <a:solidFill>
                  <a:schemeClr val="accent4"/>
                </a:solidFill>
                <a:latin typeface="Libre Franklin Medium"/>
                <a:ea typeface="Libre Franklin Medium"/>
                <a:cs typeface="Libre Franklin Medium"/>
                <a:sym typeface="Libre Franklin Medium"/>
              </a:rPr>
              <a:t>García</a:t>
            </a:r>
            <a:r>
              <a:rPr lang="es" sz="1800">
                <a:solidFill>
                  <a:schemeClr val="accent4"/>
                </a:solidFill>
                <a:latin typeface="Libre Franklin Medium"/>
                <a:ea typeface="Libre Franklin Medium"/>
                <a:cs typeface="Libre Franklin Medium"/>
                <a:sym typeface="Libre Franklin Medium"/>
              </a:rPr>
              <a:t> Torrijo </a:t>
            </a:r>
            <a:endParaRPr sz="1800">
              <a:solidFill>
                <a:schemeClr val="accent4"/>
              </a:solidFill>
              <a:latin typeface="Libre Franklin Medium"/>
              <a:ea typeface="Libre Franklin Medium"/>
              <a:cs typeface="Libre Franklin Medium"/>
              <a:sym typeface="Libre Franklin Medium"/>
            </a:endParaRPr>
          </a:p>
          <a:p>
            <a:pPr indent="0" lvl="0" marL="0" marR="0" rtl="0" algn="ctr">
              <a:spcBef>
                <a:spcPts val="0"/>
              </a:spcBef>
              <a:spcAft>
                <a:spcPts val="0"/>
              </a:spcAft>
              <a:buNone/>
            </a:pPr>
            <a:r>
              <a:rPr lang="es" sz="1800">
                <a:solidFill>
                  <a:schemeClr val="accent4"/>
                </a:solidFill>
                <a:latin typeface="Libre Franklin Medium"/>
                <a:ea typeface="Libre Franklin Medium"/>
                <a:cs typeface="Libre Franklin Medium"/>
                <a:sym typeface="Libre Franklin Medium"/>
              </a:rPr>
              <a:t>Byron Fernando Jiménez Laverde</a:t>
            </a:r>
            <a:endParaRPr sz="1800">
              <a:solidFill>
                <a:schemeClr val="accent4"/>
              </a:solidFill>
              <a:latin typeface="Libre Franklin Medium"/>
              <a:ea typeface="Libre Franklin Medium"/>
              <a:cs typeface="Libre Franklin Medium"/>
              <a:sym typeface="Libre Franklin Medium"/>
            </a:endParaRPr>
          </a:p>
          <a:p>
            <a:pPr indent="0" lvl="0" marL="0" marR="0" rtl="0" algn="ctr">
              <a:spcBef>
                <a:spcPts val="0"/>
              </a:spcBef>
              <a:spcAft>
                <a:spcPts val="0"/>
              </a:spcAft>
              <a:buNone/>
            </a:pPr>
            <a:r>
              <a:rPr lang="es" sz="1800">
                <a:solidFill>
                  <a:schemeClr val="accent4"/>
                </a:solidFill>
                <a:latin typeface="Libre Franklin Medium"/>
                <a:ea typeface="Libre Franklin Medium"/>
                <a:cs typeface="Libre Franklin Medium"/>
                <a:sym typeface="Libre Franklin Medium"/>
              </a:rPr>
              <a:t>Argiñe Delgado Mardaras</a:t>
            </a:r>
            <a:endParaRPr sz="1800">
              <a:solidFill>
                <a:schemeClr val="accent4"/>
              </a:solidFill>
              <a:latin typeface="Libre Franklin Medium"/>
              <a:ea typeface="Libre Franklin Medium"/>
              <a:cs typeface="Libre Franklin Medium"/>
              <a:sym typeface="Libre Franklin Medium"/>
            </a:endParaRPr>
          </a:p>
          <a:p>
            <a:pPr indent="0" lvl="0" marL="0" marR="0" rtl="0" algn="ctr">
              <a:spcBef>
                <a:spcPts val="0"/>
              </a:spcBef>
              <a:spcAft>
                <a:spcPts val="0"/>
              </a:spcAft>
              <a:buNone/>
            </a:pPr>
            <a:r>
              <a:t/>
            </a:r>
            <a:endParaRPr sz="1800">
              <a:solidFill>
                <a:schemeClr val="accent4"/>
              </a:solidFill>
              <a:latin typeface="Libre Franklin Medium"/>
              <a:ea typeface="Libre Franklin Medium"/>
              <a:cs typeface="Libre Franklin Medium"/>
              <a:sym typeface="Libre Franklin Medium"/>
            </a:endParaRPr>
          </a:p>
        </p:txBody>
      </p:sp>
      <p:grpSp>
        <p:nvGrpSpPr>
          <p:cNvPr id="93" name="Google Shape;93;p20"/>
          <p:cNvGrpSpPr/>
          <p:nvPr/>
        </p:nvGrpSpPr>
        <p:grpSpPr>
          <a:xfrm>
            <a:off x="2147129" y="1227929"/>
            <a:ext cx="397735" cy="354002"/>
            <a:chOff x="1406133" y="686869"/>
            <a:chExt cx="2648037" cy="2353739"/>
          </a:xfrm>
        </p:grpSpPr>
        <p:cxnSp>
          <p:nvCxnSpPr>
            <p:cNvPr id="94" name="Google Shape;94;p20"/>
            <p:cNvCxnSpPr/>
            <p:nvPr/>
          </p:nvCxnSpPr>
          <p:spPr>
            <a:xfrm>
              <a:off x="1406133" y="729089"/>
              <a:ext cx="0" cy="2311519"/>
            </a:xfrm>
            <a:prstGeom prst="straightConnector1">
              <a:avLst/>
            </a:prstGeom>
            <a:noFill/>
            <a:ln cap="sq" cmpd="sng" w="63500">
              <a:solidFill>
                <a:schemeClr val="lt1"/>
              </a:solidFill>
              <a:prstDash val="solid"/>
              <a:bevel/>
              <a:headEnd len="sm" w="sm" type="none"/>
              <a:tailEnd len="sm" w="sm" type="none"/>
            </a:ln>
          </p:spPr>
        </p:cxnSp>
        <p:cxnSp>
          <p:nvCxnSpPr>
            <p:cNvPr id="95" name="Google Shape;95;p20"/>
            <p:cNvCxnSpPr/>
            <p:nvPr/>
          </p:nvCxnSpPr>
          <p:spPr>
            <a:xfrm rot="10800000">
              <a:off x="1406133" y="686869"/>
              <a:ext cx="2648037" cy="0"/>
            </a:xfrm>
            <a:prstGeom prst="straightConnector1">
              <a:avLst/>
            </a:prstGeom>
            <a:noFill/>
            <a:ln cap="sq" cmpd="sng" w="63500">
              <a:solidFill>
                <a:schemeClr val="lt1"/>
              </a:solidFill>
              <a:prstDash val="solid"/>
              <a:bevel/>
              <a:headEnd len="sm" w="sm" type="none"/>
              <a:tailEnd len="sm" w="sm" type="none"/>
            </a:ln>
          </p:spPr>
        </p:cxnSp>
      </p:grpSp>
      <p:grpSp>
        <p:nvGrpSpPr>
          <p:cNvPr id="96" name="Google Shape;96;p20"/>
          <p:cNvGrpSpPr/>
          <p:nvPr/>
        </p:nvGrpSpPr>
        <p:grpSpPr>
          <a:xfrm rot="10800000">
            <a:off x="6578600" y="2790825"/>
            <a:ext cx="399257" cy="354013"/>
            <a:chOff x="1395562" y="686869"/>
            <a:chExt cx="2658608" cy="2353739"/>
          </a:xfrm>
        </p:grpSpPr>
        <p:cxnSp>
          <p:nvCxnSpPr>
            <p:cNvPr id="97" name="Google Shape;97;p20"/>
            <p:cNvCxnSpPr/>
            <p:nvPr/>
          </p:nvCxnSpPr>
          <p:spPr>
            <a:xfrm>
              <a:off x="1395562" y="729089"/>
              <a:ext cx="0" cy="2311519"/>
            </a:xfrm>
            <a:prstGeom prst="straightConnector1">
              <a:avLst/>
            </a:prstGeom>
            <a:noFill/>
            <a:ln cap="sq" cmpd="sng" w="63500">
              <a:solidFill>
                <a:schemeClr val="lt1"/>
              </a:solidFill>
              <a:prstDash val="solid"/>
              <a:bevel/>
              <a:headEnd len="sm" w="sm" type="none"/>
              <a:tailEnd len="sm" w="sm" type="none"/>
            </a:ln>
          </p:spPr>
        </p:cxnSp>
        <p:cxnSp>
          <p:nvCxnSpPr>
            <p:cNvPr id="98" name="Google Shape;98;p20"/>
            <p:cNvCxnSpPr/>
            <p:nvPr/>
          </p:nvCxnSpPr>
          <p:spPr>
            <a:xfrm rot="10800000">
              <a:off x="1406133" y="686869"/>
              <a:ext cx="2648037" cy="0"/>
            </a:xfrm>
            <a:prstGeom prst="straightConnector1">
              <a:avLst/>
            </a:prstGeom>
            <a:noFill/>
            <a:ln cap="sq" cmpd="sng" w="63500">
              <a:solidFill>
                <a:schemeClr val="lt1"/>
              </a:solidFill>
              <a:prstDash val="solid"/>
              <a:bevel/>
              <a:headEnd len="sm" w="sm" type="none"/>
              <a:tailEnd len="sm" w="sm" type="none"/>
            </a:ln>
          </p:spPr>
        </p:cxnSp>
      </p:grpSp>
      <p:pic>
        <p:nvPicPr>
          <p:cNvPr descr="Texto&#10;&#10;Descripción generada automáticamente" id="99" name="Google Shape;99;p20"/>
          <p:cNvPicPr preferRelativeResize="0"/>
          <p:nvPr/>
        </p:nvPicPr>
        <p:blipFill rotWithShape="1">
          <a:blip r:embed="rId3">
            <a:alphaModFix/>
          </a:blip>
          <a:srcRect b="0" l="0" r="0" t="0"/>
          <a:stretch/>
        </p:blipFill>
        <p:spPr>
          <a:xfrm>
            <a:off x="246857" y="4623594"/>
            <a:ext cx="1658938" cy="371475"/>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p:nvPr/>
        </p:nvSpPr>
        <p:spPr>
          <a:xfrm rot="-5400000">
            <a:off x="-443700" y="443700"/>
            <a:ext cx="5143500" cy="4256100"/>
          </a:xfrm>
          <a:prstGeom prst="rect">
            <a:avLst/>
          </a:prstGeom>
          <a:solidFill>
            <a:schemeClr val="accent1"/>
          </a:solidFill>
          <a:ln cap="flat" cmpd="sng" w="12700">
            <a:solidFill>
              <a:srgbClr val="18718E"/>
            </a:solidFill>
            <a:prstDash val="solid"/>
            <a:miter lim="800000"/>
            <a:headEnd len="sm" w="sm" type="none"/>
            <a:tailEnd len="sm" w="sm" type="none"/>
          </a:ln>
        </p:spPr>
        <p:txBody>
          <a:bodyPr anchorCtr="0" anchor="ctr" bIns="22850" lIns="45725" spcFirstLastPara="1" rIns="45725" wrap="square" tIns="22850">
            <a:noAutofit/>
          </a:bodyPr>
          <a:lstStyle/>
          <a:p>
            <a:pPr indent="0" lvl="0" marL="0" marR="0" rtl="0" algn="ctr">
              <a:spcBef>
                <a:spcPts val="0"/>
              </a:spcBef>
              <a:spcAft>
                <a:spcPts val="0"/>
              </a:spcAft>
              <a:buNone/>
            </a:pPr>
            <a:r>
              <a:t/>
            </a:r>
            <a:endParaRPr b="0" i="0" sz="1400" u="none" cap="none" strike="noStrike">
              <a:solidFill>
                <a:schemeClr val="lt1"/>
              </a:solidFill>
              <a:latin typeface="Libre Franklin"/>
              <a:ea typeface="Libre Franklin"/>
              <a:cs typeface="Libre Franklin"/>
              <a:sym typeface="Libre Franklin"/>
            </a:endParaRPr>
          </a:p>
        </p:txBody>
      </p:sp>
      <p:sp>
        <p:nvSpPr>
          <p:cNvPr id="105" name="Google Shape;105;p21"/>
          <p:cNvSpPr txBox="1"/>
          <p:nvPr/>
        </p:nvSpPr>
        <p:spPr>
          <a:xfrm>
            <a:off x="4284750" y="741650"/>
            <a:ext cx="3840300" cy="384900"/>
          </a:xfrm>
          <a:prstGeom prst="rect">
            <a:avLst/>
          </a:prstGeom>
          <a:noFill/>
          <a:ln>
            <a:noFill/>
          </a:ln>
        </p:spPr>
        <p:txBody>
          <a:bodyPr anchorCtr="0" anchor="t" bIns="22850" lIns="45725" spcFirstLastPara="1" rIns="45725" wrap="square" tIns="22850">
            <a:spAutoFit/>
          </a:bodyPr>
          <a:lstStyle/>
          <a:p>
            <a:pPr indent="0" lvl="0" marL="0" marR="0" rtl="0" algn="just">
              <a:spcBef>
                <a:spcPts val="0"/>
              </a:spcBef>
              <a:spcAft>
                <a:spcPts val="0"/>
              </a:spcAft>
              <a:buNone/>
            </a:pPr>
            <a:r>
              <a:rPr b="1" i="0" lang="es" sz="2200" u="none" cap="none" strike="noStrike">
                <a:solidFill>
                  <a:schemeClr val="accent2"/>
                </a:solidFill>
                <a:latin typeface="Libre Franklin Medium"/>
                <a:ea typeface="Libre Franklin Medium"/>
                <a:cs typeface="Libre Franklin Medium"/>
                <a:sym typeface="Libre Franklin Medium"/>
              </a:rPr>
              <a:t>01 –</a:t>
            </a:r>
            <a:r>
              <a:rPr b="1" lang="es" sz="2200">
                <a:solidFill>
                  <a:srgbClr val="00566C"/>
                </a:solidFill>
                <a:latin typeface="Libre Franklin"/>
                <a:ea typeface="Libre Franklin"/>
                <a:cs typeface="Libre Franklin"/>
                <a:sym typeface="Libre Franklin"/>
              </a:rPr>
              <a:t>Introducción</a:t>
            </a:r>
            <a:endParaRPr sz="700"/>
          </a:p>
        </p:txBody>
      </p:sp>
      <p:sp>
        <p:nvSpPr>
          <p:cNvPr id="106" name="Google Shape;106;p21"/>
          <p:cNvSpPr txBox="1"/>
          <p:nvPr/>
        </p:nvSpPr>
        <p:spPr>
          <a:xfrm>
            <a:off x="4247550" y="1042300"/>
            <a:ext cx="4805100" cy="384900"/>
          </a:xfrm>
          <a:prstGeom prst="rect">
            <a:avLst/>
          </a:prstGeom>
          <a:noFill/>
          <a:ln>
            <a:noFill/>
          </a:ln>
        </p:spPr>
        <p:txBody>
          <a:bodyPr anchorCtr="0" anchor="t" bIns="22850" lIns="45725" spcFirstLastPara="1" rIns="45725" wrap="square" tIns="22850">
            <a:spAutoFit/>
          </a:bodyPr>
          <a:lstStyle/>
          <a:p>
            <a:pPr indent="0" lvl="0" marL="0" marR="0" rtl="0" algn="just">
              <a:spcBef>
                <a:spcPts val="0"/>
              </a:spcBef>
              <a:spcAft>
                <a:spcPts val="0"/>
              </a:spcAft>
              <a:buNone/>
            </a:pPr>
            <a:r>
              <a:rPr b="1" i="0" lang="es" sz="2200" u="none" cap="none" strike="noStrike">
                <a:solidFill>
                  <a:schemeClr val="accent2"/>
                </a:solidFill>
                <a:latin typeface="Libre Franklin Medium"/>
                <a:ea typeface="Libre Franklin Medium"/>
                <a:cs typeface="Libre Franklin Medium"/>
                <a:sym typeface="Libre Franklin Medium"/>
              </a:rPr>
              <a:t>02 -</a:t>
            </a:r>
            <a:r>
              <a:rPr b="1" lang="es" sz="2200">
                <a:solidFill>
                  <a:srgbClr val="00566C"/>
                </a:solidFill>
                <a:latin typeface="Libre Franklin"/>
                <a:ea typeface="Libre Franklin"/>
                <a:cs typeface="Libre Franklin"/>
                <a:sym typeface="Libre Franklin"/>
              </a:rPr>
              <a:t>Análisis del mercado</a:t>
            </a:r>
            <a:endParaRPr sz="700"/>
          </a:p>
        </p:txBody>
      </p:sp>
      <p:sp>
        <p:nvSpPr>
          <p:cNvPr id="107" name="Google Shape;107;p21"/>
          <p:cNvSpPr txBox="1"/>
          <p:nvPr/>
        </p:nvSpPr>
        <p:spPr>
          <a:xfrm>
            <a:off x="4284762" y="1454475"/>
            <a:ext cx="4467900" cy="384900"/>
          </a:xfrm>
          <a:prstGeom prst="rect">
            <a:avLst/>
          </a:prstGeom>
          <a:noFill/>
          <a:ln>
            <a:noFill/>
          </a:ln>
        </p:spPr>
        <p:txBody>
          <a:bodyPr anchorCtr="0" anchor="t" bIns="22850" lIns="45725" spcFirstLastPara="1" rIns="45725" wrap="square" tIns="22850">
            <a:spAutoFit/>
          </a:bodyPr>
          <a:lstStyle/>
          <a:p>
            <a:pPr indent="0" lvl="0" marL="0" marR="0" rtl="0" algn="just">
              <a:spcBef>
                <a:spcPts val="0"/>
              </a:spcBef>
              <a:spcAft>
                <a:spcPts val="0"/>
              </a:spcAft>
              <a:buNone/>
            </a:pPr>
            <a:r>
              <a:rPr b="1" i="0" lang="es" sz="2200" u="none" cap="none" strike="noStrike">
                <a:solidFill>
                  <a:schemeClr val="accent2"/>
                </a:solidFill>
                <a:latin typeface="Libre Franklin Medium"/>
                <a:ea typeface="Libre Franklin Medium"/>
                <a:cs typeface="Libre Franklin Medium"/>
                <a:sym typeface="Libre Franklin Medium"/>
              </a:rPr>
              <a:t>03 - </a:t>
            </a:r>
            <a:r>
              <a:rPr b="1" lang="es" sz="2200">
                <a:solidFill>
                  <a:srgbClr val="00566C"/>
                </a:solidFill>
                <a:latin typeface="Libre Franklin"/>
                <a:ea typeface="Libre Franklin"/>
                <a:cs typeface="Libre Franklin"/>
                <a:sym typeface="Libre Franklin"/>
              </a:rPr>
              <a:t>Business Model Canvas</a:t>
            </a:r>
            <a:endParaRPr sz="700"/>
          </a:p>
        </p:txBody>
      </p:sp>
      <p:sp>
        <p:nvSpPr>
          <p:cNvPr id="108" name="Google Shape;108;p21"/>
          <p:cNvSpPr txBox="1"/>
          <p:nvPr/>
        </p:nvSpPr>
        <p:spPr>
          <a:xfrm>
            <a:off x="4284762" y="1839375"/>
            <a:ext cx="4467900" cy="384900"/>
          </a:xfrm>
          <a:prstGeom prst="rect">
            <a:avLst/>
          </a:prstGeom>
          <a:noFill/>
          <a:ln>
            <a:noFill/>
          </a:ln>
        </p:spPr>
        <p:txBody>
          <a:bodyPr anchorCtr="0" anchor="t" bIns="22850" lIns="45725" spcFirstLastPara="1" rIns="45725" wrap="square" tIns="22850">
            <a:spAutoFit/>
          </a:bodyPr>
          <a:lstStyle/>
          <a:p>
            <a:pPr indent="0" lvl="0" marL="0" marR="0" rtl="0" algn="just">
              <a:spcBef>
                <a:spcPts val="0"/>
              </a:spcBef>
              <a:spcAft>
                <a:spcPts val="0"/>
              </a:spcAft>
              <a:buNone/>
            </a:pPr>
            <a:r>
              <a:rPr b="1" i="0" lang="es" sz="2200" u="none" cap="none" strike="noStrike">
                <a:solidFill>
                  <a:schemeClr val="accent2"/>
                </a:solidFill>
                <a:latin typeface="Libre Franklin Medium"/>
                <a:ea typeface="Libre Franklin Medium"/>
                <a:cs typeface="Libre Franklin Medium"/>
                <a:sym typeface="Libre Franklin Medium"/>
              </a:rPr>
              <a:t>04 -</a:t>
            </a:r>
            <a:r>
              <a:rPr b="1" lang="es" sz="2200">
                <a:solidFill>
                  <a:srgbClr val="00566C"/>
                </a:solidFill>
                <a:latin typeface="Libre Franklin Medium"/>
                <a:ea typeface="Libre Franklin Medium"/>
                <a:cs typeface="Libre Franklin Medium"/>
                <a:sym typeface="Libre Franklin Medium"/>
              </a:rPr>
              <a:t>Estrategia del marketing</a:t>
            </a:r>
            <a:endParaRPr sz="700"/>
          </a:p>
        </p:txBody>
      </p:sp>
      <p:sp>
        <p:nvSpPr>
          <p:cNvPr id="109" name="Google Shape;109;p21"/>
          <p:cNvSpPr txBox="1"/>
          <p:nvPr/>
        </p:nvSpPr>
        <p:spPr>
          <a:xfrm>
            <a:off x="342900" y="2106613"/>
            <a:ext cx="3886200" cy="923132"/>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0" i="0" lang="es" sz="5700" u="none" cap="none" strike="noStrike">
                <a:solidFill>
                  <a:schemeClr val="accent4"/>
                </a:solidFill>
                <a:latin typeface="Libre Franklin Medium"/>
                <a:ea typeface="Libre Franklin Medium"/>
                <a:cs typeface="Libre Franklin Medium"/>
                <a:sym typeface="Libre Franklin Medium"/>
              </a:rPr>
              <a:t>ÍNDICE</a:t>
            </a:r>
            <a:endParaRPr sz="700"/>
          </a:p>
        </p:txBody>
      </p:sp>
      <p:sp>
        <p:nvSpPr>
          <p:cNvPr id="110" name="Google Shape;110;p21"/>
          <p:cNvSpPr txBox="1"/>
          <p:nvPr/>
        </p:nvSpPr>
        <p:spPr>
          <a:xfrm>
            <a:off x="4284762" y="2246088"/>
            <a:ext cx="4467900" cy="384900"/>
          </a:xfrm>
          <a:prstGeom prst="rect">
            <a:avLst/>
          </a:prstGeom>
          <a:noFill/>
          <a:ln>
            <a:noFill/>
          </a:ln>
        </p:spPr>
        <p:txBody>
          <a:bodyPr anchorCtr="0" anchor="t" bIns="22850" lIns="45725" spcFirstLastPara="1" rIns="45725" wrap="square" tIns="22850">
            <a:spAutoFit/>
          </a:bodyPr>
          <a:lstStyle/>
          <a:p>
            <a:pPr indent="0" lvl="0" marL="0" marR="0" rtl="0" algn="just">
              <a:spcBef>
                <a:spcPts val="0"/>
              </a:spcBef>
              <a:spcAft>
                <a:spcPts val="0"/>
              </a:spcAft>
              <a:buNone/>
            </a:pPr>
            <a:r>
              <a:rPr b="1" i="0" lang="es" sz="2200" u="none" cap="none" strike="noStrike">
                <a:solidFill>
                  <a:schemeClr val="accent2"/>
                </a:solidFill>
                <a:latin typeface="Libre Franklin Medium"/>
                <a:ea typeface="Libre Franklin Medium"/>
                <a:cs typeface="Libre Franklin Medium"/>
                <a:sym typeface="Libre Franklin Medium"/>
              </a:rPr>
              <a:t>0</a:t>
            </a:r>
            <a:r>
              <a:rPr b="1" lang="es" sz="2200">
                <a:solidFill>
                  <a:schemeClr val="accent2"/>
                </a:solidFill>
                <a:latin typeface="Libre Franklin Medium"/>
                <a:ea typeface="Libre Franklin Medium"/>
                <a:cs typeface="Libre Franklin Medium"/>
                <a:sym typeface="Libre Franklin Medium"/>
              </a:rPr>
              <a:t>5</a:t>
            </a:r>
            <a:r>
              <a:rPr b="1" i="0" lang="es" sz="2200" u="none" cap="none" strike="noStrike">
                <a:solidFill>
                  <a:schemeClr val="accent2"/>
                </a:solidFill>
                <a:latin typeface="Libre Franklin Medium"/>
                <a:ea typeface="Libre Franklin Medium"/>
                <a:cs typeface="Libre Franklin Medium"/>
                <a:sym typeface="Libre Franklin Medium"/>
              </a:rPr>
              <a:t> -</a:t>
            </a:r>
            <a:r>
              <a:rPr b="1" lang="es" sz="2200">
                <a:solidFill>
                  <a:srgbClr val="00566C"/>
                </a:solidFill>
                <a:latin typeface="Libre Franklin Medium"/>
                <a:ea typeface="Libre Franklin Medium"/>
                <a:cs typeface="Libre Franklin Medium"/>
                <a:sym typeface="Libre Franklin Medium"/>
              </a:rPr>
              <a:t>Plan de operaciones</a:t>
            </a:r>
            <a:endParaRPr sz="700"/>
          </a:p>
        </p:txBody>
      </p:sp>
      <p:sp>
        <p:nvSpPr>
          <p:cNvPr id="111" name="Google Shape;111;p21"/>
          <p:cNvSpPr txBox="1"/>
          <p:nvPr/>
        </p:nvSpPr>
        <p:spPr>
          <a:xfrm>
            <a:off x="4284762" y="2636450"/>
            <a:ext cx="4805100" cy="384900"/>
          </a:xfrm>
          <a:prstGeom prst="rect">
            <a:avLst/>
          </a:prstGeom>
          <a:noFill/>
          <a:ln>
            <a:noFill/>
          </a:ln>
        </p:spPr>
        <p:txBody>
          <a:bodyPr anchorCtr="0" anchor="t" bIns="22850" lIns="45725" spcFirstLastPara="1" rIns="45725" wrap="square" tIns="22850">
            <a:spAutoFit/>
          </a:bodyPr>
          <a:lstStyle/>
          <a:p>
            <a:pPr indent="0" lvl="0" marL="0" marR="0" rtl="0" algn="just">
              <a:spcBef>
                <a:spcPts val="0"/>
              </a:spcBef>
              <a:spcAft>
                <a:spcPts val="0"/>
              </a:spcAft>
              <a:buNone/>
            </a:pPr>
            <a:r>
              <a:rPr b="1" i="0" lang="es" sz="2200" u="none" cap="none" strike="noStrike">
                <a:solidFill>
                  <a:schemeClr val="accent2"/>
                </a:solidFill>
                <a:latin typeface="Libre Franklin Medium"/>
                <a:ea typeface="Libre Franklin Medium"/>
                <a:cs typeface="Libre Franklin Medium"/>
                <a:sym typeface="Libre Franklin Medium"/>
              </a:rPr>
              <a:t>0</a:t>
            </a:r>
            <a:r>
              <a:rPr b="1" lang="es" sz="2200">
                <a:solidFill>
                  <a:schemeClr val="accent2"/>
                </a:solidFill>
                <a:latin typeface="Libre Franklin Medium"/>
                <a:ea typeface="Libre Franklin Medium"/>
                <a:cs typeface="Libre Franklin Medium"/>
                <a:sym typeface="Libre Franklin Medium"/>
              </a:rPr>
              <a:t>6</a:t>
            </a:r>
            <a:r>
              <a:rPr b="1" i="0" lang="es" sz="2200" u="none" cap="none" strike="noStrike">
                <a:solidFill>
                  <a:schemeClr val="accent2"/>
                </a:solidFill>
                <a:latin typeface="Libre Franklin Medium"/>
                <a:ea typeface="Libre Franklin Medium"/>
                <a:cs typeface="Libre Franklin Medium"/>
                <a:sym typeface="Libre Franklin Medium"/>
              </a:rPr>
              <a:t>-</a:t>
            </a:r>
            <a:r>
              <a:rPr b="1" i="0" lang="es" sz="2200" u="none" cap="none" strike="noStrike">
                <a:solidFill>
                  <a:srgbClr val="00566C"/>
                </a:solidFill>
                <a:latin typeface="Libre Franklin Medium"/>
                <a:ea typeface="Libre Franklin Medium"/>
                <a:cs typeface="Libre Franklin Medium"/>
                <a:sym typeface="Libre Franklin Medium"/>
              </a:rPr>
              <a:t>Equipo </a:t>
            </a:r>
            <a:r>
              <a:rPr b="1" lang="es" sz="2200">
                <a:solidFill>
                  <a:srgbClr val="00566C"/>
                </a:solidFill>
                <a:latin typeface="Libre Franklin Medium"/>
                <a:ea typeface="Libre Franklin Medium"/>
                <a:cs typeface="Libre Franklin Medium"/>
                <a:sym typeface="Libre Franklin Medium"/>
              </a:rPr>
              <a:t>directivo y organización</a:t>
            </a:r>
            <a:endParaRPr sz="700">
              <a:solidFill>
                <a:srgbClr val="00566C"/>
              </a:solidFill>
            </a:endParaRPr>
          </a:p>
        </p:txBody>
      </p:sp>
      <p:sp>
        <p:nvSpPr>
          <p:cNvPr id="112" name="Google Shape;112;p21"/>
          <p:cNvSpPr txBox="1"/>
          <p:nvPr/>
        </p:nvSpPr>
        <p:spPr>
          <a:xfrm>
            <a:off x="4284754" y="3026800"/>
            <a:ext cx="4467900" cy="384900"/>
          </a:xfrm>
          <a:prstGeom prst="rect">
            <a:avLst/>
          </a:prstGeom>
          <a:noFill/>
          <a:ln>
            <a:noFill/>
          </a:ln>
        </p:spPr>
        <p:txBody>
          <a:bodyPr anchorCtr="0" anchor="t" bIns="22850" lIns="45725" spcFirstLastPara="1" rIns="45725" wrap="square" tIns="22850">
            <a:spAutoFit/>
          </a:bodyPr>
          <a:lstStyle/>
          <a:p>
            <a:pPr indent="0" lvl="0" marL="0" marR="0" rtl="0" algn="just">
              <a:spcBef>
                <a:spcPts val="0"/>
              </a:spcBef>
              <a:spcAft>
                <a:spcPts val="0"/>
              </a:spcAft>
              <a:buNone/>
            </a:pPr>
            <a:r>
              <a:rPr b="1" i="0" lang="es" sz="2200" u="none" cap="none" strike="noStrike">
                <a:solidFill>
                  <a:schemeClr val="accent2"/>
                </a:solidFill>
                <a:latin typeface="Libre Franklin Medium"/>
                <a:ea typeface="Libre Franklin Medium"/>
                <a:cs typeface="Libre Franklin Medium"/>
                <a:sym typeface="Libre Franklin Medium"/>
              </a:rPr>
              <a:t>0</a:t>
            </a:r>
            <a:r>
              <a:rPr b="1" lang="es" sz="2200">
                <a:solidFill>
                  <a:schemeClr val="accent2"/>
                </a:solidFill>
                <a:latin typeface="Libre Franklin Medium"/>
                <a:ea typeface="Libre Franklin Medium"/>
                <a:cs typeface="Libre Franklin Medium"/>
                <a:sym typeface="Libre Franklin Medium"/>
              </a:rPr>
              <a:t>7</a:t>
            </a:r>
            <a:r>
              <a:rPr b="1" i="0" lang="es" sz="2200" u="none" cap="none" strike="noStrike">
                <a:solidFill>
                  <a:schemeClr val="accent2"/>
                </a:solidFill>
                <a:latin typeface="Libre Franklin Medium"/>
                <a:ea typeface="Libre Franklin Medium"/>
                <a:cs typeface="Libre Franklin Medium"/>
                <a:sym typeface="Libre Franklin Medium"/>
              </a:rPr>
              <a:t> -</a:t>
            </a:r>
            <a:r>
              <a:rPr b="1" lang="es" sz="2200">
                <a:solidFill>
                  <a:srgbClr val="00566C"/>
                </a:solidFill>
                <a:latin typeface="Libre Franklin Medium"/>
                <a:ea typeface="Libre Franklin Medium"/>
                <a:cs typeface="Libre Franklin Medium"/>
                <a:sym typeface="Libre Franklin Medium"/>
              </a:rPr>
              <a:t>Plan financiero</a:t>
            </a:r>
            <a:endParaRPr sz="700"/>
          </a:p>
        </p:txBody>
      </p:sp>
      <p:sp>
        <p:nvSpPr>
          <p:cNvPr id="113" name="Google Shape;113;p21"/>
          <p:cNvSpPr txBox="1"/>
          <p:nvPr/>
        </p:nvSpPr>
        <p:spPr>
          <a:xfrm>
            <a:off x="4284762" y="3417150"/>
            <a:ext cx="4467900" cy="384900"/>
          </a:xfrm>
          <a:prstGeom prst="rect">
            <a:avLst/>
          </a:prstGeom>
          <a:noFill/>
          <a:ln>
            <a:noFill/>
          </a:ln>
        </p:spPr>
        <p:txBody>
          <a:bodyPr anchorCtr="0" anchor="t" bIns="22850" lIns="45725" spcFirstLastPara="1" rIns="45725" wrap="square" tIns="22850">
            <a:spAutoFit/>
          </a:bodyPr>
          <a:lstStyle/>
          <a:p>
            <a:pPr indent="0" lvl="0" marL="0" marR="0" rtl="0" algn="just">
              <a:spcBef>
                <a:spcPts val="0"/>
              </a:spcBef>
              <a:spcAft>
                <a:spcPts val="0"/>
              </a:spcAft>
              <a:buNone/>
            </a:pPr>
            <a:r>
              <a:rPr b="1" i="0" lang="es" sz="2200" u="none" cap="none" strike="noStrike">
                <a:solidFill>
                  <a:schemeClr val="accent2"/>
                </a:solidFill>
                <a:latin typeface="Libre Franklin Medium"/>
                <a:ea typeface="Libre Franklin Medium"/>
                <a:cs typeface="Libre Franklin Medium"/>
                <a:sym typeface="Libre Franklin Medium"/>
              </a:rPr>
              <a:t>0</a:t>
            </a:r>
            <a:r>
              <a:rPr b="1" lang="es" sz="2200">
                <a:solidFill>
                  <a:schemeClr val="accent2"/>
                </a:solidFill>
                <a:latin typeface="Libre Franklin Medium"/>
                <a:ea typeface="Libre Franklin Medium"/>
                <a:cs typeface="Libre Franklin Medium"/>
                <a:sym typeface="Libre Franklin Medium"/>
              </a:rPr>
              <a:t>8</a:t>
            </a:r>
            <a:r>
              <a:rPr b="1" i="0" lang="es" sz="2200" u="none" cap="none" strike="noStrike">
                <a:solidFill>
                  <a:schemeClr val="accent2"/>
                </a:solidFill>
                <a:latin typeface="Libre Franklin Medium"/>
                <a:ea typeface="Libre Franklin Medium"/>
                <a:cs typeface="Libre Franklin Medium"/>
                <a:sym typeface="Libre Franklin Medium"/>
              </a:rPr>
              <a:t> -</a:t>
            </a:r>
            <a:r>
              <a:rPr b="1" lang="es" sz="2200">
                <a:solidFill>
                  <a:srgbClr val="00566C"/>
                </a:solidFill>
                <a:latin typeface="Libre Franklin Medium"/>
                <a:ea typeface="Libre Franklin Medium"/>
                <a:cs typeface="Libre Franklin Medium"/>
                <a:sym typeface="Libre Franklin Medium"/>
              </a:rPr>
              <a:t>Conclusiones</a:t>
            </a:r>
            <a:endParaRPr sz="700"/>
          </a:p>
        </p:txBody>
      </p:sp>
      <p:sp>
        <p:nvSpPr>
          <p:cNvPr id="114" name="Google Shape;114;p21"/>
          <p:cNvSpPr txBox="1"/>
          <p:nvPr/>
        </p:nvSpPr>
        <p:spPr>
          <a:xfrm>
            <a:off x="4284750" y="3807500"/>
            <a:ext cx="4730700" cy="384900"/>
          </a:xfrm>
          <a:prstGeom prst="rect">
            <a:avLst/>
          </a:prstGeom>
          <a:noFill/>
          <a:ln>
            <a:noFill/>
          </a:ln>
        </p:spPr>
        <p:txBody>
          <a:bodyPr anchorCtr="0" anchor="t" bIns="22850" lIns="45725" spcFirstLastPara="1" rIns="45725" wrap="square" tIns="22850">
            <a:spAutoFit/>
          </a:bodyPr>
          <a:lstStyle/>
          <a:p>
            <a:pPr indent="0" lvl="0" marL="0" marR="0" rtl="0" algn="just">
              <a:spcBef>
                <a:spcPts val="0"/>
              </a:spcBef>
              <a:spcAft>
                <a:spcPts val="0"/>
              </a:spcAft>
              <a:buNone/>
            </a:pPr>
            <a:r>
              <a:rPr b="1" i="0" lang="es" sz="2200" u="none" cap="none" strike="noStrike">
                <a:solidFill>
                  <a:schemeClr val="accent2"/>
                </a:solidFill>
                <a:latin typeface="Libre Franklin Medium"/>
                <a:ea typeface="Libre Franklin Medium"/>
                <a:cs typeface="Libre Franklin Medium"/>
                <a:sym typeface="Libre Franklin Medium"/>
              </a:rPr>
              <a:t>0</a:t>
            </a:r>
            <a:r>
              <a:rPr b="1" lang="es" sz="2200">
                <a:solidFill>
                  <a:schemeClr val="accent2"/>
                </a:solidFill>
                <a:latin typeface="Libre Franklin Medium"/>
                <a:ea typeface="Libre Franklin Medium"/>
                <a:cs typeface="Libre Franklin Medium"/>
                <a:sym typeface="Libre Franklin Medium"/>
              </a:rPr>
              <a:t>9</a:t>
            </a:r>
            <a:r>
              <a:rPr b="1" i="0" lang="es" sz="2200" u="none" cap="none" strike="noStrike">
                <a:solidFill>
                  <a:schemeClr val="accent2"/>
                </a:solidFill>
                <a:latin typeface="Libre Franklin Medium"/>
                <a:ea typeface="Libre Franklin Medium"/>
                <a:cs typeface="Libre Franklin Medium"/>
                <a:sym typeface="Libre Franklin Medium"/>
              </a:rPr>
              <a:t> -</a:t>
            </a:r>
            <a:r>
              <a:rPr b="1" lang="es" sz="2200">
                <a:solidFill>
                  <a:srgbClr val="00566C"/>
                </a:solidFill>
                <a:latin typeface="Libre Franklin Medium"/>
                <a:ea typeface="Libre Franklin Medium"/>
                <a:cs typeface="Libre Franklin Medium"/>
                <a:sym typeface="Libre Franklin Medium"/>
              </a:rPr>
              <a:t>Limitaciones y prospectiva</a:t>
            </a:r>
            <a:endParaRPr sz="700"/>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438150" y="285750"/>
            <a:ext cx="3627300" cy="655800"/>
          </a:xfrm>
          <a:prstGeom prst="rect">
            <a:avLst/>
          </a:prstGeom>
          <a:noFill/>
          <a:ln>
            <a:noFill/>
          </a:ln>
        </p:spPr>
        <p:txBody>
          <a:bodyPr anchorCtr="0" anchor="t" bIns="22850" lIns="45725" spcFirstLastPara="1" rIns="45725" wrap="square" tIns="22850">
            <a:spAutoFit/>
          </a:bodyPr>
          <a:lstStyle/>
          <a:p>
            <a:pPr indent="0" lvl="0" marL="0" rtl="0" algn="l">
              <a:lnSpc>
                <a:spcPct val="90000"/>
              </a:lnSpc>
              <a:spcBef>
                <a:spcPts val="0"/>
              </a:spcBef>
              <a:spcAft>
                <a:spcPts val="0"/>
              </a:spcAft>
              <a:buNone/>
            </a:pPr>
            <a:r>
              <a:rPr lang="es">
                <a:solidFill>
                  <a:schemeClr val="accent1"/>
                </a:solidFill>
              </a:rPr>
              <a:t>Apartado 01</a:t>
            </a:r>
            <a:br>
              <a:rPr lang="es"/>
            </a:br>
            <a:r>
              <a:rPr lang="es">
                <a:solidFill>
                  <a:srgbClr val="00566C"/>
                </a:solidFill>
              </a:rPr>
              <a:t>INTRODUCCIÓN</a:t>
            </a:r>
            <a:endParaRPr/>
          </a:p>
        </p:txBody>
      </p:sp>
      <p:sp>
        <p:nvSpPr>
          <p:cNvPr id="120" name="Google Shape;120;p22"/>
          <p:cNvSpPr/>
          <p:nvPr/>
        </p:nvSpPr>
        <p:spPr>
          <a:xfrm>
            <a:off x="5861050" y="1978025"/>
            <a:ext cx="3069600" cy="2217900"/>
          </a:xfrm>
          <a:prstGeom prst="rect">
            <a:avLst/>
          </a:prstGeom>
          <a:noFill/>
          <a:ln cap="flat" cmpd="sng" w="19050">
            <a:solidFill>
              <a:srgbClr val="6AA84F"/>
            </a:solidFill>
            <a:prstDash val="dash"/>
            <a:round/>
            <a:headEnd len="sm" w="sm" type="none"/>
            <a:tailEnd len="sm" w="sm" type="none"/>
          </a:ln>
        </p:spPr>
        <p:txBody>
          <a:bodyPr anchorCtr="0" anchor="t" bIns="22850" lIns="45725" spcFirstLastPara="1" rIns="45725" wrap="square" tIns="22850">
            <a:noAutofit/>
          </a:bodyPr>
          <a:lstStyle/>
          <a:p>
            <a:pPr indent="0" lvl="0" marL="0" rtl="0" algn="just">
              <a:spcBef>
                <a:spcPts val="0"/>
              </a:spcBef>
              <a:spcAft>
                <a:spcPts val="0"/>
              </a:spcAft>
              <a:buNone/>
            </a:pPr>
            <a:r>
              <a:rPr lang="es">
                <a:solidFill>
                  <a:schemeClr val="dk1"/>
                </a:solidFill>
                <a:latin typeface="Calibri"/>
                <a:ea typeface="Calibri"/>
                <a:cs typeface="Calibri"/>
                <a:sym typeface="Calibri"/>
              </a:rPr>
              <a:t>Aspectos relevantes que hacen que definan su identidad:</a:t>
            </a:r>
            <a:br>
              <a:rPr lang="e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317500" lvl="0" marL="457200" rtl="0" algn="just">
              <a:spcBef>
                <a:spcPts val="0"/>
              </a:spcBef>
              <a:spcAft>
                <a:spcPts val="0"/>
              </a:spcAft>
              <a:buClr>
                <a:schemeClr val="dk1"/>
              </a:buClr>
              <a:buSzPts val="1400"/>
              <a:buFont typeface="Calibri"/>
              <a:buChar char="-"/>
            </a:pPr>
            <a:r>
              <a:rPr lang="es">
                <a:solidFill>
                  <a:schemeClr val="dk1"/>
                </a:solidFill>
                <a:latin typeface="Calibri"/>
                <a:ea typeface="Calibri"/>
                <a:cs typeface="Calibri"/>
                <a:sym typeface="Calibri"/>
              </a:rPr>
              <a:t>Innovación en el producto</a:t>
            </a:r>
            <a:br>
              <a:rPr lang="e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317500" lvl="0" marL="457200" rtl="0" algn="just">
              <a:spcBef>
                <a:spcPts val="0"/>
              </a:spcBef>
              <a:spcAft>
                <a:spcPts val="0"/>
              </a:spcAft>
              <a:buClr>
                <a:schemeClr val="dk1"/>
              </a:buClr>
              <a:buSzPts val="1400"/>
              <a:buFont typeface="Calibri"/>
              <a:buChar char="-"/>
            </a:pPr>
            <a:r>
              <a:rPr lang="es">
                <a:solidFill>
                  <a:schemeClr val="dk1"/>
                </a:solidFill>
                <a:latin typeface="Calibri"/>
                <a:ea typeface="Calibri"/>
                <a:cs typeface="Calibri"/>
                <a:sym typeface="Calibri"/>
              </a:rPr>
              <a:t>Cadenas de suministros y logística</a:t>
            </a:r>
            <a:br>
              <a:rPr lang="e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317500" lvl="0" marL="457200" rtl="0" algn="just">
              <a:spcBef>
                <a:spcPts val="0"/>
              </a:spcBef>
              <a:spcAft>
                <a:spcPts val="0"/>
              </a:spcAft>
              <a:buClr>
                <a:schemeClr val="dk1"/>
              </a:buClr>
              <a:buSzPts val="1400"/>
              <a:buFont typeface="Calibri"/>
              <a:buChar char="-"/>
            </a:pPr>
            <a:r>
              <a:rPr lang="es">
                <a:solidFill>
                  <a:schemeClr val="dk1"/>
                </a:solidFill>
                <a:latin typeface="Calibri"/>
                <a:ea typeface="Calibri"/>
                <a:cs typeface="Calibri"/>
                <a:sym typeface="Calibri"/>
              </a:rPr>
              <a:t>Está inmerso en otros mercados internacionales</a:t>
            </a:r>
            <a:endParaRPr>
              <a:solidFill>
                <a:schemeClr val="dk1"/>
              </a:solidFill>
              <a:latin typeface="Calibri"/>
              <a:ea typeface="Calibri"/>
              <a:cs typeface="Calibri"/>
              <a:sym typeface="Calibri"/>
            </a:endParaRPr>
          </a:p>
        </p:txBody>
      </p:sp>
      <p:sp>
        <p:nvSpPr>
          <p:cNvPr id="121" name="Google Shape;121;p22"/>
          <p:cNvSpPr/>
          <p:nvPr/>
        </p:nvSpPr>
        <p:spPr>
          <a:xfrm>
            <a:off x="438150" y="1117050"/>
            <a:ext cx="8391900" cy="729300"/>
          </a:xfrm>
          <a:prstGeom prst="rect">
            <a:avLst/>
          </a:prstGeom>
          <a:noFill/>
          <a:ln cap="flat" cmpd="sng" w="19050">
            <a:solidFill>
              <a:schemeClr val="dk2"/>
            </a:solidFill>
            <a:prstDash val="dash"/>
            <a:round/>
            <a:headEnd len="sm" w="sm" type="none"/>
            <a:tailEnd len="sm" w="sm" type="none"/>
          </a:ln>
        </p:spPr>
        <p:txBody>
          <a:bodyPr anchorCtr="0" anchor="t" bIns="22850" lIns="45725" spcFirstLastPara="1" rIns="45725" wrap="square" tIns="22850">
            <a:noAutofit/>
          </a:bodyPr>
          <a:lstStyle/>
          <a:p>
            <a:pPr indent="0" lvl="0" marL="0" rtl="0" algn="just">
              <a:spcBef>
                <a:spcPts val="0"/>
              </a:spcBef>
              <a:spcAft>
                <a:spcPts val="0"/>
              </a:spcAft>
              <a:buNone/>
            </a:pPr>
            <a:r>
              <a:rPr lang="es">
                <a:solidFill>
                  <a:schemeClr val="dk1"/>
                </a:solidFill>
                <a:latin typeface="Calibri"/>
                <a:ea typeface="Calibri"/>
                <a:cs typeface="Calibri"/>
                <a:sym typeface="Calibri"/>
              </a:rPr>
              <a:t>Frigoríficos Arcos, es una empresa que se encuentra situada en O Carballiño provincia de Ourense. </a:t>
            </a:r>
            <a:br>
              <a:rPr lang="es">
                <a:solidFill>
                  <a:schemeClr val="dk1"/>
                </a:solidFill>
                <a:latin typeface="Calibri"/>
                <a:ea typeface="Calibri"/>
                <a:cs typeface="Calibri"/>
                <a:sym typeface="Calibri"/>
              </a:rPr>
            </a:br>
            <a:r>
              <a:rPr lang="es">
                <a:solidFill>
                  <a:schemeClr val="dk1"/>
                </a:solidFill>
                <a:latin typeface="Calibri"/>
                <a:ea typeface="Calibri"/>
                <a:cs typeface="Calibri"/>
                <a:sym typeface="Calibri"/>
              </a:rPr>
              <a:t>Su objeto social se centra en la venta al por mayor de pulpo y es un sector que forma parte del mercado más amplio de pescados y mariscos.</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rgbClr val="00566C"/>
              </a:solidFill>
              <a:latin typeface="Libre Franklin Medium"/>
              <a:ea typeface="Libre Franklin Medium"/>
              <a:cs typeface="Libre Franklin Medium"/>
              <a:sym typeface="Libre Franklin Medium"/>
            </a:endParaRPr>
          </a:p>
        </p:txBody>
      </p:sp>
      <p:sp>
        <p:nvSpPr>
          <p:cNvPr id="122" name="Google Shape;122;p22"/>
          <p:cNvSpPr txBox="1"/>
          <p:nvPr/>
        </p:nvSpPr>
        <p:spPr>
          <a:xfrm>
            <a:off x="8458200" y="4536282"/>
            <a:ext cx="866775" cy="461963"/>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pic>
        <p:nvPicPr>
          <p:cNvPr id="123" name="Google Shape;123;p22"/>
          <p:cNvPicPr preferRelativeResize="0"/>
          <p:nvPr/>
        </p:nvPicPr>
        <p:blipFill>
          <a:blip r:embed="rId3">
            <a:alphaModFix/>
          </a:blip>
          <a:stretch>
            <a:fillRect/>
          </a:stretch>
        </p:blipFill>
        <p:spPr>
          <a:xfrm>
            <a:off x="438150" y="1989300"/>
            <a:ext cx="5422900" cy="2124612"/>
          </a:xfrm>
          <a:prstGeom prst="rect">
            <a:avLst/>
          </a:prstGeom>
          <a:noFill/>
          <a:ln cap="flat" cmpd="sng" w="19050">
            <a:solidFill>
              <a:schemeClr val="accent1"/>
            </a:solidFill>
            <a:prstDash val="dash"/>
            <a:round/>
            <a:headEnd len="sm" w="sm" type="none"/>
            <a:tailEnd len="sm" w="sm" type="none"/>
          </a:ln>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438150" y="285750"/>
            <a:ext cx="3627300" cy="655800"/>
          </a:xfrm>
          <a:prstGeom prst="rect">
            <a:avLst/>
          </a:prstGeom>
          <a:noFill/>
          <a:ln>
            <a:noFill/>
          </a:ln>
        </p:spPr>
        <p:txBody>
          <a:bodyPr anchorCtr="0" anchor="t" bIns="22850" lIns="45725" spcFirstLastPara="1" rIns="45725" wrap="square" tIns="22850">
            <a:spAutoFit/>
          </a:bodyPr>
          <a:lstStyle/>
          <a:p>
            <a:pPr indent="0" lvl="0" marL="0" rtl="0" algn="l">
              <a:lnSpc>
                <a:spcPct val="90000"/>
              </a:lnSpc>
              <a:spcBef>
                <a:spcPts val="0"/>
              </a:spcBef>
              <a:spcAft>
                <a:spcPts val="0"/>
              </a:spcAft>
              <a:buNone/>
            </a:pPr>
            <a:r>
              <a:rPr lang="es">
                <a:solidFill>
                  <a:schemeClr val="accent1"/>
                </a:solidFill>
              </a:rPr>
              <a:t>Apartado 01</a:t>
            </a:r>
            <a:br>
              <a:rPr lang="es"/>
            </a:br>
            <a:r>
              <a:rPr lang="es">
                <a:solidFill>
                  <a:srgbClr val="00566C"/>
                </a:solidFill>
              </a:rPr>
              <a:t>INTRODUCCIÓN</a:t>
            </a:r>
            <a:endParaRPr/>
          </a:p>
        </p:txBody>
      </p:sp>
      <p:sp>
        <p:nvSpPr>
          <p:cNvPr id="129" name="Google Shape;129;p23"/>
          <p:cNvSpPr/>
          <p:nvPr/>
        </p:nvSpPr>
        <p:spPr>
          <a:xfrm>
            <a:off x="538400" y="1406350"/>
            <a:ext cx="8224500" cy="655800"/>
          </a:xfrm>
          <a:prstGeom prst="rect">
            <a:avLst/>
          </a:prstGeom>
          <a:noFill/>
          <a:ln>
            <a:noFill/>
          </a:ln>
        </p:spPr>
        <p:txBody>
          <a:bodyPr anchorCtr="0" anchor="t" bIns="22850" lIns="45725" spcFirstLastPara="1" rIns="45725" wrap="square" tIns="22850">
            <a:noAutofit/>
          </a:bodyPr>
          <a:lstStyle/>
          <a:p>
            <a:pPr indent="0" lvl="0" marL="0" rtl="0" algn="just">
              <a:spcBef>
                <a:spcPts val="0"/>
              </a:spcBef>
              <a:spcAft>
                <a:spcPts val="0"/>
              </a:spcAft>
              <a:buNone/>
            </a:pPr>
            <a:r>
              <a:t/>
            </a:r>
            <a:endParaRPr b="1">
              <a:solidFill>
                <a:schemeClr val="dk2"/>
              </a:solidFill>
              <a:latin typeface="Calibri"/>
              <a:ea typeface="Calibri"/>
              <a:cs typeface="Calibri"/>
              <a:sym typeface="Calibri"/>
            </a:endParaRPr>
          </a:p>
          <a:p>
            <a:pPr indent="0" lvl="0" marL="0" marR="0" rtl="0" algn="l">
              <a:spcBef>
                <a:spcPts val="0"/>
              </a:spcBef>
              <a:spcAft>
                <a:spcPts val="0"/>
              </a:spcAft>
              <a:buNone/>
            </a:pPr>
            <a:r>
              <a:t/>
            </a:r>
            <a:endParaRPr sz="1000">
              <a:solidFill>
                <a:schemeClr val="dk2"/>
              </a:solidFill>
              <a:latin typeface="Libre Franklin Medium"/>
              <a:ea typeface="Libre Franklin Medium"/>
              <a:cs typeface="Libre Franklin Medium"/>
              <a:sym typeface="Libre Franklin Medium"/>
            </a:endParaRPr>
          </a:p>
        </p:txBody>
      </p:sp>
      <p:sp>
        <p:nvSpPr>
          <p:cNvPr id="130" name="Google Shape;130;p23"/>
          <p:cNvSpPr/>
          <p:nvPr/>
        </p:nvSpPr>
        <p:spPr>
          <a:xfrm>
            <a:off x="296500" y="1030100"/>
            <a:ext cx="8619300" cy="3676500"/>
          </a:xfrm>
          <a:prstGeom prst="rect">
            <a:avLst/>
          </a:prstGeom>
          <a:noFill/>
          <a:ln>
            <a:noFill/>
          </a:ln>
        </p:spPr>
        <p:txBody>
          <a:bodyPr anchorCtr="0" anchor="t" bIns="22850" lIns="45725" spcFirstLastPara="1" rIns="45725" wrap="square" tIns="22850">
            <a:noAutofit/>
          </a:bodyPr>
          <a:lstStyle/>
          <a:p>
            <a:pPr indent="0" lvl="0" marL="0" rtl="0" algn="just">
              <a:lnSpc>
                <a:spcPct val="115000"/>
              </a:lnSpc>
              <a:spcBef>
                <a:spcPts val="1200"/>
              </a:spcBef>
              <a:spcAft>
                <a:spcPts val="0"/>
              </a:spcAft>
              <a:buNone/>
            </a:pPr>
            <a:r>
              <a:rPr b="1" lang="es">
                <a:solidFill>
                  <a:schemeClr val="accent1"/>
                </a:solidFill>
                <a:latin typeface="Calibri"/>
                <a:ea typeface="Calibri"/>
                <a:cs typeface="Calibri"/>
                <a:sym typeface="Calibri"/>
              </a:rPr>
              <a:t>OBJETIVOS GENERALES</a:t>
            </a:r>
            <a:endParaRPr b="1">
              <a:solidFill>
                <a:schemeClr val="accent1"/>
              </a:solidFill>
              <a:latin typeface="Calibri"/>
              <a:ea typeface="Calibri"/>
              <a:cs typeface="Calibri"/>
              <a:sym typeface="Calibri"/>
            </a:endParaRPr>
          </a:p>
          <a:p>
            <a:pPr indent="0" lvl="0" marL="0" rtl="0" algn="just">
              <a:lnSpc>
                <a:spcPct val="115000"/>
              </a:lnSpc>
              <a:spcBef>
                <a:spcPts val="0"/>
              </a:spcBef>
              <a:spcAft>
                <a:spcPts val="0"/>
              </a:spcAft>
              <a:buNone/>
            </a:pPr>
            <a:r>
              <a:rPr lang="es">
                <a:latin typeface="Calibri"/>
                <a:ea typeface="Calibri"/>
                <a:cs typeface="Calibri"/>
                <a:sym typeface="Calibri"/>
              </a:rPr>
              <a:t>Desarrollar e introducir en el mercado un ceviche de pulpo premium y listo para consumir, innovador dentro de la categoría de productos frescos de rápida consumición, que combine la excelencia en calidad del pulpo de Frigoríficos Arcos con una propuesta gastronómica diferencial, sostenible y rentable</a:t>
            </a:r>
            <a:r>
              <a:rPr b="1" lang="es">
                <a:latin typeface="Calibri"/>
                <a:ea typeface="Calibri"/>
                <a:cs typeface="Calibri"/>
                <a:sym typeface="Calibri"/>
              </a:rPr>
              <a:t>.</a:t>
            </a:r>
            <a:endParaRPr b="1">
              <a:latin typeface="Calibri"/>
              <a:ea typeface="Calibri"/>
              <a:cs typeface="Calibri"/>
              <a:sym typeface="Calibri"/>
            </a:endParaRPr>
          </a:p>
          <a:p>
            <a:pPr indent="0" lvl="0" marL="0" rtl="0" algn="l">
              <a:lnSpc>
                <a:spcPct val="115000"/>
              </a:lnSpc>
              <a:spcBef>
                <a:spcPts val="1200"/>
              </a:spcBef>
              <a:spcAft>
                <a:spcPts val="0"/>
              </a:spcAft>
              <a:buNone/>
            </a:pPr>
            <a:r>
              <a:rPr b="1" lang="es">
                <a:solidFill>
                  <a:schemeClr val="accent1"/>
                </a:solidFill>
                <a:latin typeface="Calibri"/>
                <a:ea typeface="Calibri"/>
                <a:cs typeface="Calibri"/>
                <a:sym typeface="Calibri"/>
              </a:rPr>
              <a:t>OBJETIVOS ESPECÍFICOS</a:t>
            </a:r>
            <a:endParaRPr b="1">
              <a:solidFill>
                <a:schemeClr val="accent1"/>
              </a:solidFill>
              <a:latin typeface="Calibri"/>
              <a:ea typeface="Calibri"/>
              <a:cs typeface="Calibri"/>
              <a:sym typeface="Calibri"/>
            </a:endParaRPr>
          </a:p>
          <a:p>
            <a:pPr indent="0" lvl="0" marL="0" rtl="0" algn="just">
              <a:lnSpc>
                <a:spcPct val="115000"/>
              </a:lnSpc>
              <a:spcBef>
                <a:spcPts val="1200"/>
              </a:spcBef>
              <a:spcAft>
                <a:spcPts val="1200"/>
              </a:spcAft>
              <a:buNone/>
            </a:pPr>
            <a:r>
              <a:t/>
            </a:r>
            <a:endParaRPr b="1">
              <a:latin typeface="Calibri"/>
              <a:ea typeface="Calibri"/>
              <a:cs typeface="Calibri"/>
              <a:sym typeface="Calibri"/>
            </a:endParaRPr>
          </a:p>
        </p:txBody>
      </p:sp>
      <p:sp>
        <p:nvSpPr>
          <p:cNvPr id="131" name="Google Shape;131;p23"/>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graphicFrame>
        <p:nvGraphicFramePr>
          <p:cNvPr id="132" name="Google Shape;132;p23"/>
          <p:cNvGraphicFramePr/>
          <p:nvPr/>
        </p:nvGraphicFramePr>
        <p:xfrm>
          <a:off x="296500" y="2406225"/>
          <a:ext cx="3000000" cy="3000000"/>
        </p:xfrm>
        <a:graphic>
          <a:graphicData uri="http://schemas.openxmlformats.org/drawingml/2006/table">
            <a:tbl>
              <a:tblPr>
                <a:noFill/>
                <a:tableStyleId>{8ABBEE87-62AD-4EDD-BEDA-F695716BED0F}</a:tableStyleId>
              </a:tblPr>
              <a:tblGrid>
                <a:gridCol w="2824525"/>
                <a:gridCol w="2897375"/>
                <a:gridCol w="2897375"/>
              </a:tblGrid>
              <a:tr h="1074850">
                <a:tc>
                  <a:txBody>
                    <a:bodyPr/>
                    <a:lstStyle/>
                    <a:p>
                      <a:pPr indent="0" lvl="0" marL="0" rtl="0" algn="ctr">
                        <a:lnSpc>
                          <a:spcPct val="107000"/>
                        </a:lnSpc>
                        <a:spcBef>
                          <a:spcPts val="0"/>
                        </a:spcBef>
                        <a:spcAft>
                          <a:spcPts val="0"/>
                        </a:spcAft>
                        <a:buNone/>
                      </a:pPr>
                      <a:r>
                        <a:rPr lang="es" sz="1300">
                          <a:latin typeface="Calibri"/>
                          <a:ea typeface="Calibri"/>
                          <a:cs typeface="Calibri"/>
                          <a:sym typeface="Calibri"/>
                        </a:rPr>
                        <a:t>Examinar el mercado potencial, el público objetivo, la competencia en este sector</a:t>
                      </a:r>
                      <a:endParaRPr sz="1300">
                        <a:latin typeface="Calibri"/>
                        <a:ea typeface="Calibri"/>
                        <a:cs typeface="Calibri"/>
                        <a:sym typeface="Calibri"/>
                      </a:endParaRPr>
                    </a:p>
                  </a:txBody>
                  <a:tcPr marT="91425" marB="91425" marR="91425" marL="91425">
                    <a:lnL cap="flat" cmpd="sng" w="19050">
                      <a:solidFill>
                        <a:srgbClr val="38761D"/>
                      </a:solidFill>
                      <a:prstDash val="dash"/>
                      <a:round/>
                      <a:headEnd len="sm" w="sm" type="none"/>
                      <a:tailEnd len="sm" w="sm" type="none"/>
                    </a:lnL>
                    <a:lnR cap="flat" cmpd="sng" w="19050">
                      <a:solidFill>
                        <a:srgbClr val="38761D"/>
                      </a:solidFill>
                      <a:prstDash val="dash"/>
                      <a:round/>
                      <a:headEnd len="sm" w="sm" type="none"/>
                      <a:tailEnd len="sm" w="sm" type="none"/>
                    </a:lnR>
                    <a:lnT cap="flat" cmpd="sng" w="19050">
                      <a:solidFill>
                        <a:srgbClr val="38761D"/>
                      </a:solidFill>
                      <a:prstDash val="dash"/>
                      <a:round/>
                      <a:headEnd len="sm" w="sm" type="none"/>
                      <a:tailEnd len="sm" w="sm" type="none"/>
                    </a:lnT>
                    <a:lnB cap="flat" cmpd="sng" w="19050">
                      <a:solidFill>
                        <a:srgbClr val="38761D"/>
                      </a:solidFill>
                      <a:prstDash val="dash"/>
                      <a:round/>
                      <a:headEnd len="sm" w="sm" type="none"/>
                      <a:tailEnd len="sm" w="sm" type="none"/>
                    </a:lnB>
                  </a:tcPr>
                </a:tc>
                <a:tc>
                  <a:txBody>
                    <a:bodyPr/>
                    <a:lstStyle/>
                    <a:p>
                      <a:pPr indent="0" lvl="0" marL="0" rtl="0" algn="ctr">
                        <a:spcBef>
                          <a:spcPts val="0"/>
                        </a:spcBef>
                        <a:spcAft>
                          <a:spcPts val="0"/>
                        </a:spcAft>
                        <a:buNone/>
                      </a:pPr>
                      <a:r>
                        <a:rPr lang="es" sz="1300">
                          <a:latin typeface="Calibri"/>
                          <a:ea typeface="Calibri"/>
                          <a:cs typeface="Calibri"/>
                          <a:sym typeface="Calibri"/>
                        </a:rPr>
                        <a:t>Definir cómo lanzar y posicionar el nuevo producto en el mercado a través de ferias y eventos, campañas de marketing y alianzas con distribuidores</a:t>
                      </a:r>
                      <a:endParaRPr sz="1300">
                        <a:latin typeface="Calibri"/>
                        <a:ea typeface="Calibri"/>
                        <a:cs typeface="Calibri"/>
                        <a:sym typeface="Calibri"/>
                      </a:endParaRPr>
                    </a:p>
                  </a:txBody>
                  <a:tcPr marT="91425" marB="91425" marR="91425" marL="91425">
                    <a:lnL cap="flat" cmpd="sng" w="19050">
                      <a:solidFill>
                        <a:srgbClr val="38761D"/>
                      </a:solidFill>
                      <a:prstDash val="dash"/>
                      <a:round/>
                      <a:headEnd len="sm" w="sm" type="none"/>
                      <a:tailEnd len="sm" w="sm" type="none"/>
                    </a:lnL>
                    <a:lnR cap="flat" cmpd="sng" w="19050">
                      <a:solidFill>
                        <a:srgbClr val="38761D"/>
                      </a:solidFill>
                      <a:prstDash val="dash"/>
                      <a:round/>
                      <a:headEnd len="sm" w="sm" type="none"/>
                      <a:tailEnd len="sm" w="sm" type="none"/>
                    </a:lnR>
                    <a:lnT cap="flat" cmpd="sng" w="19050">
                      <a:solidFill>
                        <a:srgbClr val="38761D"/>
                      </a:solidFill>
                      <a:prstDash val="dash"/>
                      <a:round/>
                      <a:headEnd len="sm" w="sm" type="none"/>
                      <a:tailEnd len="sm" w="sm" type="none"/>
                    </a:lnT>
                    <a:lnB cap="flat" cmpd="sng" w="19050">
                      <a:solidFill>
                        <a:srgbClr val="38761D"/>
                      </a:solidFill>
                      <a:prstDash val="dash"/>
                      <a:round/>
                      <a:headEnd len="sm" w="sm" type="none"/>
                      <a:tailEnd len="sm" w="sm" type="none"/>
                    </a:lnB>
                  </a:tcPr>
                </a:tc>
                <a:tc>
                  <a:txBody>
                    <a:bodyPr/>
                    <a:lstStyle/>
                    <a:p>
                      <a:pPr indent="0" lvl="0" marL="0" rtl="0" algn="ctr">
                        <a:spcBef>
                          <a:spcPts val="0"/>
                        </a:spcBef>
                        <a:spcAft>
                          <a:spcPts val="0"/>
                        </a:spcAft>
                        <a:buNone/>
                      </a:pPr>
                      <a:r>
                        <a:rPr lang="es" sz="1300">
                          <a:latin typeface="Calibri"/>
                          <a:ea typeface="Calibri"/>
                          <a:cs typeface="Calibri"/>
                          <a:sym typeface="Calibri"/>
                        </a:rPr>
                        <a:t>Forma jurídica de la empresa a analizar, misión y visión y el organigrama de la empresa</a:t>
                      </a:r>
                      <a:endParaRPr sz="1300">
                        <a:latin typeface="Calibri"/>
                        <a:ea typeface="Calibri"/>
                        <a:cs typeface="Calibri"/>
                        <a:sym typeface="Calibri"/>
                      </a:endParaRPr>
                    </a:p>
                  </a:txBody>
                  <a:tcPr marT="91425" marB="91425" marR="91425" marL="91425">
                    <a:lnL cap="flat" cmpd="sng" w="19050">
                      <a:solidFill>
                        <a:srgbClr val="38761D"/>
                      </a:solidFill>
                      <a:prstDash val="dash"/>
                      <a:round/>
                      <a:headEnd len="sm" w="sm" type="none"/>
                      <a:tailEnd len="sm" w="sm" type="none"/>
                    </a:lnL>
                    <a:lnR cap="flat" cmpd="sng" w="19050">
                      <a:solidFill>
                        <a:srgbClr val="38761D"/>
                      </a:solidFill>
                      <a:prstDash val="dash"/>
                      <a:round/>
                      <a:headEnd len="sm" w="sm" type="none"/>
                      <a:tailEnd len="sm" w="sm" type="none"/>
                    </a:lnR>
                    <a:lnT cap="flat" cmpd="sng" w="19050">
                      <a:solidFill>
                        <a:srgbClr val="38761D"/>
                      </a:solidFill>
                      <a:prstDash val="dash"/>
                      <a:round/>
                      <a:headEnd len="sm" w="sm" type="none"/>
                      <a:tailEnd len="sm" w="sm" type="none"/>
                    </a:lnT>
                    <a:lnB cap="flat" cmpd="sng" w="19050">
                      <a:solidFill>
                        <a:srgbClr val="38761D"/>
                      </a:solidFill>
                      <a:prstDash val="dash"/>
                      <a:round/>
                      <a:headEnd len="sm" w="sm" type="none"/>
                      <a:tailEnd len="sm" w="sm" type="none"/>
                    </a:lnB>
                  </a:tcPr>
                </a:tc>
              </a:tr>
              <a:tr h="1055200">
                <a:tc>
                  <a:txBody>
                    <a:bodyPr/>
                    <a:lstStyle/>
                    <a:p>
                      <a:pPr indent="0" lvl="0" marL="0" rtl="0" algn="ctr">
                        <a:spcBef>
                          <a:spcPts val="0"/>
                        </a:spcBef>
                        <a:spcAft>
                          <a:spcPts val="0"/>
                        </a:spcAft>
                        <a:buNone/>
                      </a:pPr>
                      <a:r>
                        <a:rPr lang="es" sz="1300">
                          <a:latin typeface="Calibri"/>
                          <a:ea typeface="Calibri"/>
                          <a:cs typeface="Calibri"/>
                          <a:sym typeface="Calibri"/>
                        </a:rPr>
                        <a:t>Modelo visual en el que se pueden ordenar todas las ideas para definir cuál será nuestro modelo de negocio</a:t>
                      </a:r>
                      <a:endParaRPr sz="1300">
                        <a:latin typeface="Calibri"/>
                        <a:ea typeface="Calibri"/>
                        <a:cs typeface="Calibri"/>
                        <a:sym typeface="Calibri"/>
                      </a:endParaRPr>
                    </a:p>
                  </a:txBody>
                  <a:tcPr marT="91425" marB="91425" marR="91425" marL="91425">
                    <a:lnL cap="flat" cmpd="sng" w="19050">
                      <a:solidFill>
                        <a:srgbClr val="38761D"/>
                      </a:solidFill>
                      <a:prstDash val="dash"/>
                      <a:round/>
                      <a:headEnd len="sm" w="sm" type="none"/>
                      <a:tailEnd len="sm" w="sm" type="none"/>
                    </a:lnL>
                    <a:lnR cap="flat" cmpd="sng" w="19050">
                      <a:solidFill>
                        <a:srgbClr val="38761D"/>
                      </a:solidFill>
                      <a:prstDash val="dash"/>
                      <a:round/>
                      <a:headEnd len="sm" w="sm" type="none"/>
                      <a:tailEnd len="sm" w="sm" type="none"/>
                    </a:lnR>
                    <a:lnT cap="flat" cmpd="sng" w="19050">
                      <a:solidFill>
                        <a:srgbClr val="38761D"/>
                      </a:solidFill>
                      <a:prstDash val="dash"/>
                      <a:round/>
                      <a:headEnd len="sm" w="sm" type="none"/>
                      <a:tailEnd len="sm" w="sm" type="none"/>
                    </a:lnT>
                    <a:lnB cap="flat" cmpd="sng" w="19050">
                      <a:solidFill>
                        <a:srgbClr val="38761D"/>
                      </a:solidFill>
                      <a:prstDash val="dash"/>
                      <a:round/>
                      <a:headEnd len="sm" w="sm" type="none"/>
                      <a:tailEnd len="sm" w="sm" type="none"/>
                    </a:lnB>
                  </a:tcPr>
                </a:tc>
                <a:tc>
                  <a:txBody>
                    <a:bodyPr/>
                    <a:lstStyle/>
                    <a:p>
                      <a:pPr indent="0" lvl="0" marL="0" rtl="0" algn="ctr">
                        <a:spcBef>
                          <a:spcPts val="0"/>
                        </a:spcBef>
                        <a:spcAft>
                          <a:spcPts val="0"/>
                        </a:spcAft>
                        <a:buNone/>
                      </a:pPr>
                      <a:r>
                        <a:rPr lang="es" sz="1300">
                          <a:latin typeface="Calibri"/>
                          <a:ea typeface="Calibri"/>
                          <a:cs typeface="Calibri"/>
                          <a:sym typeface="Calibri"/>
                        </a:rPr>
                        <a:t>Eficiencia en la compra, almacenamiento, manejo, así como la distribución de los productos</a:t>
                      </a:r>
                      <a:endParaRPr sz="1300">
                        <a:latin typeface="Calibri"/>
                        <a:ea typeface="Calibri"/>
                        <a:cs typeface="Calibri"/>
                        <a:sym typeface="Calibri"/>
                      </a:endParaRPr>
                    </a:p>
                  </a:txBody>
                  <a:tcPr marT="91425" marB="91425" marR="91425" marL="91425">
                    <a:lnL cap="flat" cmpd="sng" w="19050">
                      <a:solidFill>
                        <a:srgbClr val="38761D"/>
                      </a:solidFill>
                      <a:prstDash val="dash"/>
                      <a:round/>
                      <a:headEnd len="sm" w="sm" type="none"/>
                      <a:tailEnd len="sm" w="sm" type="none"/>
                    </a:lnL>
                    <a:lnR cap="flat" cmpd="sng" w="19050">
                      <a:solidFill>
                        <a:srgbClr val="38761D"/>
                      </a:solidFill>
                      <a:prstDash val="dash"/>
                      <a:round/>
                      <a:headEnd len="sm" w="sm" type="none"/>
                      <a:tailEnd len="sm" w="sm" type="none"/>
                    </a:lnR>
                    <a:lnT cap="flat" cmpd="sng" w="19050">
                      <a:solidFill>
                        <a:srgbClr val="38761D"/>
                      </a:solidFill>
                      <a:prstDash val="dash"/>
                      <a:round/>
                      <a:headEnd len="sm" w="sm" type="none"/>
                      <a:tailEnd len="sm" w="sm" type="none"/>
                    </a:lnT>
                    <a:lnB cap="flat" cmpd="sng" w="19050">
                      <a:solidFill>
                        <a:srgbClr val="38761D"/>
                      </a:solidFill>
                      <a:prstDash val="dash"/>
                      <a:round/>
                      <a:headEnd len="sm" w="sm" type="none"/>
                      <a:tailEnd len="sm" w="sm" type="none"/>
                    </a:lnB>
                  </a:tcPr>
                </a:tc>
                <a:tc>
                  <a:txBody>
                    <a:bodyPr/>
                    <a:lstStyle/>
                    <a:p>
                      <a:pPr indent="0" lvl="0" marL="0" rtl="0" algn="ctr">
                        <a:lnSpc>
                          <a:spcPct val="115000"/>
                        </a:lnSpc>
                        <a:spcBef>
                          <a:spcPts val="0"/>
                        </a:spcBef>
                        <a:spcAft>
                          <a:spcPts val="1200"/>
                        </a:spcAft>
                        <a:buNone/>
                      </a:pPr>
                      <a:r>
                        <a:rPr lang="es" sz="1300">
                          <a:latin typeface="Calibri"/>
                          <a:ea typeface="Calibri"/>
                          <a:cs typeface="Calibri"/>
                          <a:sym typeface="Calibri"/>
                        </a:rPr>
                        <a:t>Analizar la inversión y la financiación inicial, los ingresos y los gastos, los estados previsionales y el análisis económico y financiero.</a:t>
                      </a:r>
                      <a:endParaRPr sz="1300">
                        <a:latin typeface="Calibri"/>
                        <a:ea typeface="Calibri"/>
                        <a:cs typeface="Calibri"/>
                        <a:sym typeface="Calibri"/>
                      </a:endParaRPr>
                    </a:p>
                  </a:txBody>
                  <a:tcPr marT="91425" marB="91425" marR="91425" marL="91425">
                    <a:lnL cap="flat" cmpd="sng" w="19050">
                      <a:solidFill>
                        <a:srgbClr val="38761D"/>
                      </a:solidFill>
                      <a:prstDash val="dash"/>
                      <a:round/>
                      <a:headEnd len="sm" w="sm" type="none"/>
                      <a:tailEnd len="sm" w="sm" type="none"/>
                    </a:lnL>
                    <a:lnR cap="flat" cmpd="sng" w="19050">
                      <a:solidFill>
                        <a:srgbClr val="38761D"/>
                      </a:solidFill>
                      <a:prstDash val="dash"/>
                      <a:round/>
                      <a:headEnd len="sm" w="sm" type="none"/>
                      <a:tailEnd len="sm" w="sm" type="none"/>
                    </a:lnR>
                    <a:lnT cap="flat" cmpd="sng" w="19050">
                      <a:solidFill>
                        <a:srgbClr val="38761D"/>
                      </a:solidFill>
                      <a:prstDash val="dash"/>
                      <a:round/>
                      <a:headEnd len="sm" w="sm" type="none"/>
                      <a:tailEnd len="sm" w="sm" type="none"/>
                    </a:lnT>
                    <a:lnB cap="flat" cmpd="sng" w="19050">
                      <a:solidFill>
                        <a:srgbClr val="38761D"/>
                      </a:solidFill>
                      <a:prstDash val="dash"/>
                      <a:round/>
                      <a:headEnd len="sm" w="sm" type="none"/>
                      <a:tailEnd len="sm" w="sm" type="none"/>
                    </a:lnB>
                  </a:tcPr>
                </a:tc>
              </a:tr>
            </a:tbl>
          </a:graphicData>
        </a:graphic>
      </p:graphicFrame>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438150" y="285750"/>
            <a:ext cx="3627300" cy="655800"/>
          </a:xfrm>
          <a:prstGeom prst="rect">
            <a:avLst/>
          </a:prstGeom>
          <a:noFill/>
          <a:ln>
            <a:noFill/>
          </a:ln>
        </p:spPr>
        <p:txBody>
          <a:bodyPr anchorCtr="0" anchor="t" bIns="22850" lIns="45725" spcFirstLastPara="1" rIns="45725" wrap="square" tIns="22850">
            <a:spAutoFit/>
          </a:bodyPr>
          <a:lstStyle/>
          <a:p>
            <a:pPr indent="0" lvl="0" marL="0" rtl="0" algn="l">
              <a:lnSpc>
                <a:spcPct val="90000"/>
              </a:lnSpc>
              <a:spcBef>
                <a:spcPts val="0"/>
              </a:spcBef>
              <a:spcAft>
                <a:spcPts val="0"/>
              </a:spcAft>
              <a:buNone/>
            </a:pPr>
            <a:r>
              <a:rPr lang="es">
                <a:solidFill>
                  <a:schemeClr val="accent1"/>
                </a:solidFill>
              </a:rPr>
              <a:t>Apartado 02</a:t>
            </a:r>
            <a:br>
              <a:rPr lang="es"/>
            </a:br>
            <a:r>
              <a:rPr lang="es">
                <a:solidFill>
                  <a:srgbClr val="00566C"/>
                </a:solidFill>
              </a:rPr>
              <a:t>ANÁLISIS DE MERCADO</a:t>
            </a:r>
            <a:endParaRPr/>
          </a:p>
        </p:txBody>
      </p:sp>
      <p:sp>
        <p:nvSpPr>
          <p:cNvPr id="138" name="Google Shape;138;p24"/>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sp>
        <p:nvSpPr>
          <p:cNvPr id="139" name="Google Shape;139;p24"/>
          <p:cNvSpPr txBox="1"/>
          <p:nvPr/>
        </p:nvSpPr>
        <p:spPr>
          <a:xfrm>
            <a:off x="290200" y="1051200"/>
            <a:ext cx="8530200" cy="348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s">
                <a:solidFill>
                  <a:schemeClr val="accent1"/>
                </a:solidFill>
                <a:latin typeface="Calibri"/>
                <a:ea typeface="Calibri"/>
                <a:cs typeface="Calibri"/>
                <a:sym typeface="Calibri"/>
              </a:rPr>
              <a:t>Mercado potencial</a:t>
            </a:r>
            <a:endParaRPr b="1">
              <a:solidFill>
                <a:schemeClr val="accent1"/>
              </a:solidFill>
              <a:latin typeface="Calibri"/>
              <a:ea typeface="Calibri"/>
              <a:cs typeface="Calibri"/>
              <a:sym typeface="Calibri"/>
            </a:endParaRPr>
          </a:p>
          <a:p>
            <a:pPr indent="0" lvl="0" marL="0" rtl="0" algn="l">
              <a:spcBef>
                <a:spcPts val="1200"/>
              </a:spcBef>
              <a:spcAft>
                <a:spcPts val="0"/>
              </a:spcAft>
              <a:buNone/>
            </a:pPr>
            <a:r>
              <a:t/>
            </a:r>
            <a:endParaRPr/>
          </a:p>
        </p:txBody>
      </p:sp>
      <p:sp>
        <p:nvSpPr>
          <p:cNvPr id="140" name="Google Shape;140;p24"/>
          <p:cNvSpPr/>
          <p:nvPr/>
        </p:nvSpPr>
        <p:spPr>
          <a:xfrm>
            <a:off x="271050" y="1484075"/>
            <a:ext cx="8530200" cy="172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4"/>
          <p:cNvSpPr txBox="1"/>
          <p:nvPr/>
        </p:nvSpPr>
        <p:spPr>
          <a:xfrm>
            <a:off x="411100" y="1573200"/>
            <a:ext cx="8307300" cy="1723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b="1" lang="es">
                <a:latin typeface="Calibri"/>
                <a:ea typeface="Calibri"/>
                <a:cs typeface="Calibri"/>
                <a:sym typeface="Calibri"/>
              </a:rPr>
              <a:t>Mercados de las procesadoras de pulpo. </a:t>
            </a:r>
            <a:r>
              <a:rPr lang="es">
                <a:latin typeface="Calibri"/>
                <a:ea typeface="Calibri"/>
                <a:cs typeface="Calibri"/>
                <a:sym typeface="Calibri"/>
              </a:rPr>
              <a:t>Algunos de sus principales mercados son:</a:t>
            </a:r>
            <a:br>
              <a:rPr lang="es">
                <a:latin typeface="Calibri"/>
                <a:ea typeface="Calibri"/>
                <a:cs typeface="Calibri"/>
                <a:sym typeface="Calibri"/>
              </a:rPr>
            </a:br>
            <a:r>
              <a:rPr lang="es">
                <a:latin typeface="Calibri"/>
                <a:ea typeface="Calibri"/>
                <a:cs typeface="Calibri"/>
                <a:sym typeface="Calibri"/>
              </a:rPr>
              <a:t>1. Restaurantes y hoteles</a:t>
            </a:r>
            <a:endParaRPr>
              <a:latin typeface="Calibri"/>
              <a:ea typeface="Calibri"/>
              <a:cs typeface="Calibri"/>
              <a:sym typeface="Calibri"/>
            </a:endParaRPr>
          </a:p>
          <a:p>
            <a:pPr indent="0" lvl="0" marL="0" rtl="0" algn="l">
              <a:lnSpc>
                <a:spcPct val="100000"/>
              </a:lnSpc>
              <a:spcBef>
                <a:spcPts val="1200"/>
              </a:spcBef>
              <a:spcAft>
                <a:spcPts val="0"/>
              </a:spcAft>
              <a:buNone/>
            </a:pPr>
            <a:r>
              <a:rPr lang="es">
                <a:latin typeface="Calibri"/>
                <a:ea typeface="Calibri"/>
                <a:cs typeface="Calibri"/>
                <a:sym typeface="Calibri"/>
              </a:rPr>
              <a:t>2. Supermercados y tiendas de alimentos</a:t>
            </a:r>
            <a:endParaRPr>
              <a:latin typeface="Calibri"/>
              <a:ea typeface="Calibri"/>
              <a:cs typeface="Calibri"/>
              <a:sym typeface="Calibri"/>
            </a:endParaRPr>
          </a:p>
          <a:p>
            <a:pPr indent="0" lvl="0" marL="0" rtl="0" algn="l">
              <a:lnSpc>
                <a:spcPct val="100000"/>
              </a:lnSpc>
              <a:spcBef>
                <a:spcPts val="1200"/>
              </a:spcBef>
              <a:spcAft>
                <a:spcPts val="0"/>
              </a:spcAft>
              <a:buNone/>
            </a:pPr>
            <a:r>
              <a:rPr lang="es">
                <a:latin typeface="Calibri"/>
                <a:ea typeface="Calibri"/>
                <a:cs typeface="Calibri"/>
                <a:sym typeface="Calibri"/>
              </a:rPr>
              <a:t>3. Industria alimentaria</a:t>
            </a:r>
            <a:endParaRPr>
              <a:latin typeface="Calibri"/>
              <a:ea typeface="Calibri"/>
              <a:cs typeface="Calibri"/>
              <a:sym typeface="Calibri"/>
            </a:endParaRPr>
          </a:p>
          <a:p>
            <a:pPr indent="0" lvl="0" marL="0" rtl="0" algn="l">
              <a:lnSpc>
                <a:spcPct val="100000"/>
              </a:lnSpc>
              <a:spcBef>
                <a:spcPts val="1200"/>
              </a:spcBef>
              <a:spcAft>
                <a:spcPts val="1200"/>
              </a:spcAft>
              <a:buNone/>
            </a:pPr>
            <a:r>
              <a:rPr lang="es">
                <a:latin typeface="Calibri"/>
                <a:ea typeface="Calibri"/>
                <a:cs typeface="Calibri"/>
                <a:sym typeface="Calibri"/>
              </a:rPr>
              <a:t>4. Mercados internacionales</a:t>
            </a:r>
            <a:endParaRPr>
              <a:latin typeface="Calibri"/>
              <a:ea typeface="Calibri"/>
              <a:cs typeface="Calibri"/>
              <a:sym typeface="Calibri"/>
            </a:endParaRPr>
          </a:p>
        </p:txBody>
      </p:sp>
      <p:sp>
        <p:nvSpPr>
          <p:cNvPr id="142" name="Google Shape;142;p24"/>
          <p:cNvSpPr txBox="1"/>
          <p:nvPr/>
        </p:nvSpPr>
        <p:spPr>
          <a:xfrm>
            <a:off x="290200" y="3357950"/>
            <a:ext cx="8428200" cy="1574700"/>
          </a:xfrm>
          <a:prstGeom prst="rect">
            <a:avLst/>
          </a:prstGeom>
          <a:noFill/>
          <a:ln cap="flat" cmpd="sng" w="19050">
            <a:solidFill>
              <a:srgbClr val="6AA84F"/>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chemeClr val="accent1"/>
                </a:solidFill>
                <a:latin typeface="Calibri"/>
                <a:ea typeface="Calibri"/>
                <a:cs typeface="Calibri"/>
                <a:sym typeface="Calibri"/>
              </a:rPr>
              <a:t>Público Objetivo: </a:t>
            </a:r>
            <a:r>
              <a:rPr b="1" lang="es">
                <a:latin typeface="Calibri"/>
                <a:ea typeface="Calibri"/>
                <a:cs typeface="Calibri"/>
                <a:sym typeface="Calibri"/>
              </a:rPr>
              <a:t>Dirigido a clientes que valoran la calidad, la comodidad y la sostenibilidad. </a:t>
            </a:r>
            <a:r>
              <a:rPr lang="es">
                <a:latin typeface="Calibri"/>
                <a:ea typeface="Calibri"/>
                <a:cs typeface="Calibri"/>
                <a:sym typeface="Calibri"/>
              </a:rPr>
              <a:t>Segmentación del público objetivo:</a:t>
            </a:r>
            <a:endParaRPr b="1">
              <a:latin typeface="Calibri"/>
              <a:ea typeface="Calibri"/>
              <a:cs typeface="Calibri"/>
              <a:sym typeface="Calibri"/>
            </a:endParaRPr>
          </a:p>
          <a:p>
            <a:pPr indent="-317500" lvl="0" marL="457200" rtl="0" algn="ctr">
              <a:lnSpc>
                <a:spcPct val="115000"/>
              </a:lnSpc>
              <a:spcBef>
                <a:spcPts val="0"/>
              </a:spcBef>
              <a:spcAft>
                <a:spcPts val="0"/>
              </a:spcAft>
              <a:buSzPts val="1400"/>
              <a:buFont typeface="Calibri"/>
              <a:buChar char="●"/>
            </a:pPr>
            <a:r>
              <a:rPr b="1" lang="es" u="sng">
                <a:latin typeface="Calibri"/>
                <a:ea typeface="Calibri"/>
                <a:cs typeface="Calibri"/>
                <a:sym typeface="Calibri"/>
              </a:rPr>
              <a:t>Perfil sociodemográfico:</a:t>
            </a:r>
            <a:r>
              <a:rPr lang="es">
                <a:latin typeface="Calibri"/>
                <a:ea typeface="Calibri"/>
                <a:cs typeface="Calibri"/>
                <a:sym typeface="Calibri"/>
              </a:rPr>
              <a:t> Personas adultas entre 30 y 60 años, con autonomía económica e interés por la gastronomía.</a:t>
            </a:r>
            <a:endParaRPr>
              <a:latin typeface="Calibri"/>
              <a:ea typeface="Calibri"/>
              <a:cs typeface="Calibri"/>
              <a:sym typeface="Calibri"/>
            </a:endParaRPr>
          </a:p>
          <a:p>
            <a:pPr indent="-317500" lvl="0" marL="457200" rtl="0" algn="ctr">
              <a:lnSpc>
                <a:spcPct val="115000"/>
              </a:lnSpc>
              <a:spcBef>
                <a:spcPts val="0"/>
              </a:spcBef>
              <a:spcAft>
                <a:spcPts val="0"/>
              </a:spcAft>
              <a:buSzPts val="1400"/>
              <a:buFont typeface="Calibri"/>
              <a:buChar char="●"/>
            </a:pPr>
            <a:r>
              <a:rPr b="1" lang="es" u="sng">
                <a:latin typeface="Calibri"/>
                <a:ea typeface="Calibri"/>
                <a:cs typeface="Calibri"/>
                <a:sym typeface="Calibri"/>
              </a:rPr>
              <a:t>Segmentación geográfica</a:t>
            </a:r>
            <a:r>
              <a:rPr lang="es">
                <a:latin typeface="Calibri"/>
                <a:ea typeface="Calibri"/>
                <a:cs typeface="Calibri"/>
                <a:sym typeface="Calibri"/>
              </a:rPr>
              <a:t>: Nacional e Internacional.</a:t>
            </a:r>
            <a:endParaRPr>
              <a:latin typeface="Calibri"/>
              <a:ea typeface="Calibri"/>
              <a:cs typeface="Calibri"/>
              <a:sym typeface="Calibri"/>
            </a:endParaRPr>
          </a:p>
          <a:p>
            <a:pPr indent="-317500" lvl="0" marL="457200" rtl="0" algn="ctr">
              <a:lnSpc>
                <a:spcPct val="115000"/>
              </a:lnSpc>
              <a:spcBef>
                <a:spcPts val="0"/>
              </a:spcBef>
              <a:spcAft>
                <a:spcPts val="0"/>
              </a:spcAft>
              <a:buSzPts val="1400"/>
              <a:buFont typeface="Calibri"/>
              <a:buChar char="●"/>
            </a:pPr>
            <a:r>
              <a:rPr b="1" lang="es" u="sng">
                <a:latin typeface="Calibri"/>
                <a:ea typeface="Calibri"/>
                <a:cs typeface="Calibri"/>
                <a:sym typeface="Calibri"/>
              </a:rPr>
              <a:t>Segmentación por canal</a:t>
            </a:r>
            <a:r>
              <a:rPr lang="es">
                <a:latin typeface="Calibri"/>
                <a:ea typeface="Calibri"/>
                <a:cs typeface="Calibri"/>
                <a:sym typeface="Calibri"/>
              </a:rPr>
              <a:t>: Canal HORECA, Canal digital y Retail especializado</a:t>
            </a:r>
            <a:endParaRPr>
              <a:latin typeface="Calibri"/>
              <a:ea typeface="Calibri"/>
              <a:cs typeface="Calibri"/>
              <a:sym typeface="Calibri"/>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438150" y="285750"/>
            <a:ext cx="3627300" cy="655800"/>
          </a:xfrm>
          <a:prstGeom prst="rect">
            <a:avLst/>
          </a:prstGeom>
          <a:noFill/>
          <a:ln>
            <a:noFill/>
          </a:ln>
        </p:spPr>
        <p:txBody>
          <a:bodyPr anchorCtr="0" anchor="t" bIns="22850" lIns="45725" spcFirstLastPara="1" rIns="45725" wrap="square" tIns="22850">
            <a:spAutoFit/>
          </a:bodyPr>
          <a:lstStyle/>
          <a:p>
            <a:pPr indent="0" lvl="0" marL="0" rtl="0" algn="l">
              <a:lnSpc>
                <a:spcPct val="90000"/>
              </a:lnSpc>
              <a:spcBef>
                <a:spcPts val="0"/>
              </a:spcBef>
              <a:spcAft>
                <a:spcPts val="0"/>
              </a:spcAft>
              <a:buNone/>
            </a:pPr>
            <a:r>
              <a:rPr lang="es">
                <a:solidFill>
                  <a:schemeClr val="accent1"/>
                </a:solidFill>
              </a:rPr>
              <a:t>Apartado 02</a:t>
            </a:r>
            <a:br>
              <a:rPr lang="es"/>
            </a:br>
            <a:r>
              <a:rPr lang="es">
                <a:solidFill>
                  <a:srgbClr val="00566C"/>
                </a:solidFill>
              </a:rPr>
              <a:t>ANÁLISIS DE MERCADO</a:t>
            </a:r>
            <a:endParaRPr/>
          </a:p>
        </p:txBody>
      </p:sp>
      <p:sp>
        <p:nvSpPr>
          <p:cNvPr id="148" name="Google Shape;148;p25"/>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sp>
        <p:nvSpPr>
          <p:cNvPr id="149" name="Google Shape;149;p25"/>
          <p:cNvSpPr/>
          <p:nvPr/>
        </p:nvSpPr>
        <p:spPr>
          <a:xfrm>
            <a:off x="259925" y="2424600"/>
            <a:ext cx="8518200" cy="1452900"/>
          </a:xfrm>
          <a:prstGeom prst="rect">
            <a:avLst/>
          </a:prstGeom>
          <a:solidFill>
            <a:srgbClr val="D9EAD3"/>
          </a:solidFill>
          <a:ln cap="flat" cmpd="sng" w="19050">
            <a:solidFill>
              <a:srgbClr val="000000"/>
            </a:solidFill>
            <a:prstDash val="dash"/>
            <a:round/>
            <a:headEnd len="sm" w="sm" type="none"/>
            <a:tailEnd len="sm" w="sm" type="none"/>
          </a:ln>
        </p:spPr>
        <p:txBody>
          <a:bodyPr anchorCtr="0" anchor="t" bIns="22850" lIns="45725" spcFirstLastPara="1" rIns="45725" wrap="square" tIns="22850">
            <a:noAutofit/>
          </a:bodyPr>
          <a:lstStyle/>
          <a:p>
            <a:pPr indent="-317500" lvl="0" marL="457200" rtl="0" algn="ctr">
              <a:lnSpc>
                <a:spcPct val="115000"/>
              </a:lnSpc>
              <a:spcBef>
                <a:spcPts val="0"/>
              </a:spcBef>
              <a:spcAft>
                <a:spcPts val="0"/>
              </a:spcAft>
              <a:buClr>
                <a:schemeClr val="dk1"/>
              </a:buClr>
              <a:buSzPts val="1400"/>
              <a:buFont typeface="Calibri"/>
              <a:buChar char="●"/>
            </a:pPr>
            <a:r>
              <a:rPr lang="es">
                <a:solidFill>
                  <a:schemeClr val="dk1"/>
                </a:solidFill>
                <a:latin typeface="Calibri"/>
                <a:ea typeface="Calibri"/>
                <a:cs typeface="Calibri"/>
                <a:sym typeface="Calibri"/>
              </a:rPr>
              <a:t> Más internacionales: Discefa, Pescanova y Frinsa.</a:t>
            </a:r>
            <a:endParaRPr>
              <a:solidFill>
                <a:schemeClr val="dk1"/>
              </a:solidFill>
              <a:latin typeface="Calibri"/>
              <a:ea typeface="Calibri"/>
              <a:cs typeface="Calibri"/>
              <a:sym typeface="Calibri"/>
            </a:endParaRPr>
          </a:p>
          <a:p>
            <a:pPr indent="-317500" lvl="0" marL="457200" rtl="0" algn="ctr">
              <a:lnSpc>
                <a:spcPct val="115000"/>
              </a:lnSpc>
              <a:spcBef>
                <a:spcPts val="0"/>
              </a:spcBef>
              <a:spcAft>
                <a:spcPts val="0"/>
              </a:spcAft>
              <a:buClr>
                <a:schemeClr val="dk1"/>
              </a:buClr>
              <a:buSzPts val="1400"/>
              <a:buFont typeface="Calibri"/>
              <a:buChar char="●"/>
            </a:pPr>
            <a:r>
              <a:rPr lang="es">
                <a:solidFill>
                  <a:schemeClr val="dk1"/>
                </a:solidFill>
                <a:latin typeface="Calibri"/>
                <a:ea typeface="Calibri"/>
                <a:cs typeface="Calibri"/>
                <a:sym typeface="Calibri"/>
              </a:rPr>
              <a:t> Más locales o nacionales: Pulponor, SoloPulpo, Galicia Marisco.</a:t>
            </a:r>
            <a:endParaRPr>
              <a:solidFill>
                <a:schemeClr val="dk1"/>
              </a:solidFill>
              <a:latin typeface="Calibri"/>
              <a:ea typeface="Calibri"/>
              <a:cs typeface="Calibri"/>
              <a:sym typeface="Calibri"/>
            </a:endParaRPr>
          </a:p>
          <a:p>
            <a:pPr indent="-317500" lvl="0" marL="457200" rtl="0" algn="ctr">
              <a:lnSpc>
                <a:spcPct val="115000"/>
              </a:lnSpc>
              <a:spcBef>
                <a:spcPts val="0"/>
              </a:spcBef>
              <a:spcAft>
                <a:spcPts val="0"/>
              </a:spcAft>
              <a:buClr>
                <a:schemeClr val="dk1"/>
              </a:buClr>
              <a:buSzPts val="1400"/>
              <a:buFont typeface="Calibri"/>
              <a:buChar char="●"/>
            </a:pPr>
            <a:r>
              <a:rPr lang="es">
                <a:solidFill>
                  <a:schemeClr val="dk1"/>
                </a:solidFill>
                <a:latin typeface="Calibri"/>
                <a:ea typeface="Calibri"/>
                <a:cs typeface="Calibri"/>
                <a:sym typeface="Calibri"/>
              </a:rPr>
              <a:t> Especialistas en pulpo gallego: Pulponor, SoloPulpo, Frigoríficos de Camariñas.</a:t>
            </a:r>
            <a:endParaRPr>
              <a:solidFill>
                <a:schemeClr val="dk1"/>
              </a:solidFill>
              <a:latin typeface="Calibri"/>
              <a:ea typeface="Calibri"/>
              <a:cs typeface="Calibri"/>
              <a:sym typeface="Calibri"/>
            </a:endParaRPr>
          </a:p>
          <a:p>
            <a:pPr indent="-317500" lvl="0" marL="457200" rtl="0" algn="ctr">
              <a:lnSpc>
                <a:spcPct val="115000"/>
              </a:lnSpc>
              <a:spcBef>
                <a:spcPts val="0"/>
              </a:spcBef>
              <a:spcAft>
                <a:spcPts val="0"/>
              </a:spcAft>
              <a:buClr>
                <a:schemeClr val="dk1"/>
              </a:buClr>
              <a:buSzPts val="1400"/>
              <a:buFont typeface="Calibri"/>
              <a:buChar char="●"/>
            </a:pPr>
            <a:r>
              <a:rPr lang="es">
                <a:solidFill>
                  <a:schemeClr val="dk1"/>
                </a:solidFill>
                <a:latin typeface="Calibri"/>
                <a:ea typeface="Calibri"/>
                <a:cs typeface="Calibri"/>
                <a:sym typeface="Calibri"/>
              </a:rPr>
              <a:t> Especialista en conservas: Frinsa (pulpo ya preparado, no congelado).</a:t>
            </a:r>
            <a:endParaRPr>
              <a:solidFill>
                <a:schemeClr val="dk1"/>
              </a:solidFill>
              <a:latin typeface="Calibri"/>
              <a:ea typeface="Calibri"/>
              <a:cs typeface="Calibri"/>
              <a:sym typeface="Calibri"/>
            </a:endParaRPr>
          </a:p>
          <a:p>
            <a:pPr indent="-317500" lvl="0" marL="457200" rtl="0" algn="ctr">
              <a:lnSpc>
                <a:spcPct val="115000"/>
              </a:lnSpc>
              <a:spcBef>
                <a:spcPts val="0"/>
              </a:spcBef>
              <a:spcAft>
                <a:spcPts val="0"/>
              </a:spcAft>
              <a:buClr>
                <a:schemeClr val="dk1"/>
              </a:buClr>
              <a:buSzPts val="1400"/>
              <a:buFont typeface="Calibri"/>
              <a:buChar char="●"/>
            </a:pPr>
            <a:r>
              <a:rPr lang="es">
                <a:solidFill>
                  <a:schemeClr val="dk1"/>
                </a:solidFill>
                <a:latin typeface="Calibri"/>
                <a:ea typeface="Calibri"/>
                <a:cs typeface="Calibri"/>
                <a:sym typeface="Calibri"/>
              </a:rPr>
              <a:t> Gigantes industriales: Discefa y Pescanova</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00">
              <a:solidFill>
                <a:schemeClr val="dk2"/>
              </a:solidFill>
              <a:latin typeface="Libre Franklin Medium"/>
              <a:ea typeface="Libre Franklin Medium"/>
              <a:cs typeface="Libre Franklin Medium"/>
              <a:sym typeface="Libre Franklin Medium"/>
            </a:endParaRPr>
          </a:p>
        </p:txBody>
      </p:sp>
      <p:graphicFrame>
        <p:nvGraphicFramePr>
          <p:cNvPr id="150" name="Google Shape;150;p25"/>
          <p:cNvGraphicFramePr/>
          <p:nvPr/>
        </p:nvGraphicFramePr>
        <p:xfrm>
          <a:off x="494175" y="1136500"/>
          <a:ext cx="3000000" cy="3000000"/>
        </p:xfrm>
        <a:graphic>
          <a:graphicData uri="http://schemas.openxmlformats.org/drawingml/2006/table">
            <a:tbl>
              <a:tblPr>
                <a:noFill/>
                <a:tableStyleId>{8ABBEE87-62AD-4EDD-BEDA-F695716BED0F}</a:tableStyleId>
              </a:tblPr>
              <a:tblGrid>
                <a:gridCol w="8028350"/>
              </a:tblGrid>
              <a:tr h="103375">
                <a:tc>
                  <a:txBody>
                    <a:bodyPr/>
                    <a:lstStyle/>
                    <a:p>
                      <a:pPr indent="0" lvl="0" marL="0" rtl="0" algn="ctr">
                        <a:spcBef>
                          <a:spcPts val="0"/>
                        </a:spcBef>
                        <a:spcAft>
                          <a:spcPts val="0"/>
                        </a:spcAft>
                        <a:buNone/>
                      </a:pPr>
                      <a:r>
                        <a:rPr b="1" lang="es">
                          <a:solidFill>
                            <a:schemeClr val="accent1"/>
                          </a:solidFill>
                          <a:latin typeface="Calibri"/>
                          <a:ea typeface="Calibri"/>
                          <a:cs typeface="Calibri"/>
                          <a:sym typeface="Calibri"/>
                        </a:rPr>
                        <a:t>Empresas Competidoras</a:t>
                      </a:r>
                      <a:endParaRPr b="1">
                        <a:solidFill>
                          <a:schemeClr val="accent1"/>
                        </a:solidFill>
                        <a:latin typeface="Calibri"/>
                        <a:ea typeface="Calibri"/>
                        <a:cs typeface="Calibri"/>
                        <a:sym typeface="Calibri"/>
                      </a:endParaRPr>
                    </a:p>
                  </a:txBody>
                  <a:tcPr marT="91425" marB="91425" marR="91425" marL="91425">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bl>
          </a:graphicData>
        </a:graphic>
      </p:graphicFrame>
      <p:sp>
        <p:nvSpPr>
          <p:cNvPr id="151" name="Google Shape;151;p25"/>
          <p:cNvSpPr/>
          <p:nvPr/>
        </p:nvSpPr>
        <p:spPr>
          <a:xfrm>
            <a:off x="3999200" y="1562700"/>
            <a:ext cx="738300" cy="831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438150" y="285750"/>
            <a:ext cx="5044500" cy="655800"/>
          </a:xfrm>
          <a:prstGeom prst="rect">
            <a:avLst/>
          </a:prstGeom>
          <a:noFill/>
          <a:ln>
            <a:noFill/>
          </a:ln>
        </p:spPr>
        <p:txBody>
          <a:bodyPr anchorCtr="0" anchor="t" bIns="22850" lIns="45725" spcFirstLastPara="1" rIns="45725" wrap="square" tIns="22850">
            <a:spAutoFit/>
          </a:bodyPr>
          <a:lstStyle/>
          <a:p>
            <a:pPr indent="0" lvl="0" marL="0" rtl="0" algn="l">
              <a:lnSpc>
                <a:spcPct val="90000"/>
              </a:lnSpc>
              <a:spcBef>
                <a:spcPts val="0"/>
              </a:spcBef>
              <a:spcAft>
                <a:spcPts val="0"/>
              </a:spcAft>
              <a:buNone/>
            </a:pPr>
            <a:r>
              <a:rPr lang="es">
                <a:solidFill>
                  <a:schemeClr val="accent1"/>
                </a:solidFill>
              </a:rPr>
              <a:t>Apartado 02</a:t>
            </a:r>
            <a:br>
              <a:rPr lang="es">
                <a:solidFill>
                  <a:schemeClr val="accent1"/>
                </a:solidFill>
              </a:rPr>
            </a:br>
            <a:r>
              <a:rPr lang="es">
                <a:solidFill>
                  <a:srgbClr val="00566C"/>
                </a:solidFill>
              </a:rPr>
              <a:t>ANÁLISIS DE MERCADO </a:t>
            </a:r>
            <a:r>
              <a:rPr lang="es"/>
              <a:t>- </a:t>
            </a:r>
            <a:r>
              <a:rPr lang="es">
                <a:solidFill>
                  <a:srgbClr val="00566C"/>
                </a:solidFill>
              </a:rPr>
              <a:t>DAFO</a:t>
            </a:r>
            <a:endParaRPr/>
          </a:p>
        </p:txBody>
      </p:sp>
      <p:grpSp>
        <p:nvGrpSpPr>
          <p:cNvPr id="157" name="Google Shape;157;p26"/>
          <p:cNvGrpSpPr/>
          <p:nvPr/>
        </p:nvGrpSpPr>
        <p:grpSpPr>
          <a:xfrm>
            <a:off x="686040" y="1128299"/>
            <a:ext cx="1846881" cy="3349625"/>
            <a:chOff x="1369272" y="3290036"/>
            <a:chExt cx="3694500" cy="6699251"/>
          </a:xfrm>
        </p:grpSpPr>
        <p:sp>
          <p:nvSpPr>
            <p:cNvPr id="158" name="Google Shape;158;p26"/>
            <p:cNvSpPr txBox="1"/>
            <p:nvPr/>
          </p:nvSpPr>
          <p:spPr>
            <a:xfrm>
              <a:off x="1369272" y="4104498"/>
              <a:ext cx="3694500" cy="6462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es" sz="1800">
                  <a:solidFill>
                    <a:schemeClr val="accent1"/>
                  </a:solidFill>
                  <a:latin typeface="Libre Franklin Medium"/>
                  <a:ea typeface="Libre Franklin Medium"/>
                  <a:cs typeface="Libre Franklin Medium"/>
                  <a:sym typeface="Libre Franklin Medium"/>
                </a:rPr>
                <a:t>FORTALEZAS</a:t>
              </a:r>
              <a:endParaRPr sz="700"/>
            </a:p>
          </p:txBody>
        </p:sp>
        <p:sp>
          <p:nvSpPr>
            <p:cNvPr id="159" name="Google Shape;159;p26"/>
            <p:cNvSpPr/>
            <p:nvPr/>
          </p:nvSpPr>
          <p:spPr>
            <a:xfrm>
              <a:off x="1369272" y="3290036"/>
              <a:ext cx="628506" cy="628506"/>
            </a:xfrm>
            <a:custGeom>
              <a:rect b="b" l="l" r="r" t="t"/>
              <a:pathLst>
                <a:path extrusionOk="0" h="176" w="176">
                  <a:moveTo>
                    <a:pt x="176" y="52"/>
                  </a:moveTo>
                  <a:cubicBezTo>
                    <a:pt x="176" y="51"/>
                    <a:pt x="176" y="50"/>
                    <a:pt x="175" y="50"/>
                  </a:cubicBezTo>
                  <a:cubicBezTo>
                    <a:pt x="175" y="50"/>
                    <a:pt x="175" y="50"/>
                    <a:pt x="175" y="50"/>
                  </a:cubicBezTo>
                  <a:cubicBezTo>
                    <a:pt x="175" y="49"/>
                    <a:pt x="175" y="49"/>
                    <a:pt x="175" y="49"/>
                  </a:cubicBezTo>
                  <a:cubicBezTo>
                    <a:pt x="175" y="49"/>
                    <a:pt x="175" y="49"/>
                    <a:pt x="175" y="49"/>
                  </a:cubicBezTo>
                  <a:cubicBezTo>
                    <a:pt x="127" y="2"/>
                    <a:pt x="127" y="2"/>
                    <a:pt x="127" y="2"/>
                  </a:cubicBezTo>
                  <a:cubicBezTo>
                    <a:pt x="127" y="2"/>
                    <a:pt x="127" y="2"/>
                    <a:pt x="127" y="2"/>
                  </a:cubicBezTo>
                  <a:cubicBezTo>
                    <a:pt x="126" y="1"/>
                    <a:pt x="125" y="0"/>
                    <a:pt x="124" y="0"/>
                  </a:cubicBezTo>
                  <a:cubicBezTo>
                    <a:pt x="52" y="0"/>
                    <a:pt x="52" y="0"/>
                    <a:pt x="52" y="0"/>
                  </a:cubicBezTo>
                  <a:cubicBezTo>
                    <a:pt x="51" y="0"/>
                    <a:pt x="50" y="1"/>
                    <a:pt x="49" y="2"/>
                  </a:cubicBezTo>
                  <a:cubicBezTo>
                    <a:pt x="49" y="2"/>
                    <a:pt x="49" y="2"/>
                    <a:pt x="49" y="2"/>
                  </a:cubicBezTo>
                  <a:cubicBezTo>
                    <a:pt x="1" y="49"/>
                    <a:pt x="1" y="49"/>
                    <a:pt x="1" y="49"/>
                  </a:cubicBezTo>
                  <a:cubicBezTo>
                    <a:pt x="1" y="49"/>
                    <a:pt x="1" y="49"/>
                    <a:pt x="1" y="49"/>
                  </a:cubicBezTo>
                  <a:cubicBezTo>
                    <a:pt x="1" y="50"/>
                    <a:pt x="1" y="50"/>
                    <a:pt x="1" y="50"/>
                  </a:cubicBezTo>
                  <a:cubicBezTo>
                    <a:pt x="1" y="50"/>
                    <a:pt x="1" y="50"/>
                    <a:pt x="1" y="50"/>
                  </a:cubicBezTo>
                  <a:cubicBezTo>
                    <a:pt x="0" y="50"/>
                    <a:pt x="0" y="51"/>
                    <a:pt x="0" y="52"/>
                  </a:cubicBezTo>
                  <a:cubicBezTo>
                    <a:pt x="0" y="53"/>
                    <a:pt x="0" y="54"/>
                    <a:pt x="1" y="54"/>
                  </a:cubicBezTo>
                  <a:cubicBezTo>
                    <a:pt x="1" y="55"/>
                    <a:pt x="1" y="55"/>
                    <a:pt x="1" y="55"/>
                  </a:cubicBezTo>
                  <a:cubicBezTo>
                    <a:pt x="85" y="175"/>
                    <a:pt x="85" y="175"/>
                    <a:pt x="85" y="175"/>
                  </a:cubicBezTo>
                  <a:cubicBezTo>
                    <a:pt x="85" y="174"/>
                    <a:pt x="85" y="174"/>
                    <a:pt x="85" y="174"/>
                  </a:cubicBezTo>
                  <a:cubicBezTo>
                    <a:pt x="86" y="175"/>
                    <a:pt x="87" y="176"/>
                    <a:pt x="88" y="176"/>
                  </a:cubicBezTo>
                  <a:cubicBezTo>
                    <a:pt x="89" y="176"/>
                    <a:pt x="90" y="175"/>
                    <a:pt x="91" y="174"/>
                  </a:cubicBezTo>
                  <a:cubicBezTo>
                    <a:pt x="91" y="175"/>
                    <a:pt x="91" y="175"/>
                    <a:pt x="91" y="175"/>
                  </a:cubicBezTo>
                  <a:cubicBezTo>
                    <a:pt x="175" y="55"/>
                    <a:pt x="175" y="55"/>
                    <a:pt x="175" y="55"/>
                  </a:cubicBezTo>
                  <a:cubicBezTo>
                    <a:pt x="175" y="54"/>
                    <a:pt x="175" y="54"/>
                    <a:pt x="175" y="54"/>
                  </a:cubicBezTo>
                  <a:cubicBezTo>
                    <a:pt x="176" y="54"/>
                    <a:pt x="176" y="53"/>
                    <a:pt x="176" y="52"/>
                  </a:cubicBezTo>
                  <a:moveTo>
                    <a:pt x="122" y="8"/>
                  </a:moveTo>
                  <a:cubicBezTo>
                    <a:pt x="162" y="48"/>
                    <a:pt x="162" y="48"/>
                    <a:pt x="162" y="48"/>
                  </a:cubicBezTo>
                  <a:cubicBezTo>
                    <a:pt x="126" y="48"/>
                    <a:pt x="126" y="48"/>
                    <a:pt x="126" y="48"/>
                  </a:cubicBezTo>
                  <a:cubicBezTo>
                    <a:pt x="106" y="8"/>
                    <a:pt x="106" y="8"/>
                    <a:pt x="106" y="8"/>
                  </a:cubicBezTo>
                  <a:lnTo>
                    <a:pt x="122" y="8"/>
                  </a:lnTo>
                  <a:close/>
                  <a:moveTo>
                    <a:pt x="98" y="8"/>
                  </a:moveTo>
                  <a:cubicBezTo>
                    <a:pt x="118" y="48"/>
                    <a:pt x="118" y="48"/>
                    <a:pt x="118" y="48"/>
                  </a:cubicBezTo>
                  <a:cubicBezTo>
                    <a:pt x="58" y="48"/>
                    <a:pt x="58" y="48"/>
                    <a:pt x="58" y="48"/>
                  </a:cubicBezTo>
                  <a:cubicBezTo>
                    <a:pt x="78" y="8"/>
                    <a:pt x="78" y="8"/>
                    <a:pt x="78" y="8"/>
                  </a:cubicBezTo>
                  <a:lnTo>
                    <a:pt x="98" y="8"/>
                  </a:lnTo>
                  <a:close/>
                  <a:moveTo>
                    <a:pt x="54" y="8"/>
                  </a:moveTo>
                  <a:cubicBezTo>
                    <a:pt x="70" y="8"/>
                    <a:pt x="70" y="8"/>
                    <a:pt x="70" y="8"/>
                  </a:cubicBezTo>
                  <a:cubicBezTo>
                    <a:pt x="50" y="48"/>
                    <a:pt x="50" y="48"/>
                    <a:pt x="50" y="48"/>
                  </a:cubicBezTo>
                  <a:cubicBezTo>
                    <a:pt x="14" y="48"/>
                    <a:pt x="14" y="48"/>
                    <a:pt x="14" y="48"/>
                  </a:cubicBezTo>
                  <a:lnTo>
                    <a:pt x="54" y="8"/>
                  </a:lnTo>
                  <a:close/>
                  <a:moveTo>
                    <a:pt x="12" y="56"/>
                  </a:moveTo>
                  <a:cubicBezTo>
                    <a:pt x="49" y="56"/>
                    <a:pt x="49" y="56"/>
                    <a:pt x="49" y="56"/>
                  </a:cubicBezTo>
                  <a:cubicBezTo>
                    <a:pt x="77" y="149"/>
                    <a:pt x="77" y="149"/>
                    <a:pt x="77" y="149"/>
                  </a:cubicBezTo>
                  <a:lnTo>
                    <a:pt x="12" y="56"/>
                  </a:lnTo>
                  <a:close/>
                  <a:moveTo>
                    <a:pt x="88" y="158"/>
                  </a:moveTo>
                  <a:cubicBezTo>
                    <a:pt x="57" y="56"/>
                    <a:pt x="57" y="56"/>
                    <a:pt x="57" y="56"/>
                  </a:cubicBezTo>
                  <a:cubicBezTo>
                    <a:pt x="119" y="56"/>
                    <a:pt x="119" y="56"/>
                    <a:pt x="119" y="56"/>
                  </a:cubicBezTo>
                  <a:lnTo>
                    <a:pt x="88" y="158"/>
                  </a:lnTo>
                  <a:close/>
                  <a:moveTo>
                    <a:pt x="99" y="149"/>
                  </a:moveTo>
                  <a:cubicBezTo>
                    <a:pt x="127" y="56"/>
                    <a:pt x="127" y="56"/>
                    <a:pt x="127" y="56"/>
                  </a:cubicBezTo>
                  <a:cubicBezTo>
                    <a:pt x="164" y="56"/>
                    <a:pt x="164" y="56"/>
                    <a:pt x="164" y="56"/>
                  </a:cubicBezTo>
                  <a:lnTo>
                    <a:pt x="99" y="149"/>
                  </a:lnTo>
                  <a:close/>
                </a:path>
              </a:pathLst>
            </a:custGeom>
            <a:solidFill>
              <a:schemeClr val="accent1"/>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1400">
                <a:solidFill>
                  <a:schemeClr val="dk1"/>
                </a:solidFill>
                <a:latin typeface="Libre Franklin"/>
                <a:ea typeface="Libre Franklin"/>
                <a:cs typeface="Libre Franklin"/>
                <a:sym typeface="Libre Franklin"/>
              </a:endParaRPr>
            </a:p>
          </p:txBody>
        </p:sp>
        <p:sp>
          <p:nvSpPr>
            <p:cNvPr id="160" name="Google Shape;160;p26"/>
            <p:cNvSpPr txBox="1"/>
            <p:nvPr/>
          </p:nvSpPr>
          <p:spPr>
            <a:xfrm>
              <a:off x="1369292" y="5094487"/>
              <a:ext cx="3583800" cy="4894800"/>
            </a:xfrm>
            <a:prstGeom prst="rect">
              <a:avLst/>
            </a:prstGeom>
            <a:noFill/>
            <a:ln>
              <a:noFill/>
            </a:ln>
          </p:spPr>
          <p:txBody>
            <a:bodyPr anchorCtr="0" anchor="t" bIns="22850" lIns="45725" spcFirstLastPara="1" rIns="45725" wrap="square" tIns="22850">
              <a:spAutoFit/>
            </a:bodyPr>
            <a:lstStyle/>
            <a:p>
              <a:pPr indent="-177800" lvl="0" marL="165100" marR="0" rtl="0" algn="l">
                <a:spcBef>
                  <a:spcPts val="0"/>
                </a:spcBef>
                <a:spcAft>
                  <a:spcPts val="0"/>
                </a:spcAft>
                <a:buClr>
                  <a:schemeClr val="dk1"/>
                </a:buClr>
                <a:buSzPts val="1200"/>
                <a:buFont typeface="Calibri"/>
                <a:buChar char="✔"/>
              </a:pPr>
              <a:r>
                <a:rPr lang="es" sz="1200">
                  <a:solidFill>
                    <a:schemeClr val="dk1"/>
                  </a:solidFill>
                  <a:latin typeface="Calibri"/>
                  <a:ea typeface="Calibri"/>
                  <a:cs typeface="Calibri"/>
                  <a:sym typeface="Calibri"/>
                </a:rPr>
                <a:t>Localización geográfica en los principales caladeros</a:t>
              </a:r>
              <a:endParaRPr sz="1200" u="none">
                <a:solidFill>
                  <a:schemeClr val="dk1"/>
                </a:solidFill>
                <a:latin typeface="Calibri"/>
                <a:ea typeface="Calibri"/>
                <a:cs typeface="Calibri"/>
                <a:sym typeface="Calibri"/>
              </a:endParaRPr>
            </a:p>
            <a:p>
              <a:pPr indent="-177800" lvl="0" marL="165100" marR="0" rtl="0" algn="l">
                <a:spcBef>
                  <a:spcPts val="0"/>
                </a:spcBef>
                <a:spcAft>
                  <a:spcPts val="0"/>
                </a:spcAft>
                <a:buClr>
                  <a:schemeClr val="dk1"/>
                </a:buClr>
                <a:buSzPts val="1200"/>
                <a:buFont typeface="Calibri"/>
                <a:buChar char="✔"/>
              </a:pPr>
              <a:r>
                <a:rPr lang="es" sz="1200">
                  <a:solidFill>
                    <a:schemeClr val="dk1"/>
                  </a:solidFill>
                  <a:latin typeface="Calibri"/>
                  <a:ea typeface="Calibri"/>
                  <a:cs typeface="Calibri"/>
                  <a:sym typeface="Calibri"/>
                </a:rPr>
                <a:t>Adecuada estrategia de diversificación geográfica de la fabricación</a:t>
              </a:r>
              <a:endParaRPr sz="1200" u="none">
                <a:solidFill>
                  <a:schemeClr val="dk1"/>
                </a:solidFill>
                <a:latin typeface="Calibri"/>
                <a:ea typeface="Calibri"/>
                <a:cs typeface="Calibri"/>
                <a:sym typeface="Calibri"/>
              </a:endParaRPr>
            </a:p>
            <a:p>
              <a:pPr indent="-177800" lvl="0" marL="165100" marR="0" rtl="0" algn="l">
                <a:spcBef>
                  <a:spcPts val="0"/>
                </a:spcBef>
                <a:spcAft>
                  <a:spcPts val="0"/>
                </a:spcAft>
                <a:buClr>
                  <a:schemeClr val="dk1"/>
                </a:buClr>
                <a:buSzPts val="1200"/>
                <a:buFont typeface="Calibri"/>
                <a:buChar char="✔"/>
              </a:pPr>
              <a:r>
                <a:rPr lang="es" sz="1200">
                  <a:solidFill>
                    <a:schemeClr val="dk1"/>
                  </a:solidFill>
                  <a:latin typeface="Calibri"/>
                  <a:ea typeface="Calibri"/>
                  <a:cs typeface="Calibri"/>
                  <a:sym typeface="Calibri"/>
                </a:rPr>
                <a:t>Adecuada posición en los mercados exteriores</a:t>
              </a:r>
              <a:endParaRPr sz="1200">
                <a:solidFill>
                  <a:schemeClr val="dk1"/>
                </a:solidFill>
                <a:latin typeface="Calibri"/>
                <a:ea typeface="Calibri"/>
                <a:cs typeface="Calibri"/>
                <a:sym typeface="Calibri"/>
              </a:endParaRPr>
            </a:p>
            <a:p>
              <a:pPr indent="-177800" lvl="0" marL="165100" marR="0" rtl="0" algn="l">
                <a:spcBef>
                  <a:spcPts val="0"/>
                </a:spcBef>
                <a:spcAft>
                  <a:spcPts val="0"/>
                </a:spcAft>
                <a:buClr>
                  <a:schemeClr val="dk1"/>
                </a:buClr>
                <a:buSzPts val="1200"/>
                <a:buFont typeface="Calibri"/>
                <a:buChar char="✔"/>
              </a:pPr>
              <a:r>
                <a:rPr lang="es" sz="1200">
                  <a:solidFill>
                    <a:schemeClr val="dk1"/>
                  </a:solidFill>
                  <a:latin typeface="Calibri"/>
                  <a:ea typeface="Calibri"/>
                  <a:cs typeface="Calibri"/>
                  <a:sym typeface="Calibri"/>
                </a:rPr>
                <a:t>Valor añadido y cumplimiento legal</a:t>
              </a:r>
              <a:endParaRPr sz="1200">
                <a:solidFill>
                  <a:schemeClr val="dk1"/>
                </a:solidFill>
                <a:latin typeface="Calibri"/>
                <a:ea typeface="Calibri"/>
                <a:cs typeface="Calibri"/>
                <a:sym typeface="Calibri"/>
              </a:endParaRPr>
            </a:p>
            <a:p>
              <a:pPr indent="-177800" lvl="0" marL="165100" marR="0" rtl="0" algn="l">
                <a:spcBef>
                  <a:spcPts val="0"/>
                </a:spcBef>
                <a:spcAft>
                  <a:spcPts val="0"/>
                </a:spcAft>
                <a:buClr>
                  <a:schemeClr val="dk1"/>
                </a:buClr>
                <a:buSzPts val="1200"/>
                <a:buFont typeface="Calibri"/>
                <a:buChar char="✔"/>
              </a:pPr>
              <a:r>
                <a:rPr lang="es" sz="1200">
                  <a:solidFill>
                    <a:schemeClr val="dk1"/>
                  </a:solidFill>
                  <a:latin typeface="Calibri"/>
                  <a:ea typeface="Calibri"/>
                  <a:cs typeface="Calibri"/>
                  <a:sym typeface="Calibri"/>
                </a:rPr>
                <a:t>Uso de artes de pesca artesanales y sostenibles</a:t>
              </a:r>
              <a:endParaRPr sz="1200">
                <a:solidFill>
                  <a:schemeClr val="dk1"/>
                </a:solidFill>
                <a:latin typeface="Calibri"/>
                <a:ea typeface="Calibri"/>
                <a:cs typeface="Calibri"/>
                <a:sym typeface="Calibri"/>
              </a:endParaRPr>
            </a:p>
          </p:txBody>
        </p:sp>
      </p:grpSp>
      <p:sp>
        <p:nvSpPr>
          <p:cNvPr id="161" name="Google Shape;161;p26"/>
          <p:cNvSpPr txBox="1"/>
          <p:nvPr/>
        </p:nvSpPr>
        <p:spPr>
          <a:xfrm>
            <a:off x="2678907" y="1511603"/>
            <a:ext cx="1820100" cy="3231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es" sz="1800">
                <a:solidFill>
                  <a:srgbClr val="00566C"/>
                </a:solidFill>
                <a:latin typeface="Libre Franklin Medium"/>
                <a:ea typeface="Libre Franklin Medium"/>
                <a:cs typeface="Libre Franklin Medium"/>
                <a:sym typeface="Libre Franklin Medium"/>
              </a:rPr>
              <a:t>DEBILIDADES</a:t>
            </a:r>
            <a:endParaRPr sz="700"/>
          </a:p>
        </p:txBody>
      </p:sp>
      <p:sp>
        <p:nvSpPr>
          <p:cNvPr id="162" name="Google Shape;162;p26"/>
          <p:cNvSpPr/>
          <p:nvPr/>
        </p:nvSpPr>
        <p:spPr>
          <a:xfrm>
            <a:off x="2678907" y="1123459"/>
            <a:ext cx="286543" cy="286544"/>
          </a:xfrm>
          <a:custGeom>
            <a:rect b="b" l="l" r="r" t="t"/>
            <a:pathLst>
              <a:path extrusionOk="0" h="176" w="176">
                <a:moveTo>
                  <a:pt x="176" y="52"/>
                </a:moveTo>
                <a:cubicBezTo>
                  <a:pt x="176" y="23"/>
                  <a:pt x="153" y="0"/>
                  <a:pt x="124" y="0"/>
                </a:cubicBezTo>
                <a:cubicBezTo>
                  <a:pt x="110" y="0"/>
                  <a:pt x="97" y="6"/>
                  <a:pt x="88" y="15"/>
                </a:cubicBezTo>
                <a:cubicBezTo>
                  <a:pt x="79" y="6"/>
                  <a:pt x="66" y="0"/>
                  <a:pt x="52" y="0"/>
                </a:cubicBezTo>
                <a:cubicBezTo>
                  <a:pt x="23" y="0"/>
                  <a:pt x="0" y="23"/>
                  <a:pt x="0" y="52"/>
                </a:cubicBezTo>
                <a:cubicBezTo>
                  <a:pt x="0" y="55"/>
                  <a:pt x="1" y="59"/>
                  <a:pt x="0" y="58"/>
                </a:cubicBezTo>
                <a:cubicBezTo>
                  <a:pt x="6" y="109"/>
                  <a:pt x="80" y="176"/>
                  <a:pt x="88" y="176"/>
                </a:cubicBezTo>
                <a:cubicBezTo>
                  <a:pt x="96" y="176"/>
                  <a:pt x="170" y="109"/>
                  <a:pt x="176" y="58"/>
                </a:cubicBezTo>
                <a:cubicBezTo>
                  <a:pt x="175" y="59"/>
                  <a:pt x="176" y="55"/>
                  <a:pt x="176" y="52"/>
                </a:cubicBezTo>
                <a:moveTo>
                  <a:pt x="168" y="57"/>
                </a:moveTo>
                <a:cubicBezTo>
                  <a:pt x="163" y="100"/>
                  <a:pt x="103" y="158"/>
                  <a:pt x="88" y="167"/>
                </a:cubicBezTo>
                <a:cubicBezTo>
                  <a:pt x="73" y="158"/>
                  <a:pt x="13" y="100"/>
                  <a:pt x="8" y="57"/>
                </a:cubicBezTo>
                <a:cubicBezTo>
                  <a:pt x="8" y="57"/>
                  <a:pt x="8" y="55"/>
                  <a:pt x="8" y="52"/>
                </a:cubicBezTo>
                <a:cubicBezTo>
                  <a:pt x="8" y="28"/>
                  <a:pt x="28" y="8"/>
                  <a:pt x="52" y="8"/>
                </a:cubicBezTo>
                <a:cubicBezTo>
                  <a:pt x="63" y="8"/>
                  <a:pt x="74" y="12"/>
                  <a:pt x="82" y="20"/>
                </a:cubicBezTo>
                <a:cubicBezTo>
                  <a:pt x="86" y="24"/>
                  <a:pt x="86" y="24"/>
                  <a:pt x="86" y="24"/>
                </a:cubicBezTo>
                <a:cubicBezTo>
                  <a:pt x="72" y="56"/>
                  <a:pt x="72" y="56"/>
                  <a:pt x="72" y="56"/>
                </a:cubicBezTo>
                <a:cubicBezTo>
                  <a:pt x="92" y="80"/>
                  <a:pt x="92" y="80"/>
                  <a:pt x="92" y="80"/>
                </a:cubicBezTo>
                <a:cubicBezTo>
                  <a:pt x="76" y="116"/>
                  <a:pt x="76" y="116"/>
                  <a:pt x="76" y="116"/>
                </a:cubicBezTo>
                <a:cubicBezTo>
                  <a:pt x="88" y="136"/>
                  <a:pt x="88" y="136"/>
                  <a:pt x="88" y="136"/>
                </a:cubicBezTo>
                <a:cubicBezTo>
                  <a:pt x="85" y="116"/>
                  <a:pt x="85" y="116"/>
                  <a:pt x="85" y="116"/>
                </a:cubicBezTo>
                <a:cubicBezTo>
                  <a:pt x="101" y="78"/>
                  <a:pt x="101" y="78"/>
                  <a:pt x="101" y="78"/>
                </a:cubicBezTo>
                <a:cubicBezTo>
                  <a:pt x="82" y="55"/>
                  <a:pt x="82" y="55"/>
                  <a:pt x="82" y="55"/>
                </a:cubicBezTo>
                <a:cubicBezTo>
                  <a:pt x="98" y="16"/>
                  <a:pt x="98" y="16"/>
                  <a:pt x="98" y="16"/>
                </a:cubicBezTo>
                <a:cubicBezTo>
                  <a:pt x="106" y="11"/>
                  <a:pt x="115" y="8"/>
                  <a:pt x="124" y="8"/>
                </a:cubicBezTo>
                <a:cubicBezTo>
                  <a:pt x="148" y="8"/>
                  <a:pt x="168" y="28"/>
                  <a:pt x="168" y="52"/>
                </a:cubicBezTo>
                <a:cubicBezTo>
                  <a:pt x="168" y="55"/>
                  <a:pt x="168" y="57"/>
                  <a:pt x="168" y="57"/>
                </a:cubicBezTo>
              </a:path>
            </a:pathLst>
          </a:custGeom>
          <a:solidFill>
            <a:schemeClr val="accent5"/>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1400">
              <a:solidFill>
                <a:schemeClr val="dk1"/>
              </a:solidFill>
              <a:latin typeface="Libre Franklin"/>
              <a:ea typeface="Libre Franklin"/>
              <a:cs typeface="Libre Franklin"/>
              <a:sym typeface="Libre Franklin"/>
            </a:endParaRPr>
          </a:p>
        </p:txBody>
      </p:sp>
      <p:sp>
        <p:nvSpPr>
          <p:cNvPr id="163" name="Google Shape;163;p26"/>
          <p:cNvSpPr txBox="1"/>
          <p:nvPr/>
        </p:nvSpPr>
        <p:spPr>
          <a:xfrm>
            <a:off x="2678907" y="2025953"/>
            <a:ext cx="1791600" cy="2632200"/>
          </a:xfrm>
          <a:prstGeom prst="rect">
            <a:avLst/>
          </a:prstGeom>
          <a:noFill/>
          <a:ln>
            <a:noFill/>
          </a:ln>
        </p:spPr>
        <p:txBody>
          <a:bodyPr anchorCtr="0" anchor="t" bIns="22850" lIns="45725" spcFirstLastPara="1" rIns="45725" wrap="square" tIns="22850">
            <a:spAutoFit/>
          </a:bodyPr>
          <a:lstStyle/>
          <a:p>
            <a:pPr indent="-177800" lvl="0" marL="165100" marR="0" rtl="0" algn="l">
              <a:spcBef>
                <a:spcPts val="0"/>
              </a:spcBef>
              <a:spcAft>
                <a:spcPts val="0"/>
              </a:spcAft>
              <a:buClr>
                <a:schemeClr val="dk1"/>
              </a:buClr>
              <a:buSzPts val="1200"/>
              <a:buFont typeface="Calibri"/>
              <a:buChar char="o"/>
            </a:pPr>
            <a:r>
              <a:rPr lang="es" sz="1200">
                <a:solidFill>
                  <a:schemeClr val="dk1"/>
                </a:solidFill>
                <a:latin typeface="Calibri"/>
                <a:ea typeface="Calibri"/>
                <a:cs typeface="Calibri"/>
                <a:sym typeface="Calibri"/>
              </a:rPr>
              <a:t>Dependencia de la estacionalidad de captura</a:t>
            </a:r>
            <a:endParaRPr sz="1200">
              <a:solidFill>
                <a:schemeClr val="dk1"/>
              </a:solidFill>
              <a:latin typeface="Calibri"/>
              <a:ea typeface="Calibri"/>
              <a:cs typeface="Calibri"/>
              <a:sym typeface="Calibri"/>
            </a:endParaRPr>
          </a:p>
          <a:p>
            <a:pPr indent="-101600" lvl="0" marL="165100" marR="0" rtl="0" algn="l">
              <a:spcBef>
                <a:spcPts val="0"/>
              </a:spcBef>
              <a:spcAft>
                <a:spcPts val="0"/>
              </a:spcAft>
              <a:buClr>
                <a:schemeClr val="dk1"/>
              </a:buClr>
              <a:buSzPts val="1000"/>
              <a:buFont typeface="Courier New"/>
              <a:buNone/>
            </a:pPr>
            <a:r>
              <a:t/>
            </a:r>
            <a:endParaRPr sz="1200" u="none">
              <a:solidFill>
                <a:schemeClr val="dk1"/>
              </a:solidFill>
              <a:latin typeface="Calibri"/>
              <a:ea typeface="Calibri"/>
              <a:cs typeface="Calibri"/>
              <a:sym typeface="Calibri"/>
            </a:endParaRPr>
          </a:p>
          <a:p>
            <a:pPr indent="-177800" lvl="0" marL="165100" marR="0" rtl="0" algn="l">
              <a:spcBef>
                <a:spcPts val="0"/>
              </a:spcBef>
              <a:spcAft>
                <a:spcPts val="0"/>
              </a:spcAft>
              <a:buClr>
                <a:schemeClr val="dk1"/>
              </a:buClr>
              <a:buSzPts val="1200"/>
              <a:buFont typeface="Calibri"/>
              <a:buChar char="o"/>
            </a:pPr>
            <a:r>
              <a:rPr lang="es" sz="1200">
                <a:solidFill>
                  <a:schemeClr val="dk1"/>
                </a:solidFill>
                <a:latin typeface="Calibri"/>
                <a:ea typeface="Calibri"/>
                <a:cs typeface="Calibri"/>
                <a:sym typeface="Calibri"/>
              </a:rPr>
              <a:t>Escasa diversificación de productos</a:t>
            </a:r>
            <a:endParaRPr sz="1200">
              <a:solidFill>
                <a:schemeClr val="dk1"/>
              </a:solidFill>
              <a:latin typeface="Calibri"/>
              <a:ea typeface="Calibri"/>
              <a:cs typeface="Calibri"/>
              <a:sym typeface="Calibri"/>
            </a:endParaRPr>
          </a:p>
          <a:p>
            <a:pPr indent="-101600" lvl="0" marL="165100" marR="0" rtl="0" algn="l">
              <a:spcBef>
                <a:spcPts val="0"/>
              </a:spcBef>
              <a:spcAft>
                <a:spcPts val="0"/>
              </a:spcAft>
              <a:buClr>
                <a:schemeClr val="dk1"/>
              </a:buClr>
              <a:buSzPts val="1000"/>
              <a:buFont typeface="Courier New"/>
              <a:buNone/>
            </a:pPr>
            <a:r>
              <a:t/>
            </a:r>
            <a:endParaRPr sz="1200" u="none">
              <a:solidFill>
                <a:schemeClr val="dk1"/>
              </a:solidFill>
              <a:latin typeface="Calibri"/>
              <a:ea typeface="Calibri"/>
              <a:cs typeface="Calibri"/>
              <a:sym typeface="Calibri"/>
            </a:endParaRPr>
          </a:p>
          <a:p>
            <a:pPr indent="-177800" lvl="0" marL="165100" marR="0" rtl="0" algn="l">
              <a:spcBef>
                <a:spcPts val="0"/>
              </a:spcBef>
              <a:spcAft>
                <a:spcPts val="0"/>
              </a:spcAft>
              <a:buClr>
                <a:schemeClr val="dk1"/>
              </a:buClr>
              <a:buSzPts val="1200"/>
              <a:buFont typeface="Calibri"/>
              <a:buChar char="o"/>
            </a:pPr>
            <a:r>
              <a:rPr lang="es" sz="1200">
                <a:solidFill>
                  <a:schemeClr val="dk1"/>
                </a:solidFill>
                <a:latin typeface="Calibri"/>
                <a:ea typeface="Calibri"/>
                <a:cs typeface="Calibri"/>
                <a:sym typeface="Calibri"/>
              </a:rPr>
              <a:t>Costes elevados de refrigeración y transporte</a:t>
            </a:r>
            <a:br>
              <a:rPr lang="e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177800" lvl="0" marL="165100" marR="0" rtl="0" algn="l">
              <a:spcBef>
                <a:spcPts val="0"/>
              </a:spcBef>
              <a:spcAft>
                <a:spcPts val="0"/>
              </a:spcAft>
              <a:buClr>
                <a:schemeClr val="dk1"/>
              </a:buClr>
              <a:buSzPts val="1200"/>
              <a:buFont typeface="Calibri"/>
              <a:buChar char="o"/>
            </a:pPr>
            <a:r>
              <a:rPr lang="es" sz="1200">
                <a:solidFill>
                  <a:schemeClr val="dk1"/>
                </a:solidFill>
                <a:latin typeface="Calibri"/>
                <a:ea typeface="Calibri"/>
                <a:cs typeface="Calibri"/>
                <a:sym typeface="Calibri"/>
              </a:rPr>
              <a:t>Baja digitalización o tecnología en procesos comerciales</a:t>
            </a:r>
            <a:endParaRPr sz="1200">
              <a:solidFill>
                <a:schemeClr val="dk1"/>
              </a:solidFill>
              <a:latin typeface="Calibri"/>
              <a:ea typeface="Calibri"/>
              <a:cs typeface="Calibri"/>
              <a:sym typeface="Calibri"/>
            </a:endParaRPr>
          </a:p>
        </p:txBody>
      </p:sp>
      <p:grpSp>
        <p:nvGrpSpPr>
          <p:cNvPr id="164" name="Google Shape;164;p26"/>
          <p:cNvGrpSpPr/>
          <p:nvPr/>
        </p:nvGrpSpPr>
        <p:grpSpPr>
          <a:xfrm>
            <a:off x="4576295" y="1153042"/>
            <a:ext cx="2198081" cy="2579989"/>
            <a:chOff x="9194237" y="3290036"/>
            <a:chExt cx="4394404" cy="5159977"/>
          </a:xfrm>
        </p:grpSpPr>
        <p:sp>
          <p:nvSpPr>
            <p:cNvPr id="165" name="Google Shape;165;p26"/>
            <p:cNvSpPr txBox="1"/>
            <p:nvPr/>
          </p:nvSpPr>
          <p:spPr>
            <a:xfrm>
              <a:off x="9194241" y="4019881"/>
              <a:ext cx="4394400" cy="6465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es" sz="1800">
                  <a:solidFill>
                    <a:schemeClr val="accent1"/>
                  </a:solidFill>
                  <a:latin typeface="Libre Franklin Medium"/>
                  <a:ea typeface="Libre Franklin Medium"/>
                  <a:cs typeface="Libre Franklin Medium"/>
                  <a:sym typeface="Libre Franklin Medium"/>
                </a:rPr>
                <a:t>OPORTUNIDADES</a:t>
              </a:r>
              <a:endParaRPr sz="700"/>
            </a:p>
          </p:txBody>
        </p:sp>
        <p:sp>
          <p:nvSpPr>
            <p:cNvPr id="166" name="Google Shape;166;p26"/>
            <p:cNvSpPr/>
            <p:nvPr/>
          </p:nvSpPr>
          <p:spPr>
            <a:xfrm>
              <a:off x="9194237" y="3290036"/>
              <a:ext cx="614728" cy="628384"/>
            </a:xfrm>
            <a:custGeom>
              <a:rect b="b" l="l" r="r" t="t"/>
              <a:pathLst>
                <a:path extrusionOk="0" h="176" w="176">
                  <a:moveTo>
                    <a:pt x="43" y="48"/>
                  </a:moveTo>
                  <a:cubicBezTo>
                    <a:pt x="44" y="50"/>
                    <a:pt x="47" y="50"/>
                    <a:pt x="48" y="48"/>
                  </a:cubicBezTo>
                  <a:cubicBezTo>
                    <a:pt x="50" y="47"/>
                    <a:pt x="50" y="44"/>
                    <a:pt x="48" y="43"/>
                  </a:cubicBezTo>
                  <a:cubicBezTo>
                    <a:pt x="31" y="26"/>
                    <a:pt x="31" y="26"/>
                    <a:pt x="31" y="26"/>
                  </a:cubicBezTo>
                  <a:cubicBezTo>
                    <a:pt x="30" y="24"/>
                    <a:pt x="27" y="24"/>
                    <a:pt x="26" y="26"/>
                  </a:cubicBezTo>
                  <a:cubicBezTo>
                    <a:pt x="24" y="27"/>
                    <a:pt x="24" y="30"/>
                    <a:pt x="26" y="31"/>
                  </a:cubicBezTo>
                  <a:lnTo>
                    <a:pt x="43" y="48"/>
                  </a:lnTo>
                  <a:close/>
                  <a:moveTo>
                    <a:pt x="32" y="88"/>
                  </a:moveTo>
                  <a:cubicBezTo>
                    <a:pt x="32" y="86"/>
                    <a:pt x="30" y="84"/>
                    <a:pt x="28" y="84"/>
                  </a:cubicBezTo>
                  <a:cubicBezTo>
                    <a:pt x="4" y="84"/>
                    <a:pt x="4" y="84"/>
                    <a:pt x="4" y="84"/>
                  </a:cubicBezTo>
                  <a:cubicBezTo>
                    <a:pt x="2" y="84"/>
                    <a:pt x="0" y="86"/>
                    <a:pt x="0" y="88"/>
                  </a:cubicBezTo>
                  <a:cubicBezTo>
                    <a:pt x="0" y="90"/>
                    <a:pt x="2" y="92"/>
                    <a:pt x="4" y="92"/>
                  </a:cubicBezTo>
                  <a:cubicBezTo>
                    <a:pt x="28" y="92"/>
                    <a:pt x="28" y="92"/>
                    <a:pt x="28" y="92"/>
                  </a:cubicBezTo>
                  <a:cubicBezTo>
                    <a:pt x="30" y="92"/>
                    <a:pt x="32" y="90"/>
                    <a:pt x="32" y="88"/>
                  </a:cubicBezTo>
                  <a:moveTo>
                    <a:pt x="88" y="32"/>
                  </a:moveTo>
                  <a:cubicBezTo>
                    <a:pt x="90" y="32"/>
                    <a:pt x="92" y="30"/>
                    <a:pt x="92" y="28"/>
                  </a:cubicBezTo>
                  <a:cubicBezTo>
                    <a:pt x="92" y="4"/>
                    <a:pt x="92" y="4"/>
                    <a:pt x="92" y="4"/>
                  </a:cubicBezTo>
                  <a:cubicBezTo>
                    <a:pt x="92" y="2"/>
                    <a:pt x="90" y="0"/>
                    <a:pt x="88" y="0"/>
                  </a:cubicBezTo>
                  <a:cubicBezTo>
                    <a:pt x="86" y="0"/>
                    <a:pt x="84" y="2"/>
                    <a:pt x="84" y="4"/>
                  </a:cubicBezTo>
                  <a:cubicBezTo>
                    <a:pt x="84" y="28"/>
                    <a:pt x="84" y="28"/>
                    <a:pt x="84" y="28"/>
                  </a:cubicBezTo>
                  <a:cubicBezTo>
                    <a:pt x="84" y="30"/>
                    <a:pt x="86" y="32"/>
                    <a:pt x="88" y="32"/>
                  </a:cubicBezTo>
                  <a:moveTo>
                    <a:pt x="133" y="48"/>
                  </a:moveTo>
                  <a:cubicBezTo>
                    <a:pt x="150" y="31"/>
                    <a:pt x="150" y="31"/>
                    <a:pt x="150" y="31"/>
                  </a:cubicBezTo>
                  <a:cubicBezTo>
                    <a:pt x="152" y="30"/>
                    <a:pt x="152" y="27"/>
                    <a:pt x="150" y="26"/>
                  </a:cubicBezTo>
                  <a:cubicBezTo>
                    <a:pt x="149" y="24"/>
                    <a:pt x="146" y="24"/>
                    <a:pt x="145" y="26"/>
                  </a:cubicBezTo>
                  <a:cubicBezTo>
                    <a:pt x="128" y="43"/>
                    <a:pt x="128" y="43"/>
                    <a:pt x="128" y="43"/>
                  </a:cubicBezTo>
                  <a:cubicBezTo>
                    <a:pt x="126" y="44"/>
                    <a:pt x="126" y="47"/>
                    <a:pt x="128" y="48"/>
                  </a:cubicBezTo>
                  <a:cubicBezTo>
                    <a:pt x="129" y="50"/>
                    <a:pt x="132" y="50"/>
                    <a:pt x="133" y="48"/>
                  </a:cubicBezTo>
                  <a:moveTo>
                    <a:pt x="43" y="128"/>
                  </a:moveTo>
                  <a:cubicBezTo>
                    <a:pt x="26" y="145"/>
                    <a:pt x="26" y="145"/>
                    <a:pt x="26" y="145"/>
                  </a:cubicBezTo>
                  <a:cubicBezTo>
                    <a:pt x="24" y="146"/>
                    <a:pt x="24" y="149"/>
                    <a:pt x="26" y="150"/>
                  </a:cubicBezTo>
                  <a:cubicBezTo>
                    <a:pt x="27" y="152"/>
                    <a:pt x="30" y="152"/>
                    <a:pt x="31" y="150"/>
                  </a:cubicBezTo>
                  <a:cubicBezTo>
                    <a:pt x="48" y="133"/>
                    <a:pt x="48" y="133"/>
                    <a:pt x="48" y="133"/>
                  </a:cubicBezTo>
                  <a:cubicBezTo>
                    <a:pt x="50" y="132"/>
                    <a:pt x="50" y="129"/>
                    <a:pt x="48" y="128"/>
                  </a:cubicBezTo>
                  <a:cubicBezTo>
                    <a:pt x="47" y="126"/>
                    <a:pt x="44" y="126"/>
                    <a:pt x="43" y="128"/>
                  </a:cubicBezTo>
                  <a:moveTo>
                    <a:pt x="172" y="84"/>
                  </a:moveTo>
                  <a:cubicBezTo>
                    <a:pt x="148" y="84"/>
                    <a:pt x="148" y="84"/>
                    <a:pt x="148" y="84"/>
                  </a:cubicBezTo>
                  <a:cubicBezTo>
                    <a:pt x="146" y="84"/>
                    <a:pt x="144" y="86"/>
                    <a:pt x="144" y="88"/>
                  </a:cubicBezTo>
                  <a:cubicBezTo>
                    <a:pt x="144" y="90"/>
                    <a:pt x="146" y="92"/>
                    <a:pt x="148" y="92"/>
                  </a:cubicBezTo>
                  <a:cubicBezTo>
                    <a:pt x="172" y="92"/>
                    <a:pt x="172" y="92"/>
                    <a:pt x="172" y="92"/>
                  </a:cubicBezTo>
                  <a:cubicBezTo>
                    <a:pt x="174" y="92"/>
                    <a:pt x="176" y="90"/>
                    <a:pt x="176" y="88"/>
                  </a:cubicBezTo>
                  <a:cubicBezTo>
                    <a:pt x="176" y="86"/>
                    <a:pt x="174" y="84"/>
                    <a:pt x="172" y="84"/>
                  </a:cubicBezTo>
                  <a:moveTo>
                    <a:pt x="133" y="128"/>
                  </a:moveTo>
                  <a:cubicBezTo>
                    <a:pt x="132" y="126"/>
                    <a:pt x="129" y="126"/>
                    <a:pt x="128" y="128"/>
                  </a:cubicBezTo>
                  <a:cubicBezTo>
                    <a:pt x="126" y="129"/>
                    <a:pt x="126" y="132"/>
                    <a:pt x="128" y="133"/>
                  </a:cubicBezTo>
                  <a:cubicBezTo>
                    <a:pt x="145" y="150"/>
                    <a:pt x="145" y="150"/>
                    <a:pt x="145" y="150"/>
                  </a:cubicBezTo>
                  <a:cubicBezTo>
                    <a:pt x="146" y="152"/>
                    <a:pt x="149" y="152"/>
                    <a:pt x="150" y="150"/>
                  </a:cubicBezTo>
                  <a:cubicBezTo>
                    <a:pt x="152" y="149"/>
                    <a:pt x="152" y="146"/>
                    <a:pt x="150" y="145"/>
                  </a:cubicBezTo>
                  <a:lnTo>
                    <a:pt x="133" y="128"/>
                  </a:lnTo>
                  <a:close/>
                  <a:moveTo>
                    <a:pt x="88" y="40"/>
                  </a:moveTo>
                  <a:cubicBezTo>
                    <a:pt x="61" y="40"/>
                    <a:pt x="40" y="61"/>
                    <a:pt x="40" y="88"/>
                  </a:cubicBezTo>
                  <a:cubicBezTo>
                    <a:pt x="40" y="115"/>
                    <a:pt x="61" y="136"/>
                    <a:pt x="88" y="136"/>
                  </a:cubicBezTo>
                  <a:cubicBezTo>
                    <a:pt x="115" y="136"/>
                    <a:pt x="136" y="115"/>
                    <a:pt x="136" y="88"/>
                  </a:cubicBezTo>
                  <a:cubicBezTo>
                    <a:pt x="136" y="61"/>
                    <a:pt x="115" y="40"/>
                    <a:pt x="88" y="40"/>
                  </a:cubicBezTo>
                  <a:moveTo>
                    <a:pt x="88" y="128"/>
                  </a:moveTo>
                  <a:cubicBezTo>
                    <a:pt x="66" y="128"/>
                    <a:pt x="48" y="110"/>
                    <a:pt x="48" y="88"/>
                  </a:cubicBezTo>
                  <a:cubicBezTo>
                    <a:pt x="48" y="66"/>
                    <a:pt x="66" y="48"/>
                    <a:pt x="88" y="48"/>
                  </a:cubicBezTo>
                  <a:cubicBezTo>
                    <a:pt x="110" y="48"/>
                    <a:pt x="128" y="66"/>
                    <a:pt x="128" y="88"/>
                  </a:cubicBezTo>
                  <a:cubicBezTo>
                    <a:pt x="128" y="110"/>
                    <a:pt x="110" y="128"/>
                    <a:pt x="88" y="128"/>
                  </a:cubicBezTo>
                  <a:moveTo>
                    <a:pt x="88" y="144"/>
                  </a:moveTo>
                  <a:cubicBezTo>
                    <a:pt x="86" y="144"/>
                    <a:pt x="84" y="146"/>
                    <a:pt x="84" y="148"/>
                  </a:cubicBezTo>
                  <a:cubicBezTo>
                    <a:pt x="84" y="172"/>
                    <a:pt x="84" y="172"/>
                    <a:pt x="84" y="172"/>
                  </a:cubicBezTo>
                  <a:cubicBezTo>
                    <a:pt x="84" y="174"/>
                    <a:pt x="86" y="176"/>
                    <a:pt x="88" y="176"/>
                  </a:cubicBezTo>
                  <a:cubicBezTo>
                    <a:pt x="90" y="176"/>
                    <a:pt x="92" y="174"/>
                    <a:pt x="92" y="172"/>
                  </a:cubicBezTo>
                  <a:cubicBezTo>
                    <a:pt x="92" y="148"/>
                    <a:pt x="92" y="148"/>
                    <a:pt x="92" y="148"/>
                  </a:cubicBezTo>
                  <a:cubicBezTo>
                    <a:pt x="92" y="146"/>
                    <a:pt x="90" y="144"/>
                    <a:pt x="88" y="144"/>
                  </a:cubicBezTo>
                </a:path>
              </a:pathLst>
            </a:custGeom>
            <a:solidFill>
              <a:schemeClr val="accent1"/>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1400">
                <a:solidFill>
                  <a:schemeClr val="dk1"/>
                </a:solidFill>
                <a:latin typeface="Libre Franklin"/>
                <a:ea typeface="Libre Franklin"/>
                <a:cs typeface="Libre Franklin"/>
                <a:sym typeface="Libre Franklin"/>
              </a:endParaRPr>
            </a:p>
          </p:txBody>
        </p:sp>
        <p:sp>
          <p:nvSpPr>
            <p:cNvPr id="167" name="Google Shape;167;p26"/>
            <p:cNvSpPr txBox="1"/>
            <p:nvPr/>
          </p:nvSpPr>
          <p:spPr>
            <a:xfrm>
              <a:off x="9194237" y="5094513"/>
              <a:ext cx="3583800" cy="3355500"/>
            </a:xfrm>
            <a:prstGeom prst="rect">
              <a:avLst/>
            </a:prstGeom>
            <a:noFill/>
            <a:ln>
              <a:noFill/>
            </a:ln>
          </p:spPr>
          <p:txBody>
            <a:bodyPr anchorCtr="0" anchor="t" bIns="22850" lIns="45725" spcFirstLastPara="1" rIns="45725" wrap="square" tIns="22850">
              <a:spAutoFit/>
            </a:bodyPr>
            <a:lstStyle/>
            <a:p>
              <a:pPr indent="-177800" lvl="0" marL="165100" marR="0" rtl="0" algn="l">
                <a:lnSpc>
                  <a:spcPct val="100000"/>
                </a:lnSpc>
                <a:spcBef>
                  <a:spcPts val="0"/>
                </a:spcBef>
                <a:spcAft>
                  <a:spcPts val="0"/>
                </a:spcAft>
                <a:buClr>
                  <a:schemeClr val="dk1"/>
                </a:buClr>
                <a:buSzPts val="1200"/>
                <a:buFont typeface="Calibri"/>
                <a:buChar char="o"/>
              </a:pPr>
              <a:r>
                <a:rPr lang="es" sz="1200">
                  <a:solidFill>
                    <a:schemeClr val="dk1"/>
                  </a:solidFill>
                  <a:latin typeface="Calibri"/>
                  <a:ea typeface="Calibri"/>
                  <a:cs typeface="Calibri"/>
                  <a:sym typeface="Calibri"/>
                </a:rPr>
                <a:t>Aumento de la demanda internacional</a:t>
              </a:r>
              <a:endParaRPr sz="12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200">
                <a:solidFill>
                  <a:schemeClr val="dk1"/>
                </a:solidFill>
                <a:latin typeface="Calibri"/>
                <a:ea typeface="Calibri"/>
                <a:cs typeface="Calibri"/>
                <a:sym typeface="Calibri"/>
              </a:endParaRPr>
            </a:p>
            <a:p>
              <a:pPr indent="-177800" lvl="0" marL="165100" marR="0" rtl="0" algn="l">
                <a:lnSpc>
                  <a:spcPct val="100000"/>
                </a:lnSpc>
                <a:spcBef>
                  <a:spcPts val="0"/>
                </a:spcBef>
                <a:spcAft>
                  <a:spcPts val="0"/>
                </a:spcAft>
                <a:buClr>
                  <a:schemeClr val="dk1"/>
                </a:buClr>
                <a:buSzPts val="1200"/>
                <a:buFont typeface="Calibri"/>
                <a:buChar char="o"/>
              </a:pPr>
              <a:r>
                <a:rPr lang="es" sz="1200">
                  <a:solidFill>
                    <a:schemeClr val="dk1"/>
                  </a:solidFill>
                  <a:latin typeface="Calibri"/>
                  <a:ea typeface="Calibri"/>
                  <a:cs typeface="Calibri"/>
                  <a:sym typeface="Calibri"/>
                </a:rPr>
                <a:t>Interés por productos naturales y saludables</a:t>
              </a:r>
              <a:endParaRPr sz="12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200">
                <a:solidFill>
                  <a:schemeClr val="dk1"/>
                </a:solidFill>
                <a:latin typeface="Calibri"/>
                <a:ea typeface="Calibri"/>
                <a:cs typeface="Calibri"/>
                <a:sym typeface="Calibri"/>
              </a:endParaRPr>
            </a:p>
            <a:p>
              <a:pPr indent="-177800" lvl="0" marL="165100" marR="0" rtl="0" algn="l">
                <a:lnSpc>
                  <a:spcPct val="100000"/>
                </a:lnSpc>
                <a:spcBef>
                  <a:spcPts val="0"/>
                </a:spcBef>
                <a:spcAft>
                  <a:spcPts val="0"/>
                </a:spcAft>
                <a:buClr>
                  <a:schemeClr val="dk1"/>
                </a:buClr>
                <a:buSzPts val="1200"/>
                <a:buFont typeface="Calibri"/>
                <a:buChar char="o"/>
              </a:pPr>
              <a:r>
                <a:rPr lang="es" sz="1200">
                  <a:solidFill>
                    <a:schemeClr val="dk1"/>
                  </a:solidFill>
                  <a:latin typeface="Calibri"/>
                  <a:ea typeface="Calibri"/>
                  <a:cs typeface="Calibri"/>
                  <a:sym typeface="Calibri"/>
                </a:rPr>
                <a:t>Acceso a subvenciones del sector pesquero</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00">
                <a:solidFill>
                  <a:schemeClr val="dk2"/>
                </a:solidFill>
                <a:latin typeface="Libre Franklin"/>
                <a:ea typeface="Libre Franklin"/>
                <a:cs typeface="Libre Franklin"/>
                <a:sym typeface="Libre Franklin"/>
              </a:endParaRPr>
            </a:p>
          </p:txBody>
        </p:sp>
      </p:grpSp>
      <p:sp>
        <p:nvSpPr>
          <p:cNvPr id="168" name="Google Shape;168;p26"/>
          <p:cNvSpPr txBox="1"/>
          <p:nvPr/>
        </p:nvSpPr>
        <p:spPr>
          <a:xfrm>
            <a:off x="6843032" y="1512235"/>
            <a:ext cx="1820100" cy="3231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es" sz="1800">
                <a:solidFill>
                  <a:srgbClr val="00566C"/>
                </a:solidFill>
                <a:latin typeface="Libre Franklin Medium"/>
                <a:ea typeface="Libre Franklin Medium"/>
                <a:cs typeface="Libre Franklin Medium"/>
                <a:sym typeface="Libre Franklin Medium"/>
              </a:rPr>
              <a:t>AMENAZAS</a:t>
            </a:r>
            <a:endParaRPr sz="700"/>
          </a:p>
        </p:txBody>
      </p:sp>
      <p:sp>
        <p:nvSpPr>
          <p:cNvPr id="169" name="Google Shape;169;p26"/>
          <p:cNvSpPr/>
          <p:nvPr/>
        </p:nvSpPr>
        <p:spPr>
          <a:xfrm>
            <a:off x="6911068" y="1152893"/>
            <a:ext cx="314325" cy="314325"/>
          </a:xfrm>
          <a:custGeom>
            <a:rect b="b" l="l" r="r" t="t"/>
            <a:pathLst>
              <a:path extrusionOk="0" h="176" w="176">
                <a:moveTo>
                  <a:pt x="96" y="124"/>
                </a:moveTo>
                <a:cubicBezTo>
                  <a:pt x="96" y="122"/>
                  <a:pt x="94" y="120"/>
                  <a:pt x="92" y="120"/>
                </a:cubicBezTo>
                <a:cubicBezTo>
                  <a:pt x="91" y="120"/>
                  <a:pt x="90" y="120"/>
                  <a:pt x="89" y="121"/>
                </a:cubicBezTo>
                <a:cubicBezTo>
                  <a:pt x="65" y="145"/>
                  <a:pt x="65" y="145"/>
                  <a:pt x="65" y="145"/>
                </a:cubicBezTo>
                <a:cubicBezTo>
                  <a:pt x="64" y="146"/>
                  <a:pt x="64" y="147"/>
                  <a:pt x="64" y="148"/>
                </a:cubicBezTo>
                <a:cubicBezTo>
                  <a:pt x="64" y="150"/>
                  <a:pt x="66" y="152"/>
                  <a:pt x="68" y="152"/>
                </a:cubicBezTo>
                <a:cubicBezTo>
                  <a:pt x="82" y="152"/>
                  <a:pt x="82" y="152"/>
                  <a:pt x="82" y="152"/>
                </a:cubicBezTo>
                <a:cubicBezTo>
                  <a:pt x="65" y="169"/>
                  <a:pt x="65" y="169"/>
                  <a:pt x="65" y="169"/>
                </a:cubicBezTo>
                <a:cubicBezTo>
                  <a:pt x="64" y="170"/>
                  <a:pt x="64" y="171"/>
                  <a:pt x="64" y="172"/>
                </a:cubicBezTo>
                <a:cubicBezTo>
                  <a:pt x="64" y="174"/>
                  <a:pt x="66" y="176"/>
                  <a:pt x="68" y="176"/>
                </a:cubicBezTo>
                <a:cubicBezTo>
                  <a:pt x="69" y="176"/>
                  <a:pt x="70" y="176"/>
                  <a:pt x="71" y="175"/>
                </a:cubicBezTo>
                <a:cubicBezTo>
                  <a:pt x="95" y="151"/>
                  <a:pt x="95" y="151"/>
                  <a:pt x="95" y="151"/>
                </a:cubicBezTo>
                <a:cubicBezTo>
                  <a:pt x="96" y="150"/>
                  <a:pt x="96" y="149"/>
                  <a:pt x="96" y="148"/>
                </a:cubicBezTo>
                <a:cubicBezTo>
                  <a:pt x="96" y="146"/>
                  <a:pt x="94" y="144"/>
                  <a:pt x="92" y="144"/>
                </a:cubicBezTo>
                <a:cubicBezTo>
                  <a:pt x="92" y="144"/>
                  <a:pt x="92" y="144"/>
                  <a:pt x="92" y="144"/>
                </a:cubicBezTo>
                <a:cubicBezTo>
                  <a:pt x="78" y="144"/>
                  <a:pt x="78" y="144"/>
                  <a:pt x="78" y="144"/>
                </a:cubicBezTo>
                <a:cubicBezTo>
                  <a:pt x="95" y="127"/>
                  <a:pt x="95" y="127"/>
                  <a:pt x="95" y="127"/>
                </a:cubicBezTo>
                <a:cubicBezTo>
                  <a:pt x="96" y="126"/>
                  <a:pt x="96" y="125"/>
                  <a:pt x="96" y="124"/>
                </a:cubicBezTo>
                <a:moveTo>
                  <a:pt x="52" y="128"/>
                </a:moveTo>
                <a:cubicBezTo>
                  <a:pt x="51" y="128"/>
                  <a:pt x="50" y="128"/>
                  <a:pt x="49" y="129"/>
                </a:cubicBezTo>
                <a:cubicBezTo>
                  <a:pt x="25" y="153"/>
                  <a:pt x="25" y="153"/>
                  <a:pt x="25" y="153"/>
                </a:cubicBezTo>
                <a:cubicBezTo>
                  <a:pt x="24" y="154"/>
                  <a:pt x="24" y="155"/>
                  <a:pt x="24" y="156"/>
                </a:cubicBezTo>
                <a:cubicBezTo>
                  <a:pt x="24" y="158"/>
                  <a:pt x="26" y="160"/>
                  <a:pt x="28" y="160"/>
                </a:cubicBezTo>
                <a:cubicBezTo>
                  <a:pt x="29" y="160"/>
                  <a:pt x="30" y="160"/>
                  <a:pt x="31" y="159"/>
                </a:cubicBezTo>
                <a:cubicBezTo>
                  <a:pt x="55" y="135"/>
                  <a:pt x="55" y="135"/>
                  <a:pt x="55" y="135"/>
                </a:cubicBezTo>
                <a:cubicBezTo>
                  <a:pt x="56" y="134"/>
                  <a:pt x="56" y="133"/>
                  <a:pt x="56" y="132"/>
                </a:cubicBezTo>
                <a:cubicBezTo>
                  <a:pt x="56" y="130"/>
                  <a:pt x="54" y="128"/>
                  <a:pt x="52" y="128"/>
                </a:cubicBezTo>
                <a:moveTo>
                  <a:pt x="152" y="41"/>
                </a:moveTo>
                <a:cubicBezTo>
                  <a:pt x="152" y="41"/>
                  <a:pt x="152" y="40"/>
                  <a:pt x="152" y="40"/>
                </a:cubicBezTo>
                <a:cubicBezTo>
                  <a:pt x="152" y="27"/>
                  <a:pt x="141" y="16"/>
                  <a:pt x="128" y="16"/>
                </a:cubicBezTo>
                <a:cubicBezTo>
                  <a:pt x="122" y="16"/>
                  <a:pt x="116" y="18"/>
                  <a:pt x="112" y="22"/>
                </a:cubicBezTo>
                <a:cubicBezTo>
                  <a:pt x="104" y="9"/>
                  <a:pt x="89" y="0"/>
                  <a:pt x="72" y="0"/>
                </a:cubicBezTo>
                <a:cubicBezTo>
                  <a:pt x="48" y="0"/>
                  <a:pt x="28" y="18"/>
                  <a:pt x="25" y="41"/>
                </a:cubicBezTo>
                <a:cubicBezTo>
                  <a:pt x="10" y="44"/>
                  <a:pt x="0" y="57"/>
                  <a:pt x="0" y="72"/>
                </a:cubicBezTo>
                <a:cubicBezTo>
                  <a:pt x="0" y="90"/>
                  <a:pt x="14" y="104"/>
                  <a:pt x="32" y="104"/>
                </a:cubicBezTo>
                <a:cubicBezTo>
                  <a:pt x="144" y="104"/>
                  <a:pt x="144" y="104"/>
                  <a:pt x="144" y="104"/>
                </a:cubicBezTo>
                <a:cubicBezTo>
                  <a:pt x="162" y="104"/>
                  <a:pt x="176" y="90"/>
                  <a:pt x="176" y="72"/>
                </a:cubicBezTo>
                <a:cubicBezTo>
                  <a:pt x="176" y="57"/>
                  <a:pt x="166" y="45"/>
                  <a:pt x="152" y="41"/>
                </a:cubicBezTo>
                <a:moveTo>
                  <a:pt x="144" y="96"/>
                </a:moveTo>
                <a:cubicBezTo>
                  <a:pt x="32" y="96"/>
                  <a:pt x="32" y="96"/>
                  <a:pt x="32" y="96"/>
                </a:cubicBezTo>
                <a:cubicBezTo>
                  <a:pt x="19" y="96"/>
                  <a:pt x="8" y="85"/>
                  <a:pt x="8" y="72"/>
                </a:cubicBezTo>
                <a:cubicBezTo>
                  <a:pt x="8" y="61"/>
                  <a:pt x="16" y="51"/>
                  <a:pt x="26" y="49"/>
                </a:cubicBezTo>
                <a:cubicBezTo>
                  <a:pt x="30" y="48"/>
                  <a:pt x="32" y="45"/>
                  <a:pt x="32" y="42"/>
                </a:cubicBezTo>
                <a:cubicBezTo>
                  <a:pt x="35" y="23"/>
                  <a:pt x="52" y="8"/>
                  <a:pt x="72" y="8"/>
                </a:cubicBezTo>
                <a:cubicBezTo>
                  <a:pt x="86" y="8"/>
                  <a:pt x="94" y="11"/>
                  <a:pt x="102" y="22"/>
                </a:cubicBezTo>
                <a:cubicBezTo>
                  <a:pt x="103" y="24"/>
                  <a:pt x="109" y="30"/>
                  <a:pt x="111" y="30"/>
                </a:cubicBezTo>
                <a:cubicBezTo>
                  <a:pt x="111" y="30"/>
                  <a:pt x="112" y="30"/>
                  <a:pt x="112" y="30"/>
                </a:cubicBezTo>
                <a:cubicBezTo>
                  <a:pt x="114" y="30"/>
                  <a:pt x="116" y="29"/>
                  <a:pt x="117" y="28"/>
                </a:cubicBezTo>
                <a:cubicBezTo>
                  <a:pt x="120" y="25"/>
                  <a:pt x="124" y="24"/>
                  <a:pt x="128" y="24"/>
                </a:cubicBezTo>
                <a:cubicBezTo>
                  <a:pt x="137" y="24"/>
                  <a:pt x="144" y="31"/>
                  <a:pt x="144" y="40"/>
                </a:cubicBezTo>
                <a:cubicBezTo>
                  <a:pt x="144" y="41"/>
                  <a:pt x="144" y="41"/>
                  <a:pt x="144" y="41"/>
                </a:cubicBezTo>
                <a:cubicBezTo>
                  <a:pt x="144" y="44"/>
                  <a:pt x="146" y="48"/>
                  <a:pt x="150" y="49"/>
                </a:cubicBezTo>
                <a:cubicBezTo>
                  <a:pt x="161" y="52"/>
                  <a:pt x="168" y="61"/>
                  <a:pt x="168" y="72"/>
                </a:cubicBezTo>
                <a:cubicBezTo>
                  <a:pt x="168" y="85"/>
                  <a:pt x="157" y="96"/>
                  <a:pt x="144" y="96"/>
                </a:cubicBezTo>
                <a:moveTo>
                  <a:pt x="136" y="128"/>
                </a:moveTo>
                <a:cubicBezTo>
                  <a:pt x="135" y="128"/>
                  <a:pt x="134" y="128"/>
                  <a:pt x="133" y="129"/>
                </a:cubicBezTo>
                <a:cubicBezTo>
                  <a:pt x="109" y="153"/>
                  <a:pt x="109" y="153"/>
                  <a:pt x="109" y="153"/>
                </a:cubicBezTo>
                <a:cubicBezTo>
                  <a:pt x="108" y="154"/>
                  <a:pt x="108" y="155"/>
                  <a:pt x="108" y="156"/>
                </a:cubicBezTo>
                <a:cubicBezTo>
                  <a:pt x="108" y="158"/>
                  <a:pt x="110" y="160"/>
                  <a:pt x="112" y="160"/>
                </a:cubicBezTo>
                <a:cubicBezTo>
                  <a:pt x="113" y="160"/>
                  <a:pt x="114" y="160"/>
                  <a:pt x="115" y="159"/>
                </a:cubicBezTo>
                <a:cubicBezTo>
                  <a:pt x="139" y="135"/>
                  <a:pt x="139" y="135"/>
                  <a:pt x="139" y="135"/>
                </a:cubicBezTo>
                <a:cubicBezTo>
                  <a:pt x="140" y="134"/>
                  <a:pt x="140" y="133"/>
                  <a:pt x="140" y="132"/>
                </a:cubicBezTo>
                <a:cubicBezTo>
                  <a:pt x="140" y="130"/>
                  <a:pt x="138" y="128"/>
                  <a:pt x="136" y="128"/>
                </a:cubicBezTo>
              </a:path>
            </a:pathLst>
          </a:custGeom>
          <a:solidFill>
            <a:schemeClr val="accent5"/>
          </a:solid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1400">
              <a:solidFill>
                <a:schemeClr val="dk1"/>
              </a:solidFill>
              <a:latin typeface="Libre Franklin"/>
              <a:ea typeface="Libre Franklin"/>
              <a:cs typeface="Libre Franklin"/>
              <a:sym typeface="Libre Franklin"/>
            </a:endParaRPr>
          </a:p>
        </p:txBody>
      </p:sp>
      <p:sp>
        <p:nvSpPr>
          <p:cNvPr id="170" name="Google Shape;170;p26"/>
          <p:cNvSpPr txBox="1"/>
          <p:nvPr/>
        </p:nvSpPr>
        <p:spPr>
          <a:xfrm>
            <a:off x="6856639" y="2046655"/>
            <a:ext cx="1792200" cy="2632200"/>
          </a:xfrm>
          <a:prstGeom prst="rect">
            <a:avLst/>
          </a:prstGeom>
          <a:noFill/>
          <a:ln>
            <a:noFill/>
          </a:ln>
        </p:spPr>
        <p:txBody>
          <a:bodyPr anchorCtr="0" anchor="t" bIns="22850" lIns="45725" spcFirstLastPara="1" rIns="45725" wrap="square" tIns="22850">
            <a:spAutoFit/>
          </a:bodyPr>
          <a:lstStyle/>
          <a:p>
            <a:pPr indent="-171450" lvl="0" marL="165100" marR="0" rtl="0" algn="l">
              <a:lnSpc>
                <a:spcPct val="100000"/>
              </a:lnSpc>
              <a:spcBef>
                <a:spcPts val="0"/>
              </a:spcBef>
              <a:spcAft>
                <a:spcPts val="0"/>
              </a:spcAft>
              <a:buClr>
                <a:schemeClr val="dk1"/>
              </a:buClr>
              <a:buSzPts val="1100"/>
              <a:buFont typeface="Calibri"/>
              <a:buChar char="o"/>
            </a:pPr>
            <a:r>
              <a:rPr lang="es" sz="1100">
                <a:solidFill>
                  <a:schemeClr val="dk1"/>
                </a:solidFill>
                <a:latin typeface="Calibri"/>
                <a:ea typeface="Calibri"/>
                <a:cs typeface="Calibri"/>
                <a:sym typeface="Calibri"/>
              </a:rPr>
              <a:t>R</a:t>
            </a:r>
            <a:r>
              <a:rPr lang="es" sz="1200">
                <a:solidFill>
                  <a:schemeClr val="dk1"/>
                </a:solidFill>
                <a:latin typeface="Calibri"/>
                <a:ea typeface="Calibri"/>
                <a:cs typeface="Calibri"/>
                <a:sym typeface="Calibri"/>
              </a:rPr>
              <a:t>estricciones legales y medioambientales (vedas, cuotas)</a:t>
            </a:r>
            <a:br>
              <a:rPr lang="e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177800" lvl="0" marL="165100" marR="0" rtl="0" algn="l">
              <a:lnSpc>
                <a:spcPct val="100000"/>
              </a:lnSpc>
              <a:spcBef>
                <a:spcPts val="0"/>
              </a:spcBef>
              <a:spcAft>
                <a:spcPts val="0"/>
              </a:spcAft>
              <a:buClr>
                <a:schemeClr val="dk1"/>
              </a:buClr>
              <a:buSzPts val="1200"/>
              <a:buFont typeface="Calibri"/>
              <a:buChar char="o"/>
            </a:pPr>
            <a:r>
              <a:rPr lang="es" sz="1200">
                <a:solidFill>
                  <a:schemeClr val="dk1"/>
                </a:solidFill>
                <a:latin typeface="Calibri"/>
                <a:ea typeface="Calibri"/>
                <a:cs typeface="Calibri"/>
                <a:sym typeface="Calibri"/>
              </a:rPr>
              <a:t>Fluctuación de precios del pulpo</a:t>
            </a:r>
            <a:br>
              <a:rPr lang="e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177800" lvl="0" marL="165100" marR="0" rtl="0" algn="l">
              <a:lnSpc>
                <a:spcPct val="100000"/>
              </a:lnSpc>
              <a:spcBef>
                <a:spcPts val="0"/>
              </a:spcBef>
              <a:spcAft>
                <a:spcPts val="0"/>
              </a:spcAft>
              <a:buClr>
                <a:schemeClr val="dk1"/>
              </a:buClr>
              <a:buSzPts val="1200"/>
              <a:buFont typeface="Calibri"/>
              <a:buChar char="o"/>
            </a:pPr>
            <a:r>
              <a:rPr lang="es" sz="1200">
                <a:solidFill>
                  <a:schemeClr val="dk1"/>
                </a:solidFill>
                <a:latin typeface="Calibri"/>
                <a:ea typeface="Calibri"/>
                <a:cs typeface="Calibri"/>
                <a:sym typeface="Calibri"/>
              </a:rPr>
              <a:t>Competencia internacional con costes más bajos</a:t>
            </a:r>
            <a:br>
              <a:rPr lang="e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177800" lvl="0" marL="165100" marR="0" rtl="0" algn="l">
              <a:lnSpc>
                <a:spcPct val="100000"/>
              </a:lnSpc>
              <a:spcBef>
                <a:spcPts val="0"/>
              </a:spcBef>
              <a:spcAft>
                <a:spcPts val="0"/>
              </a:spcAft>
              <a:buClr>
                <a:schemeClr val="dk1"/>
              </a:buClr>
              <a:buSzPts val="1200"/>
              <a:buFont typeface="Calibri"/>
              <a:buChar char="o"/>
            </a:pPr>
            <a:r>
              <a:rPr lang="es" sz="1200">
                <a:solidFill>
                  <a:schemeClr val="dk1"/>
                </a:solidFill>
                <a:latin typeface="Calibri"/>
                <a:ea typeface="Calibri"/>
                <a:cs typeface="Calibri"/>
                <a:sym typeface="Calibri"/>
              </a:rPr>
              <a:t>Cambios en normativas de exportación o sanitarias</a:t>
            </a:r>
            <a:endParaRPr sz="1200">
              <a:solidFill>
                <a:schemeClr val="dk1"/>
              </a:solidFill>
              <a:latin typeface="Calibri"/>
              <a:ea typeface="Calibri"/>
              <a:cs typeface="Calibri"/>
              <a:sym typeface="Calibri"/>
            </a:endParaRPr>
          </a:p>
        </p:txBody>
      </p:sp>
      <p:sp>
        <p:nvSpPr>
          <p:cNvPr id="171" name="Google Shape;171;p26"/>
          <p:cNvSpPr txBox="1"/>
          <p:nvPr/>
        </p:nvSpPr>
        <p:spPr>
          <a:xfrm>
            <a:off x="8458200" y="4536282"/>
            <a:ext cx="866775" cy="461963"/>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lang="es" sz="1400" u="non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lang="es" sz="1400" u="none">
                <a:solidFill>
                  <a:schemeClr val="accent2"/>
                </a:solidFill>
                <a:latin typeface="Libre Franklin Medium"/>
                <a:ea typeface="Libre Franklin Medium"/>
                <a:cs typeface="Libre Franklin Medium"/>
                <a:sym typeface="Libre Franklin Medium"/>
              </a:rPr>
              <a:t>0</a:t>
            </a:r>
            <a:fld id="{00000000-1234-1234-1234-123412341234}" type="slidenum">
              <a:rPr b="1" lang="es" sz="1400" u="none">
                <a:solidFill>
                  <a:schemeClr val="accent2"/>
                </a:solidFill>
                <a:latin typeface="Libre Franklin Medium"/>
                <a:ea typeface="Libre Franklin Medium"/>
                <a:cs typeface="Libre Franklin Medium"/>
                <a:sym typeface="Libre Franklin Medium"/>
              </a:rPr>
              <a:t>‹#›</a:t>
            </a:fld>
            <a:endParaRPr b="1" sz="1400" u="none">
              <a:solidFill>
                <a:schemeClr val="accent2"/>
              </a:solidFill>
              <a:latin typeface="Libre Franklin Medium"/>
              <a:ea typeface="Libre Franklin Medium"/>
              <a:cs typeface="Libre Franklin Medium"/>
              <a:sym typeface="Libre Franklin Medium"/>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506600" y="57281"/>
            <a:ext cx="2724300" cy="960600"/>
          </a:xfrm>
          <a:prstGeom prst="rect">
            <a:avLst/>
          </a:prstGeom>
        </p:spPr>
        <p:txBody>
          <a:bodyPr anchorCtr="0" anchor="t" bIns="22850" lIns="45725" spcFirstLastPara="1" rIns="45725" wrap="square" tIns="22850">
            <a:spAutoFit/>
          </a:bodyPr>
          <a:lstStyle/>
          <a:p>
            <a:pPr indent="0" lvl="0" marL="0" rtl="0" algn="l">
              <a:spcBef>
                <a:spcPts val="0"/>
              </a:spcBef>
              <a:spcAft>
                <a:spcPts val="0"/>
              </a:spcAft>
              <a:buNone/>
            </a:pPr>
            <a:r>
              <a:rPr lang="es">
                <a:solidFill>
                  <a:schemeClr val="accent1"/>
                </a:solidFill>
              </a:rPr>
              <a:t>Apartado 03</a:t>
            </a:r>
            <a:endParaRPr>
              <a:solidFill>
                <a:schemeClr val="accent5"/>
              </a:solidFill>
            </a:endParaRPr>
          </a:p>
          <a:p>
            <a:pPr indent="0" lvl="0" marL="0" rtl="0" algn="l">
              <a:spcBef>
                <a:spcPts val="0"/>
              </a:spcBef>
              <a:spcAft>
                <a:spcPts val="0"/>
              </a:spcAft>
              <a:buNone/>
            </a:pPr>
            <a:r>
              <a:rPr lang="es">
                <a:solidFill>
                  <a:schemeClr val="accent5"/>
                </a:solidFill>
              </a:rPr>
              <a:t>BUSINESS MODEL CANVAS</a:t>
            </a:r>
            <a:endParaRPr/>
          </a:p>
        </p:txBody>
      </p:sp>
      <p:sp>
        <p:nvSpPr>
          <p:cNvPr id="177" name="Google Shape;177;p27"/>
          <p:cNvSpPr txBox="1"/>
          <p:nvPr/>
        </p:nvSpPr>
        <p:spPr>
          <a:xfrm>
            <a:off x="5012650" y="144450"/>
            <a:ext cx="1746000" cy="369300"/>
          </a:xfrm>
          <a:prstGeom prst="rect">
            <a:avLst/>
          </a:prstGeom>
          <a:noFill/>
          <a:ln cap="flat" cmpd="sng" w="9525">
            <a:solidFill>
              <a:srgbClr val="18718E"/>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50000"/>
              </a:lnSpc>
              <a:spcBef>
                <a:spcPts val="1400"/>
              </a:spcBef>
              <a:spcAft>
                <a:spcPts val="400"/>
              </a:spcAft>
              <a:buNone/>
            </a:pPr>
            <a:r>
              <a:rPr b="1" lang="es" sz="1200">
                <a:latin typeface="Calibri"/>
                <a:ea typeface="Calibri"/>
                <a:cs typeface="Calibri"/>
                <a:sym typeface="Calibri"/>
              </a:rPr>
              <a:t>Propuesta de Valor</a:t>
            </a:r>
            <a:endParaRPr/>
          </a:p>
        </p:txBody>
      </p:sp>
      <p:sp>
        <p:nvSpPr>
          <p:cNvPr id="178" name="Google Shape;178;p27"/>
          <p:cNvSpPr txBox="1"/>
          <p:nvPr/>
        </p:nvSpPr>
        <p:spPr>
          <a:xfrm>
            <a:off x="3335950" y="666488"/>
            <a:ext cx="5099400" cy="661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O</a:t>
            </a:r>
            <a:r>
              <a:rPr lang="es" sz="1200">
                <a:latin typeface="Calibri"/>
                <a:ea typeface="Calibri"/>
                <a:cs typeface="Calibri"/>
                <a:sym typeface="Calibri"/>
              </a:rPr>
              <a:t>frece pulpo premium, fresco y congelado, con características distintivas que responden a las exigencias del consumidor moderno</a:t>
            </a:r>
            <a:endParaRPr/>
          </a:p>
        </p:txBody>
      </p:sp>
      <p:sp>
        <p:nvSpPr>
          <p:cNvPr id="179" name="Google Shape;179;p27"/>
          <p:cNvSpPr txBox="1"/>
          <p:nvPr/>
        </p:nvSpPr>
        <p:spPr>
          <a:xfrm>
            <a:off x="3335950" y="4400250"/>
            <a:ext cx="5172900" cy="646500"/>
          </a:xfrm>
          <a:prstGeom prst="rect">
            <a:avLst/>
          </a:prstGeom>
          <a:noFill/>
          <a:ln cap="flat" cmpd="sng" w="9525">
            <a:solidFill>
              <a:srgbClr val="A61C00"/>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0"/>
              </a:spcBef>
              <a:spcAft>
                <a:spcPts val="1000"/>
              </a:spcAft>
              <a:buNone/>
            </a:pPr>
            <a:r>
              <a:rPr lang="es" sz="1200">
                <a:latin typeface="Calibri"/>
                <a:ea typeface="Calibri"/>
                <a:cs typeface="Calibri"/>
                <a:sym typeface="Calibri"/>
              </a:rPr>
              <a:t>P</a:t>
            </a:r>
            <a:r>
              <a:rPr lang="es" sz="1200">
                <a:latin typeface="Calibri"/>
                <a:ea typeface="Calibri"/>
                <a:cs typeface="Calibri"/>
                <a:sym typeface="Calibri"/>
              </a:rPr>
              <a:t>romueve la pesca responsable, la reducción del desperdicio alimentario, el uso de materiales reciclables y la transparencia.</a:t>
            </a:r>
            <a:endParaRPr sz="1200">
              <a:latin typeface="Calibri"/>
              <a:ea typeface="Calibri"/>
              <a:cs typeface="Calibri"/>
              <a:sym typeface="Calibri"/>
            </a:endParaRPr>
          </a:p>
        </p:txBody>
      </p:sp>
      <p:cxnSp>
        <p:nvCxnSpPr>
          <p:cNvPr id="180" name="Google Shape;180;p27"/>
          <p:cNvCxnSpPr>
            <a:stCxn id="178" idx="0"/>
            <a:endCxn id="178" idx="0"/>
          </p:cNvCxnSpPr>
          <p:nvPr/>
        </p:nvCxnSpPr>
        <p:spPr>
          <a:xfrm>
            <a:off x="5885650" y="666488"/>
            <a:ext cx="0" cy="0"/>
          </a:xfrm>
          <a:prstGeom prst="straightConnector1">
            <a:avLst/>
          </a:prstGeom>
          <a:noFill/>
          <a:ln cap="flat" cmpd="sng" w="9525">
            <a:solidFill>
              <a:schemeClr val="dk2"/>
            </a:solidFill>
            <a:prstDash val="solid"/>
            <a:round/>
            <a:headEnd len="med" w="med" type="none"/>
            <a:tailEnd len="med" w="med" type="triangle"/>
          </a:ln>
        </p:spPr>
      </p:cxnSp>
      <p:sp>
        <p:nvSpPr>
          <p:cNvPr id="181" name="Google Shape;181;p27"/>
          <p:cNvSpPr txBox="1"/>
          <p:nvPr/>
        </p:nvSpPr>
        <p:spPr>
          <a:xfrm>
            <a:off x="264525" y="1503763"/>
            <a:ext cx="2116200" cy="369300"/>
          </a:xfrm>
          <a:prstGeom prst="rect">
            <a:avLst/>
          </a:prstGeom>
          <a:no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b="1" lang="es" sz="1200">
                <a:latin typeface="Calibri"/>
                <a:ea typeface="Calibri"/>
                <a:cs typeface="Calibri"/>
                <a:sym typeface="Calibri"/>
              </a:rPr>
              <a:t>T</a:t>
            </a:r>
            <a:r>
              <a:rPr b="1" lang="es" sz="1200">
                <a:latin typeface="Calibri"/>
                <a:ea typeface="Calibri"/>
                <a:cs typeface="Calibri"/>
                <a:sym typeface="Calibri"/>
              </a:rPr>
              <a:t>razabilidad garantizada</a:t>
            </a:r>
            <a:r>
              <a:rPr lang="es" sz="1200">
                <a:latin typeface="Calibri"/>
                <a:ea typeface="Calibri"/>
                <a:cs typeface="Calibri"/>
                <a:sym typeface="Calibri"/>
              </a:rPr>
              <a:t>:</a:t>
            </a:r>
            <a:endParaRPr/>
          </a:p>
        </p:txBody>
      </p:sp>
      <p:sp>
        <p:nvSpPr>
          <p:cNvPr id="182" name="Google Shape;182;p27"/>
          <p:cNvSpPr txBox="1"/>
          <p:nvPr/>
        </p:nvSpPr>
        <p:spPr>
          <a:xfrm>
            <a:off x="3335950" y="1480450"/>
            <a:ext cx="5172900" cy="369300"/>
          </a:xfrm>
          <a:prstGeom prst="rect">
            <a:avLst/>
          </a:prstGeom>
          <a:noFill/>
          <a:ln cap="flat" cmpd="sng" w="9525">
            <a:solidFill>
              <a:srgbClr val="F1C23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1200"/>
              </a:spcBef>
              <a:spcAft>
                <a:spcPts val="1200"/>
              </a:spcAft>
              <a:buNone/>
            </a:pPr>
            <a:r>
              <a:rPr lang="es" sz="1200">
                <a:latin typeface="Calibri"/>
                <a:ea typeface="Calibri"/>
                <a:cs typeface="Calibri"/>
                <a:sym typeface="Calibri"/>
              </a:rPr>
              <a:t>Utiliza </a:t>
            </a:r>
            <a:r>
              <a:rPr lang="es" sz="1200">
                <a:latin typeface="Calibri"/>
                <a:ea typeface="Calibri"/>
                <a:cs typeface="Calibri"/>
                <a:sym typeface="Calibri"/>
              </a:rPr>
              <a:t>digital (QR/NFC) que permite conocer el origen exacto del producto</a:t>
            </a:r>
            <a:endParaRPr sz="1200">
              <a:latin typeface="Calibri"/>
              <a:ea typeface="Calibri"/>
              <a:cs typeface="Calibri"/>
              <a:sym typeface="Calibri"/>
            </a:endParaRPr>
          </a:p>
        </p:txBody>
      </p:sp>
      <p:sp>
        <p:nvSpPr>
          <p:cNvPr id="183" name="Google Shape;183;p27"/>
          <p:cNvSpPr txBox="1"/>
          <p:nvPr/>
        </p:nvSpPr>
        <p:spPr>
          <a:xfrm>
            <a:off x="264525" y="2141100"/>
            <a:ext cx="2724300" cy="369300"/>
          </a:xfrm>
          <a:prstGeom prst="rect">
            <a:avLst/>
          </a:prstGeom>
          <a:noFill/>
          <a:ln cap="flat" cmpd="sng" w="9525">
            <a:solidFill>
              <a:srgbClr val="CC4125"/>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b="1" lang="es" sz="1200">
                <a:latin typeface="Calibri"/>
                <a:ea typeface="Calibri"/>
                <a:cs typeface="Calibri"/>
                <a:sym typeface="Calibri"/>
              </a:rPr>
              <a:t>Diferenciación en un mercado maduro</a:t>
            </a:r>
            <a:endParaRPr/>
          </a:p>
        </p:txBody>
      </p:sp>
      <p:sp>
        <p:nvSpPr>
          <p:cNvPr id="184" name="Google Shape;184;p27"/>
          <p:cNvSpPr txBox="1"/>
          <p:nvPr/>
        </p:nvSpPr>
        <p:spPr>
          <a:xfrm>
            <a:off x="3335950" y="2002500"/>
            <a:ext cx="5172900" cy="646500"/>
          </a:xfrm>
          <a:prstGeom prst="rect">
            <a:avLst/>
          </a:prstGeom>
          <a:noFill/>
          <a:ln cap="flat" cmpd="sng" w="9525">
            <a:solidFill>
              <a:srgbClr val="45818E"/>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Producto gourmet, sostenible que responde a las megatendencias de alimentación saludable.</a:t>
            </a:r>
            <a:endParaRPr/>
          </a:p>
        </p:txBody>
      </p:sp>
      <p:sp>
        <p:nvSpPr>
          <p:cNvPr id="185" name="Google Shape;185;p27"/>
          <p:cNvSpPr txBox="1"/>
          <p:nvPr/>
        </p:nvSpPr>
        <p:spPr>
          <a:xfrm>
            <a:off x="264525" y="2840000"/>
            <a:ext cx="2724300" cy="369300"/>
          </a:xfrm>
          <a:prstGeom prst="rect">
            <a:avLst/>
          </a:prstGeom>
          <a:no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b="1" lang="es" sz="1200">
                <a:latin typeface="Calibri"/>
                <a:ea typeface="Calibri"/>
                <a:cs typeface="Calibri"/>
                <a:sym typeface="Calibri"/>
              </a:rPr>
              <a:t>Facilidad para la internacionalización</a:t>
            </a:r>
            <a:r>
              <a:rPr lang="es" sz="1200">
                <a:latin typeface="Calibri"/>
                <a:ea typeface="Calibri"/>
                <a:cs typeface="Calibri"/>
                <a:sym typeface="Calibri"/>
              </a:rPr>
              <a:t> </a:t>
            </a:r>
            <a:endParaRPr/>
          </a:p>
        </p:txBody>
      </p:sp>
      <p:sp>
        <p:nvSpPr>
          <p:cNvPr id="186" name="Google Shape;186;p27"/>
          <p:cNvSpPr txBox="1"/>
          <p:nvPr/>
        </p:nvSpPr>
        <p:spPr>
          <a:xfrm>
            <a:off x="3335950" y="2801738"/>
            <a:ext cx="5172900" cy="646500"/>
          </a:xfrm>
          <a:prstGeom prst="rect">
            <a:avLst/>
          </a:prstGeom>
          <a:noFill/>
          <a:ln cap="flat" cmpd="sng" w="9525">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P</a:t>
            </a:r>
            <a:r>
              <a:rPr lang="es" sz="1200">
                <a:latin typeface="Calibri"/>
                <a:ea typeface="Calibri"/>
                <a:cs typeface="Calibri"/>
                <a:sym typeface="Calibri"/>
              </a:rPr>
              <a:t>osee una larga vida útil y calidad, superando barreras logísticas en mercados exteriores.</a:t>
            </a:r>
            <a:endParaRPr sz="1200">
              <a:latin typeface="Calibri"/>
              <a:ea typeface="Calibri"/>
              <a:cs typeface="Calibri"/>
              <a:sym typeface="Calibri"/>
            </a:endParaRPr>
          </a:p>
        </p:txBody>
      </p:sp>
      <p:sp>
        <p:nvSpPr>
          <p:cNvPr id="187" name="Google Shape;187;p27"/>
          <p:cNvSpPr txBox="1"/>
          <p:nvPr/>
        </p:nvSpPr>
        <p:spPr>
          <a:xfrm>
            <a:off x="264525" y="3633625"/>
            <a:ext cx="27243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b="1" lang="es" sz="1200">
                <a:latin typeface="Calibri"/>
                <a:ea typeface="Calibri"/>
                <a:cs typeface="Calibri"/>
                <a:sym typeface="Calibri"/>
              </a:rPr>
              <a:t>Viabilidad operativa y financiera</a:t>
            </a:r>
            <a:endParaRPr/>
          </a:p>
        </p:txBody>
      </p:sp>
      <p:sp>
        <p:nvSpPr>
          <p:cNvPr id="188" name="Google Shape;188;p27"/>
          <p:cNvSpPr txBox="1"/>
          <p:nvPr/>
        </p:nvSpPr>
        <p:spPr>
          <a:xfrm>
            <a:off x="3335950" y="3600988"/>
            <a:ext cx="5172900" cy="646500"/>
          </a:xfrm>
          <a:prstGeom prst="rect">
            <a:avLst/>
          </a:prstGeom>
          <a:noFill/>
          <a:ln cap="flat" cmpd="sng" w="9525">
            <a:solidFill>
              <a:srgbClr val="674EA7"/>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A</a:t>
            </a:r>
            <a:r>
              <a:rPr lang="es" sz="1200">
                <a:latin typeface="Calibri"/>
                <a:ea typeface="Calibri"/>
                <a:cs typeface="Calibri"/>
                <a:sym typeface="Calibri"/>
              </a:rPr>
              <a:t>lto valor añadido permite mantener márgenes atractivos sin una reestructuración drástica del modelo actual</a:t>
            </a:r>
            <a:endParaRPr sz="1200">
              <a:latin typeface="Calibri"/>
              <a:ea typeface="Calibri"/>
              <a:cs typeface="Calibri"/>
              <a:sym typeface="Calibri"/>
            </a:endParaRPr>
          </a:p>
        </p:txBody>
      </p:sp>
      <p:sp>
        <p:nvSpPr>
          <p:cNvPr id="189" name="Google Shape;189;p27"/>
          <p:cNvSpPr txBox="1"/>
          <p:nvPr/>
        </p:nvSpPr>
        <p:spPr>
          <a:xfrm>
            <a:off x="329650" y="4320525"/>
            <a:ext cx="2116200" cy="3693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0"/>
              </a:spcBef>
              <a:spcAft>
                <a:spcPts val="1000"/>
              </a:spcAft>
              <a:buNone/>
            </a:pPr>
            <a:r>
              <a:rPr b="1" lang="es" sz="1200">
                <a:latin typeface="Calibri"/>
                <a:ea typeface="Calibri"/>
                <a:cs typeface="Calibri"/>
                <a:sym typeface="Calibri"/>
              </a:rPr>
              <a:t>Compromiso con los ODS</a:t>
            </a:r>
            <a:r>
              <a:rPr lang="es" sz="1200">
                <a:latin typeface="Calibri"/>
                <a:ea typeface="Calibri"/>
                <a:cs typeface="Calibri"/>
                <a:sym typeface="Calibri"/>
              </a:rPr>
              <a:t> </a:t>
            </a:r>
            <a:endParaRPr/>
          </a:p>
        </p:txBody>
      </p:sp>
      <p:sp>
        <p:nvSpPr>
          <p:cNvPr id="190" name="Google Shape;190;p27"/>
          <p:cNvSpPr/>
          <p:nvPr/>
        </p:nvSpPr>
        <p:spPr>
          <a:xfrm>
            <a:off x="2733400" y="1572450"/>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7"/>
          <p:cNvSpPr/>
          <p:nvPr/>
        </p:nvSpPr>
        <p:spPr>
          <a:xfrm>
            <a:off x="3034733" y="2237562"/>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7"/>
          <p:cNvSpPr/>
          <p:nvPr/>
        </p:nvSpPr>
        <p:spPr>
          <a:xfrm>
            <a:off x="3052896" y="2964733"/>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7"/>
          <p:cNvSpPr/>
          <p:nvPr/>
        </p:nvSpPr>
        <p:spPr>
          <a:xfrm>
            <a:off x="3034738" y="3763069"/>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7"/>
          <p:cNvSpPr/>
          <p:nvPr/>
        </p:nvSpPr>
        <p:spPr>
          <a:xfrm>
            <a:off x="2975607" y="4592147"/>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7"/>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spTree>
  </p:cSld>
  <p:clrMapOvr>
    <a:masterClrMapping/>
  </p:clrMapOvr>
  <mc:AlternateContent>
    <mc:Choice Requires="p14">
      <p:transition spd="slow">
        <p14:flip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title"/>
          </p:nvPr>
        </p:nvSpPr>
        <p:spPr>
          <a:xfrm>
            <a:off x="438150" y="285706"/>
            <a:ext cx="2724300" cy="1265100"/>
          </a:xfrm>
          <a:prstGeom prst="rect">
            <a:avLst/>
          </a:prstGeom>
        </p:spPr>
        <p:txBody>
          <a:bodyPr anchorCtr="0" anchor="t" bIns="22850" lIns="45725" spcFirstLastPara="1" rIns="45725" wrap="square" tIns="22850">
            <a:spAutoFit/>
          </a:bodyPr>
          <a:lstStyle/>
          <a:p>
            <a:pPr indent="0" lvl="0" marL="0" rtl="0" algn="l">
              <a:spcBef>
                <a:spcPts val="0"/>
              </a:spcBef>
              <a:spcAft>
                <a:spcPts val="0"/>
              </a:spcAft>
              <a:buClr>
                <a:srgbClr val="000000"/>
              </a:buClr>
              <a:buFont typeface="Arial"/>
              <a:buNone/>
            </a:pPr>
            <a:r>
              <a:rPr lang="es">
                <a:solidFill>
                  <a:schemeClr val="accent1"/>
                </a:solidFill>
              </a:rPr>
              <a:t>Apartado 03</a:t>
            </a:r>
            <a:br>
              <a:rPr lang="es">
                <a:solidFill>
                  <a:schemeClr val="accent1"/>
                </a:solidFill>
              </a:rPr>
            </a:br>
            <a:r>
              <a:rPr lang="es">
                <a:solidFill>
                  <a:schemeClr val="accent5"/>
                </a:solidFill>
              </a:rPr>
              <a:t>BUSINESS MODEL CANVAS</a:t>
            </a:r>
            <a:endParaRPr>
              <a:solidFill>
                <a:schemeClr val="accent1"/>
              </a:solidFill>
            </a:endParaRPr>
          </a:p>
          <a:p>
            <a:pPr indent="0" lvl="0" marL="0" rtl="0" algn="l">
              <a:spcBef>
                <a:spcPts val="0"/>
              </a:spcBef>
              <a:spcAft>
                <a:spcPts val="0"/>
              </a:spcAft>
              <a:buNone/>
            </a:pPr>
            <a:r>
              <a:t/>
            </a:r>
            <a:endParaRPr/>
          </a:p>
        </p:txBody>
      </p:sp>
      <p:sp>
        <p:nvSpPr>
          <p:cNvPr id="201" name="Google Shape;201;p28"/>
          <p:cNvSpPr txBox="1"/>
          <p:nvPr/>
        </p:nvSpPr>
        <p:spPr>
          <a:xfrm>
            <a:off x="438150" y="1337300"/>
            <a:ext cx="2057400" cy="369300"/>
          </a:xfrm>
          <a:prstGeom prst="rect">
            <a:avLst/>
          </a:prstGeom>
          <a:no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s" sz="1200">
                <a:latin typeface="Calibri"/>
                <a:ea typeface="Calibri"/>
                <a:cs typeface="Calibri"/>
                <a:sym typeface="Calibri"/>
              </a:rPr>
              <a:t>Socios Clave (Key Partners)</a:t>
            </a:r>
            <a:endParaRPr/>
          </a:p>
        </p:txBody>
      </p:sp>
      <p:sp>
        <p:nvSpPr>
          <p:cNvPr id="202" name="Google Shape;202;p28"/>
          <p:cNvSpPr txBox="1"/>
          <p:nvPr/>
        </p:nvSpPr>
        <p:spPr>
          <a:xfrm>
            <a:off x="438150" y="1945275"/>
            <a:ext cx="3000000" cy="646500"/>
          </a:xfrm>
          <a:prstGeom prst="rect">
            <a:avLst/>
          </a:prstGeom>
          <a:noFill/>
          <a:ln cap="flat" cmpd="sng" w="9525">
            <a:solidFill>
              <a:srgbClr val="CC4125"/>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Cooperativas pesqueras locales y asociaciones del sector marino</a:t>
            </a:r>
            <a:endParaRPr/>
          </a:p>
        </p:txBody>
      </p:sp>
      <p:sp>
        <p:nvSpPr>
          <p:cNvPr id="203" name="Google Shape;203;p28"/>
          <p:cNvSpPr txBox="1"/>
          <p:nvPr/>
        </p:nvSpPr>
        <p:spPr>
          <a:xfrm>
            <a:off x="438150" y="2741588"/>
            <a:ext cx="3000000" cy="369300"/>
          </a:xfrm>
          <a:prstGeom prst="rect">
            <a:avLst/>
          </a:prstGeom>
          <a:noFill/>
          <a:ln cap="flat" cmpd="sng" w="9525">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Empresas de transporte refrigerado</a:t>
            </a:r>
            <a:endParaRPr/>
          </a:p>
        </p:txBody>
      </p:sp>
      <p:sp>
        <p:nvSpPr>
          <p:cNvPr id="204" name="Google Shape;204;p28"/>
          <p:cNvSpPr txBox="1"/>
          <p:nvPr/>
        </p:nvSpPr>
        <p:spPr>
          <a:xfrm>
            <a:off x="438150" y="3260725"/>
            <a:ext cx="3000000" cy="6465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Agencias de marketing especializadas en gourmet y alimentos del mar</a:t>
            </a:r>
            <a:endParaRPr/>
          </a:p>
        </p:txBody>
      </p:sp>
      <p:sp>
        <p:nvSpPr>
          <p:cNvPr id="205" name="Google Shape;205;p28"/>
          <p:cNvSpPr txBox="1"/>
          <p:nvPr/>
        </p:nvSpPr>
        <p:spPr>
          <a:xfrm>
            <a:off x="438150" y="4057050"/>
            <a:ext cx="3000000" cy="646500"/>
          </a:xfrm>
          <a:prstGeom prst="rect">
            <a:avLst/>
          </a:prstGeom>
          <a:noFill/>
          <a:ln cap="flat" cmpd="sng" w="9525">
            <a:solidFill>
              <a:srgbClr val="45818E"/>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Entidades certificadoras (MSC, HACCP, ISO) Brc.</a:t>
            </a:r>
            <a:endParaRPr/>
          </a:p>
        </p:txBody>
      </p:sp>
      <p:cxnSp>
        <p:nvCxnSpPr>
          <p:cNvPr id="206" name="Google Shape;206;p28"/>
          <p:cNvCxnSpPr>
            <a:stCxn id="201" idx="1"/>
            <a:endCxn id="202" idx="1"/>
          </p:cNvCxnSpPr>
          <p:nvPr/>
        </p:nvCxnSpPr>
        <p:spPr>
          <a:xfrm>
            <a:off x="438150" y="1521950"/>
            <a:ext cx="600" cy="7467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207" name="Google Shape;207;p28"/>
          <p:cNvCxnSpPr/>
          <p:nvPr/>
        </p:nvCxnSpPr>
        <p:spPr>
          <a:xfrm>
            <a:off x="438150" y="2268650"/>
            <a:ext cx="600" cy="7467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208" name="Google Shape;208;p28"/>
          <p:cNvCxnSpPr/>
          <p:nvPr/>
        </p:nvCxnSpPr>
        <p:spPr>
          <a:xfrm>
            <a:off x="438150" y="2986238"/>
            <a:ext cx="600" cy="7467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209" name="Google Shape;209;p28"/>
          <p:cNvCxnSpPr/>
          <p:nvPr/>
        </p:nvCxnSpPr>
        <p:spPr>
          <a:xfrm>
            <a:off x="438150" y="3732950"/>
            <a:ext cx="600" cy="746700"/>
          </a:xfrm>
          <a:prstGeom prst="bentConnector3">
            <a:avLst>
              <a:gd fmla="val -39687500" name="adj1"/>
            </a:avLst>
          </a:prstGeom>
          <a:noFill/>
          <a:ln cap="flat" cmpd="sng" w="9525">
            <a:solidFill>
              <a:schemeClr val="dk2"/>
            </a:solidFill>
            <a:prstDash val="solid"/>
            <a:round/>
            <a:headEnd len="med" w="med" type="none"/>
            <a:tailEnd len="med" w="med" type="none"/>
          </a:ln>
        </p:spPr>
      </p:cxnSp>
      <p:sp>
        <p:nvSpPr>
          <p:cNvPr id="210" name="Google Shape;210;p28"/>
          <p:cNvSpPr txBox="1"/>
          <p:nvPr/>
        </p:nvSpPr>
        <p:spPr>
          <a:xfrm>
            <a:off x="4230175" y="139325"/>
            <a:ext cx="2314800" cy="369300"/>
          </a:xfrm>
          <a:prstGeom prst="rect">
            <a:avLst/>
          </a:prstGeom>
          <a:noFill/>
          <a:ln cap="flat" cmpd="sng" w="9525">
            <a:solidFill>
              <a:srgbClr val="BF9000"/>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s" sz="1200">
                <a:latin typeface="Calibri"/>
                <a:ea typeface="Calibri"/>
                <a:cs typeface="Calibri"/>
                <a:sym typeface="Calibri"/>
              </a:rPr>
              <a:t>Actividades Clave (Key Activities)</a:t>
            </a:r>
            <a:endParaRPr/>
          </a:p>
        </p:txBody>
      </p:sp>
      <p:sp>
        <p:nvSpPr>
          <p:cNvPr id="211" name="Google Shape;211;p28"/>
          <p:cNvSpPr txBox="1"/>
          <p:nvPr/>
        </p:nvSpPr>
        <p:spPr>
          <a:xfrm>
            <a:off x="4230175" y="595000"/>
            <a:ext cx="3000000" cy="646500"/>
          </a:xfrm>
          <a:prstGeom prst="rect">
            <a:avLst/>
          </a:prstGeom>
          <a:noFill/>
          <a:ln cap="flat" cmpd="sng" w="9525">
            <a:solidFill>
              <a:srgbClr val="990000"/>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I</a:t>
            </a:r>
            <a:r>
              <a:rPr lang="es" sz="1200">
                <a:latin typeface="Calibri"/>
                <a:ea typeface="Calibri"/>
                <a:cs typeface="Calibri"/>
                <a:sym typeface="Calibri"/>
              </a:rPr>
              <a:t>nnovación continua en técnicas de cocción al vacío, congelado y diseño</a:t>
            </a:r>
            <a:endParaRPr/>
          </a:p>
        </p:txBody>
      </p:sp>
      <p:sp>
        <p:nvSpPr>
          <p:cNvPr id="212" name="Google Shape;212;p28"/>
          <p:cNvSpPr txBox="1"/>
          <p:nvPr/>
        </p:nvSpPr>
        <p:spPr>
          <a:xfrm>
            <a:off x="4230175" y="1327875"/>
            <a:ext cx="3000000" cy="646500"/>
          </a:xfrm>
          <a:prstGeom prst="rect">
            <a:avLst/>
          </a:prstGeom>
          <a:noFill/>
          <a:ln cap="flat" cmpd="sng" w="9525">
            <a:solidFill>
              <a:srgbClr val="1155CC"/>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Control riguroso de parámetros fisicoquímicos y sanitarios</a:t>
            </a:r>
            <a:endParaRPr/>
          </a:p>
        </p:txBody>
      </p:sp>
      <p:sp>
        <p:nvSpPr>
          <p:cNvPr id="213" name="Google Shape;213;p28"/>
          <p:cNvSpPr txBox="1"/>
          <p:nvPr/>
        </p:nvSpPr>
        <p:spPr>
          <a:xfrm>
            <a:off x="4230175" y="2060750"/>
            <a:ext cx="3000000" cy="6465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Desarrollo de estrategias de contenido, branding y participación en ferias</a:t>
            </a:r>
            <a:endParaRPr/>
          </a:p>
        </p:txBody>
      </p:sp>
      <p:sp>
        <p:nvSpPr>
          <p:cNvPr id="214" name="Google Shape;214;p28"/>
          <p:cNvSpPr txBox="1"/>
          <p:nvPr/>
        </p:nvSpPr>
        <p:spPr>
          <a:xfrm>
            <a:off x="4230175" y="2793625"/>
            <a:ext cx="3000000" cy="646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I</a:t>
            </a:r>
            <a:r>
              <a:rPr lang="es" sz="1200">
                <a:latin typeface="Calibri"/>
                <a:ea typeface="Calibri"/>
                <a:cs typeface="Calibri"/>
                <a:sym typeface="Calibri"/>
              </a:rPr>
              <a:t>ntegración de procesos logísticos que minimicen tiempos y costes </a:t>
            </a:r>
            <a:endParaRPr/>
          </a:p>
        </p:txBody>
      </p:sp>
      <p:cxnSp>
        <p:nvCxnSpPr>
          <p:cNvPr id="215" name="Google Shape;215;p28"/>
          <p:cNvCxnSpPr/>
          <p:nvPr/>
        </p:nvCxnSpPr>
        <p:spPr>
          <a:xfrm>
            <a:off x="4229575" y="285700"/>
            <a:ext cx="600" cy="7467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216" name="Google Shape;216;p28"/>
          <p:cNvCxnSpPr/>
          <p:nvPr/>
        </p:nvCxnSpPr>
        <p:spPr>
          <a:xfrm>
            <a:off x="4229575" y="1032400"/>
            <a:ext cx="600" cy="7467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217" name="Google Shape;217;p28"/>
          <p:cNvCxnSpPr/>
          <p:nvPr/>
        </p:nvCxnSpPr>
        <p:spPr>
          <a:xfrm>
            <a:off x="4229575" y="1779100"/>
            <a:ext cx="600" cy="7467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218" name="Google Shape;218;p28"/>
          <p:cNvCxnSpPr/>
          <p:nvPr/>
        </p:nvCxnSpPr>
        <p:spPr>
          <a:xfrm>
            <a:off x="4229575" y="2525800"/>
            <a:ext cx="600" cy="746700"/>
          </a:xfrm>
          <a:prstGeom prst="bentConnector3">
            <a:avLst>
              <a:gd fmla="val -39687500" name="adj1"/>
            </a:avLst>
          </a:prstGeom>
          <a:noFill/>
          <a:ln cap="flat" cmpd="sng" w="9525">
            <a:solidFill>
              <a:schemeClr val="dk2"/>
            </a:solidFill>
            <a:prstDash val="solid"/>
            <a:round/>
            <a:headEnd len="med" w="med" type="none"/>
            <a:tailEnd len="med" w="med" type="none"/>
          </a:ln>
        </p:spPr>
      </p:cxnSp>
      <p:sp>
        <p:nvSpPr>
          <p:cNvPr id="219" name="Google Shape;219;p28"/>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txBox="1"/>
          <p:nvPr/>
        </p:nvSpPr>
        <p:spPr>
          <a:xfrm>
            <a:off x="663575" y="978625"/>
            <a:ext cx="2154000" cy="369300"/>
          </a:xfrm>
          <a:prstGeom prst="rect">
            <a:avLst/>
          </a:prstGeom>
          <a:no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b="1" lang="es" sz="1200">
                <a:latin typeface="Calibri"/>
                <a:ea typeface="Calibri"/>
                <a:cs typeface="Calibri"/>
                <a:sym typeface="Calibri"/>
              </a:rPr>
              <a:t>Recursos Clave (Key Resources)</a:t>
            </a:r>
            <a:endParaRPr/>
          </a:p>
        </p:txBody>
      </p:sp>
      <p:sp>
        <p:nvSpPr>
          <p:cNvPr id="225" name="Google Shape;225;p29"/>
          <p:cNvSpPr txBox="1"/>
          <p:nvPr/>
        </p:nvSpPr>
        <p:spPr>
          <a:xfrm>
            <a:off x="240575" y="1695875"/>
            <a:ext cx="3000000" cy="646500"/>
          </a:xfrm>
          <a:prstGeom prst="rect">
            <a:avLst/>
          </a:prstGeom>
          <a:noFill/>
          <a:ln cap="flat" cmpd="sng" w="9525">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lang="es" sz="1200">
                <a:latin typeface="Calibri"/>
                <a:ea typeface="Calibri"/>
                <a:cs typeface="Calibri"/>
                <a:sym typeface="Calibri"/>
              </a:rPr>
              <a:t>Know-how </a:t>
            </a:r>
            <a:r>
              <a:rPr lang="es" sz="1200">
                <a:latin typeface="Calibri"/>
                <a:ea typeface="Calibri"/>
                <a:cs typeface="Calibri"/>
                <a:sym typeface="Calibri"/>
              </a:rPr>
              <a:t>técnica que permite mantener sabor, textura y propiedades</a:t>
            </a:r>
            <a:endParaRPr/>
          </a:p>
        </p:txBody>
      </p:sp>
      <p:sp>
        <p:nvSpPr>
          <p:cNvPr id="226" name="Google Shape;226;p29"/>
          <p:cNvSpPr txBox="1"/>
          <p:nvPr/>
        </p:nvSpPr>
        <p:spPr>
          <a:xfrm>
            <a:off x="240575" y="2690325"/>
            <a:ext cx="3000000" cy="923400"/>
          </a:xfrm>
          <a:prstGeom prst="rect">
            <a:avLst/>
          </a:prstGeom>
          <a:noFill/>
          <a:ln cap="flat" cmpd="sng" w="9525">
            <a:solidFill>
              <a:srgbClr val="3C78D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0"/>
              </a:spcBef>
              <a:spcAft>
                <a:spcPts val="1200"/>
              </a:spcAft>
              <a:buNone/>
            </a:pPr>
            <a:r>
              <a:rPr lang="es" sz="1200">
                <a:latin typeface="Calibri"/>
                <a:ea typeface="Calibri"/>
                <a:cs typeface="Calibri"/>
                <a:sym typeface="Calibri"/>
              </a:rPr>
              <a:t>Equipamiento y layout diseñado específicamente para producción de Ready-to-Eat del mar</a:t>
            </a:r>
            <a:endParaRPr/>
          </a:p>
        </p:txBody>
      </p:sp>
      <p:sp>
        <p:nvSpPr>
          <p:cNvPr id="227" name="Google Shape;227;p29"/>
          <p:cNvSpPr txBox="1"/>
          <p:nvPr/>
        </p:nvSpPr>
        <p:spPr>
          <a:xfrm>
            <a:off x="240575" y="3952800"/>
            <a:ext cx="3000000" cy="646500"/>
          </a:xfrm>
          <a:prstGeom prst="rect">
            <a:avLst/>
          </a:prstGeom>
          <a:noFill/>
          <a:ln cap="flat" cmpd="sng" w="9525">
            <a:solidFill>
              <a:srgbClr val="674EA7"/>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Cadena logística refrigerada + digitalización: Permite trazabilidad completa</a:t>
            </a:r>
            <a:endParaRPr/>
          </a:p>
        </p:txBody>
      </p:sp>
      <p:sp>
        <p:nvSpPr>
          <p:cNvPr id="228" name="Google Shape;228;p29"/>
          <p:cNvSpPr txBox="1"/>
          <p:nvPr/>
        </p:nvSpPr>
        <p:spPr>
          <a:xfrm>
            <a:off x="3995400" y="300550"/>
            <a:ext cx="1491900" cy="369300"/>
          </a:xfrm>
          <a:prstGeom prst="rect">
            <a:avLst/>
          </a:prstGeom>
          <a:noFill/>
          <a:ln cap="flat" cmpd="sng" w="9525">
            <a:solidFill>
              <a:srgbClr val="A64D79"/>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0"/>
              </a:spcBef>
              <a:spcAft>
                <a:spcPts val="400"/>
              </a:spcAft>
              <a:buNone/>
            </a:pPr>
            <a:r>
              <a:rPr b="1" lang="es" sz="1200">
                <a:latin typeface="Calibri"/>
                <a:ea typeface="Calibri"/>
                <a:cs typeface="Calibri"/>
                <a:sym typeface="Calibri"/>
              </a:rPr>
              <a:t>Canales (Channels)</a:t>
            </a:r>
            <a:endParaRPr b="1" sz="1200">
              <a:latin typeface="Calibri"/>
              <a:ea typeface="Calibri"/>
              <a:cs typeface="Calibri"/>
              <a:sym typeface="Calibri"/>
            </a:endParaRPr>
          </a:p>
        </p:txBody>
      </p:sp>
      <p:sp>
        <p:nvSpPr>
          <p:cNvPr id="229" name="Google Shape;229;p29"/>
          <p:cNvSpPr txBox="1"/>
          <p:nvPr/>
        </p:nvSpPr>
        <p:spPr>
          <a:xfrm>
            <a:off x="3591900" y="1049238"/>
            <a:ext cx="2298900" cy="369300"/>
          </a:xfrm>
          <a:prstGeom prst="rect">
            <a:avLst/>
          </a:prstGeom>
          <a:noFill/>
          <a:ln cap="flat" cmpd="sng" w="9525">
            <a:solidFill>
              <a:srgbClr val="00FF00"/>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Venta directa personalizada</a:t>
            </a:r>
            <a:endParaRPr/>
          </a:p>
        </p:txBody>
      </p:sp>
      <p:sp>
        <p:nvSpPr>
          <p:cNvPr id="230" name="Google Shape;230;p29"/>
          <p:cNvSpPr txBox="1"/>
          <p:nvPr/>
        </p:nvSpPr>
        <p:spPr>
          <a:xfrm>
            <a:off x="3613350" y="1766913"/>
            <a:ext cx="2298900" cy="369300"/>
          </a:xfrm>
          <a:prstGeom prst="rect">
            <a:avLst/>
          </a:prstGeom>
          <a:noFill/>
          <a:ln cap="flat" cmpd="sng" w="9525">
            <a:solidFill>
              <a:srgbClr val="6D9EEB"/>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E-commerce y catálogo digital</a:t>
            </a:r>
            <a:endParaRPr/>
          </a:p>
        </p:txBody>
      </p:sp>
      <p:sp>
        <p:nvSpPr>
          <p:cNvPr id="231" name="Google Shape;231;p29"/>
          <p:cNvSpPr txBox="1"/>
          <p:nvPr/>
        </p:nvSpPr>
        <p:spPr>
          <a:xfrm>
            <a:off x="3593400" y="2484588"/>
            <a:ext cx="2338800" cy="646500"/>
          </a:xfrm>
          <a:prstGeom prst="rect">
            <a:avLst/>
          </a:prstGeom>
          <a:noFill/>
          <a:ln cap="flat" cmpd="sng" w="95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Distribuidores regionales y brokers internacionales</a:t>
            </a:r>
            <a:endParaRPr/>
          </a:p>
        </p:txBody>
      </p:sp>
      <p:sp>
        <p:nvSpPr>
          <p:cNvPr id="232" name="Google Shape;232;p29"/>
          <p:cNvSpPr txBox="1"/>
          <p:nvPr/>
        </p:nvSpPr>
        <p:spPr>
          <a:xfrm>
            <a:off x="3571950" y="3510500"/>
            <a:ext cx="2338800" cy="646500"/>
          </a:xfrm>
          <a:prstGeom prst="rect">
            <a:avLst/>
          </a:prstGeom>
          <a:noFill/>
          <a:ln cap="flat" cmpd="sng" w="9525">
            <a:solidFill>
              <a:srgbClr val="B4A7D6"/>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Marketing en medios especializados</a:t>
            </a:r>
            <a:endParaRPr/>
          </a:p>
        </p:txBody>
      </p:sp>
      <p:sp>
        <p:nvSpPr>
          <p:cNvPr id="233" name="Google Shape;233;p29"/>
          <p:cNvSpPr txBox="1"/>
          <p:nvPr/>
        </p:nvSpPr>
        <p:spPr>
          <a:xfrm>
            <a:off x="6115325" y="182850"/>
            <a:ext cx="2849100" cy="646500"/>
          </a:xfrm>
          <a:prstGeom prst="rect">
            <a:avLst/>
          </a:prstGeom>
          <a:noFill/>
          <a:ln cap="flat" cmpd="sng" w="9525">
            <a:solidFill>
              <a:srgbClr val="6FA8DC"/>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50000"/>
              </a:lnSpc>
              <a:spcBef>
                <a:spcPts val="1400"/>
              </a:spcBef>
              <a:spcAft>
                <a:spcPts val="1000"/>
              </a:spcAft>
              <a:buNone/>
            </a:pPr>
            <a:r>
              <a:rPr b="1" lang="es" sz="1200">
                <a:latin typeface="Calibri"/>
                <a:ea typeface="Calibri"/>
                <a:cs typeface="Calibri"/>
                <a:sym typeface="Calibri"/>
              </a:rPr>
              <a:t>Segmentos de Clientes (Customer Segments)</a:t>
            </a:r>
            <a:endParaRPr/>
          </a:p>
        </p:txBody>
      </p:sp>
      <p:sp>
        <p:nvSpPr>
          <p:cNvPr id="234" name="Google Shape;234;p29"/>
          <p:cNvSpPr txBox="1"/>
          <p:nvPr/>
        </p:nvSpPr>
        <p:spPr>
          <a:xfrm>
            <a:off x="367375" y="0"/>
            <a:ext cx="3000000" cy="109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200">
                <a:solidFill>
                  <a:schemeClr val="accent1"/>
                </a:solidFill>
                <a:latin typeface="Libre Franklin"/>
                <a:ea typeface="Libre Franklin"/>
                <a:cs typeface="Libre Franklin"/>
                <a:sym typeface="Libre Franklin"/>
              </a:rPr>
              <a:t>Apartado 03</a:t>
            </a:r>
            <a:br>
              <a:rPr b="1" lang="es" sz="2200">
                <a:solidFill>
                  <a:schemeClr val="accent1"/>
                </a:solidFill>
                <a:latin typeface="Libre Franklin"/>
                <a:ea typeface="Libre Franklin"/>
                <a:cs typeface="Libre Franklin"/>
                <a:sym typeface="Libre Franklin"/>
              </a:rPr>
            </a:br>
            <a:r>
              <a:rPr b="1" lang="es" sz="2200">
                <a:solidFill>
                  <a:schemeClr val="accent5"/>
                </a:solidFill>
                <a:latin typeface="Libre Franklin"/>
                <a:ea typeface="Libre Franklin"/>
                <a:cs typeface="Libre Franklin"/>
                <a:sym typeface="Libre Franklin"/>
              </a:rPr>
              <a:t>BUSINESS MODEL CANVAS</a:t>
            </a:r>
            <a:endParaRPr b="1" sz="2200">
              <a:solidFill>
                <a:schemeClr val="accent1"/>
              </a:solidFill>
              <a:latin typeface="Libre Franklin"/>
              <a:ea typeface="Libre Franklin"/>
              <a:cs typeface="Libre Franklin"/>
              <a:sym typeface="Libre Franklin"/>
            </a:endParaRPr>
          </a:p>
        </p:txBody>
      </p:sp>
      <p:sp>
        <p:nvSpPr>
          <p:cNvPr id="235" name="Google Shape;235;p29"/>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sp>
        <p:nvSpPr>
          <p:cNvPr id="236" name="Google Shape;236;p29"/>
          <p:cNvSpPr txBox="1"/>
          <p:nvPr/>
        </p:nvSpPr>
        <p:spPr>
          <a:xfrm>
            <a:off x="6115325" y="1152325"/>
            <a:ext cx="2849100" cy="646500"/>
          </a:xfrm>
          <a:prstGeom prst="rect">
            <a:avLst/>
          </a:prstGeom>
          <a:noFill/>
          <a:ln cap="flat" cmpd="sng" w="9525">
            <a:solidFill>
              <a:srgbClr val="6D9EEB"/>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Alta gastronomía, restaurantes que valoran la trazabilidad, el origen local</a:t>
            </a:r>
            <a:endParaRPr/>
          </a:p>
        </p:txBody>
      </p:sp>
      <p:sp>
        <p:nvSpPr>
          <p:cNvPr id="237" name="Google Shape;237;p29"/>
          <p:cNvSpPr txBox="1"/>
          <p:nvPr/>
        </p:nvSpPr>
        <p:spPr>
          <a:xfrm>
            <a:off x="6115325" y="2121788"/>
            <a:ext cx="2849100" cy="646500"/>
          </a:xfrm>
          <a:prstGeom prst="rect">
            <a:avLst/>
          </a:prstGeom>
          <a:noFill/>
          <a:ln cap="flat" cmpd="sng" w="9525">
            <a:solidFill>
              <a:srgbClr val="E06666"/>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Catering y hotelería: Necesitan productos fáciles de preparar, consistentes</a:t>
            </a:r>
            <a:endParaRPr/>
          </a:p>
        </p:txBody>
      </p:sp>
      <p:sp>
        <p:nvSpPr>
          <p:cNvPr id="238" name="Google Shape;238;p29"/>
          <p:cNvSpPr txBox="1"/>
          <p:nvPr/>
        </p:nvSpPr>
        <p:spPr>
          <a:xfrm>
            <a:off x="6115325" y="3091275"/>
            <a:ext cx="2849100" cy="646500"/>
          </a:xfrm>
          <a:prstGeom prst="rect">
            <a:avLst/>
          </a:prstGeom>
          <a:noFill/>
          <a:ln cap="flat" cmpd="sng" w="9525">
            <a:solidFill>
              <a:srgbClr val="00FFFF"/>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lang="es" sz="1200">
                <a:latin typeface="Calibri"/>
                <a:ea typeface="Calibri"/>
                <a:cs typeface="Calibri"/>
                <a:sym typeface="Calibri"/>
              </a:rPr>
              <a:t>Plataformas de exportación: Que requieren cumplimiento regulatorio</a:t>
            </a:r>
            <a:endParaRPr/>
          </a:p>
        </p:txBody>
      </p:sp>
      <p:sp>
        <p:nvSpPr>
          <p:cNvPr id="239" name="Google Shape;239;p29"/>
          <p:cNvSpPr/>
          <p:nvPr/>
        </p:nvSpPr>
        <p:spPr>
          <a:xfrm rot="5400000">
            <a:off x="1612925" y="1456350"/>
            <a:ext cx="255300" cy="1797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29"/>
          <p:cNvSpPr/>
          <p:nvPr/>
        </p:nvSpPr>
        <p:spPr>
          <a:xfrm rot="5400000">
            <a:off x="1612922" y="2438813"/>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9"/>
          <p:cNvSpPr/>
          <p:nvPr/>
        </p:nvSpPr>
        <p:spPr>
          <a:xfrm rot="5400000">
            <a:off x="1612922" y="3745538"/>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29"/>
          <p:cNvSpPr/>
          <p:nvPr/>
        </p:nvSpPr>
        <p:spPr>
          <a:xfrm rot="5400000">
            <a:off x="4642722" y="771338"/>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29"/>
          <p:cNvSpPr/>
          <p:nvPr/>
        </p:nvSpPr>
        <p:spPr>
          <a:xfrm rot="5400000">
            <a:off x="4642722" y="1520038"/>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29"/>
          <p:cNvSpPr/>
          <p:nvPr/>
        </p:nvSpPr>
        <p:spPr>
          <a:xfrm rot="5400000">
            <a:off x="4642722" y="2206688"/>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29"/>
          <p:cNvSpPr/>
          <p:nvPr/>
        </p:nvSpPr>
        <p:spPr>
          <a:xfrm rot="5400000">
            <a:off x="4635147" y="3232588"/>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9"/>
          <p:cNvSpPr/>
          <p:nvPr/>
        </p:nvSpPr>
        <p:spPr>
          <a:xfrm rot="5400000">
            <a:off x="7412222" y="902626"/>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9"/>
          <p:cNvSpPr/>
          <p:nvPr/>
        </p:nvSpPr>
        <p:spPr>
          <a:xfrm rot="5400000">
            <a:off x="7412222" y="1872101"/>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29"/>
          <p:cNvSpPr/>
          <p:nvPr/>
        </p:nvSpPr>
        <p:spPr>
          <a:xfrm rot="5400000">
            <a:off x="7412222" y="2841576"/>
            <a:ext cx="255300" cy="176400"/>
          </a:xfrm>
          <a:prstGeom prst="righ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0"/>
          <p:cNvSpPr txBox="1"/>
          <p:nvPr/>
        </p:nvSpPr>
        <p:spPr>
          <a:xfrm>
            <a:off x="367375" y="0"/>
            <a:ext cx="3000000" cy="109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200">
                <a:solidFill>
                  <a:schemeClr val="accent1"/>
                </a:solidFill>
                <a:latin typeface="Libre Franklin"/>
                <a:ea typeface="Libre Franklin"/>
                <a:cs typeface="Libre Franklin"/>
                <a:sym typeface="Libre Franklin"/>
              </a:rPr>
              <a:t>Apartado 04</a:t>
            </a:r>
            <a:endParaRPr b="1" sz="2200">
              <a:solidFill>
                <a:schemeClr val="accent1"/>
              </a:solidFill>
              <a:latin typeface="Libre Franklin"/>
              <a:ea typeface="Libre Franklin"/>
              <a:cs typeface="Libre Franklin"/>
              <a:sym typeface="Libre Franklin"/>
            </a:endParaRPr>
          </a:p>
          <a:p>
            <a:pPr indent="0" lvl="0" marL="0" rtl="0" algn="l">
              <a:lnSpc>
                <a:spcPct val="90000"/>
              </a:lnSpc>
              <a:spcBef>
                <a:spcPts val="0"/>
              </a:spcBef>
              <a:spcAft>
                <a:spcPts val="0"/>
              </a:spcAft>
              <a:buNone/>
            </a:pPr>
            <a:r>
              <a:rPr b="1" lang="es" sz="2200">
                <a:solidFill>
                  <a:schemeClr val="accent5"/>
                </a:solidFill>
                <a:latin typeface="Libre Franklin"/>
                <a:ea typeface="Libre Franklin"/>
                <a:cs typeface="Libre Franklin"/>
                <a:sym typeface="Libre Franklin"/>
              </a:rPr>
              <a:t>ESTRATEGIA DEL MARKETING</a:t>
            </a:r>
            <a:endParaRPr b="1" sz="2200">
              <a:solidFill>
                <a:schemeClr val="accent1"/>
              </a:solidFill>
              <a:latin typeface="Libre Franklin"/>
              <a:ea typeface="Libre Franklin"/>
              <a:cs typeface="Libre Franklin"/>
              <a:sym typeface="Libre Franklin"/>
            </a:endParaRPr>
          </a:p>
        </p:txBody>
      </p:sp>
      <p:graphicFrame>
        <p:nvGraphicFramePr>
          <p:cNvPr id="254" name="Google Shape;254;p30"/>
          <p:cNvGraphicFramePr/>
          <p:nvPr/>
        </p:nvGraphicFramePr>
        <p:xfrm>
          <a:off x="3367375" y="701500"/>
          <a:ext cx="3000000" cy="3000000"/>
        </p:xfrm>
        <a:graphic>
          <a:graphicData uri="http://schemas.openxmlformats.org/drawingml/2006/table">
            <a:tbl>
              <a:tblPr>
                <a:noFill/>
                <a:tableStyleId>{08E6823E-F903-4DD9-82A9-AA4938FAAC1E}</a:tableStyleId>
              </a:tblPr>
              <a:tblGrid>
                <a:gridCol w="1228725"/>
                <a:gridCol w="2057400"/>
                <a:gridCol w="2352675"/>
              </a:tblGrid>
              <a:tr h="545750">
                <a:tc gridSpan="3">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 </a:t>
                      </a:r>
                      <a:r>
                        <a:rPr i="1" lang="es" sz="1200">
                          <a:latin typeface="Calibri"/>
                          <a:ea typeface="Calibri"/>
                          <a:cs typeface="Calibri"/>
                          <a:sym typeface="Calibri"/>
                        </a:rPr>
                        <a:t>Clientes, producto requerido y solución</a:t>
                      </a:r>
                      <a:endParaRPr i="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solidFill>
                      <a:srgbClr val="F3F3F3"/>
                    </a:solidFill>
                  </a:tcPr>
                </a:tc>
                <a:tc hMerge="1"/>
                <a:tc hMerge="1"/>
              </a:tr>
              <a:tr h="476250">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Cliente</a:t>
                      </a:r>
                      <a:endParaRPr b="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Producto requerido</a:t>
                      </a:r>
                      <a:endParaRPr b="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Solución</a:t>
                      </a:r>
                      <a:endParaRPr b="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666750">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Exportadores</a:t>
                      </a:r>
                      <a:endParaRPr b="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just">
                        <a:lnSpc>
                          <a:spcPct val="150000"/>
                        </a:lnSpc>
                        <a:spcBef>
                          <a:spcPts val="1200"/>
                        </a:spcBef>
                        <a:spcAft>
                          <a:spcPts val="0"/>
                        </a:spcAft>
                        <a:buNone/>
                      </a:pPr>
                      <a:r>
                        <a:rPr lang="es" sz="1200">
                          <a:latin typeface="Calibri"/>
                          <a:ea typeface="Calibri"/>
                          <a:cs typeface="Calibri"/>
                          <a:sym typeface="Calibri"/>
                        </a:rPr>
                        <a:t>Producto duradero. Empaque adaptado</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just">
                        <a:lnSpc>
                          <a:spcPct val="150000"/>
                        </a:lnSpc>
                        <a:spcBef>
                          <a:spcPts val="1200"/>
                        </a:spcBef>
                        <a:spcAft>
                          <a:spcPts val="0"/>
                        </a:spcAft>
                        <a:buNone/>
                      </a:pPr>
                      <a:r>
                        <a:rPr lang="es" sz="1200">
                          <a:latin typeface="Calibri"/>
                          <a:ea typeface="Calibri"/>
                          <a:cs typeface="Calibri"/>
                          <a:sym typeface="Calibri"/>
                        </a:rPr>
                        <a:t>Latas y pouches con duración de hasta 18 meses</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76250">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Distribuidores</a:t>
                      </a:r>
                      <a:endParaRPr b="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just">
                        <a:lnSpc>
                          <a:spcPct val="150000"/>
                        </a:lnSpc>
                        <a:spcBef>
                          <a:spcPts val="1200"/>
                        </a:spcBef>
                        <a:spcAft>
                          <a:spcPts val="0"/>
                        </a:spcAft>
                        <a:buNone/>
                      </a:pPr>
                      <a:r>
                        <a:rPr lang="es" sz="1200">
                          <a:latin typeface="Calibri"/>
                          <a:ea typeface="Calibri"/>
                          <a:cs typeface="Calibri"/>
                          <a:sym typeface="Calibri"/>
                        </a:rPr>
                        <a:t>Variedad de sabores</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just">
                        <a:lnSpc>
                          <a:spcPct val="150000"/>
                        </a:lnSpc>
                        <a:spcBef>
                          <a:spcPts val="1200"/>
                        </a:spcBef>
                        <a:spcAft>
                          <a:spcPts val="0"/>
                        </a:spcAft>
                        <a:buNone/>
                      </a:pPr>
                      <a:r>
                        <a:rPr lang="es" sz="1200">
                          <a:latin typeface="Calibri"/>
                          <a:ea typeface="Calibri"/>
                          <a:cs typeface="Calibri"/>
                          <a:sym typeface="Calibri"/>
                        </a:rPr>
                        <a:t>Mix ceviches</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640800">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Restaurantes</a:t>
                      </a:r>
                      <a:endParaRPr b="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just">
                        <a:lnSpc>
                          <a:spcPct val="150000"/>
                        </a:lnSpc>
                        <a:spcBef>
                          <a:spcPts val="1200"/>
                        </a:spcBef>
                        <a:spcAft>
                          <a:spcPts val="0"/>
                        </a:spcAft>
                        <a:buNone/>
                      </a:pPr>
                      <a:r>
                        <a:rPr lang="es" sz="1200">
                          <a:latin typeface="Calibri"/>
                          <a:ea typeface="Calibri"/>
                          <a:cs typeface="Calibri"/>
                          <a:sym typeface="Calibri"/>
                        </a:rPr>
                        <a:t>Agilidad y consistencia en cocina</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just">
                        <a:lnSpc>
                          <a:spcPct val="150000"/>
                        </a:lnSpc>
                        <a:spcBef>
                          <a:spcPts val="1200"/>
                        </a:spcBef>
                        <a:spcAft>
                          <a:spcPts val="0"/>
                        </a:spcAft>
                        <a:buNone/>
                      </a:pPr>
                      <a:r>
                        <a:rPr lang="es" sz="1200">
                          <a:latin typeface="Calibri"/>
                          <a:ea typeface="Calibri"/>
                          <a:cs typeface="Calibri"/>
                          <a:sym typeface="Calibri"/>
                        </a:rPr>
                        <a:t>Producto listo para emplatar</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76250">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Supermercados</a:t>
                      </a:r>
                      <a:endParaRPr b="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just">
                        <a:lnSpc>
                          <a:spcPct val="150000"/>
                        </a:lnSpc>
                        <a:spcBef>
                          <a:spcPts val="1200"/>
                        </a:spcBef>
                        <a:spcAft>
                          <a:spcPts val="0"/>
                        </a:spcAft>
                        <a:buNone/>
                      </a:pPr>
                      <a:r>
                        <a:rPr lang="es" sz="1200">
                          <a:latin typeface="Calibri"/>
                          <a:ea typeface="Calibri"/>
                          <a:cs typeface="Calibri"/>
                          <a:sym typeface="Calibri"/>
                        </a:rPr>
                        <a:t>Productos listos para consumir</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just">
                        <a:lnSpc>
                          <a:spcPct val="150000"/>
                        </a:lnSpc>
                        <a:spcBef>
                          <a:spcPts val="1200"/>
                        </a:spcBef>
                        <a:spcAft>
                          <a:spcPts val="0"/>
                        </a:spcAft>
                        <a:buNone/>
                      </a:pPr>
                      <a:r>
                        <a:rPr lang="es" sz="1200">
                          <a:latin typeface="Calibri"/>
                          <a:ea typeface="Calibri"/>
                          <a:cs typeface="Calibri"/>
                          <a:sym typeface="Calibri"/>
                        </a:rPr>
                        <a:t>Empaques individuales o familiares</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bl>
          </a:graphicData>
        </a:graphic>
      </p:graphicFrame>
      <p:sp>
        <p:nvSpPr>
          <p:cNvPr id="255" name="Google Shape;255;p30"/>
          <p:cNvSpPr txBox="1"/>
          <p:nvPr/>
        </p:nvSpPr>
        <p:spPr>
          <a:xfrm>
            <a:off x="5262725" y="168725"/>
            <a:ext cx="1506600" cy="369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1000"/>
              </a:spcAft>
              <a:buNone/>
            </a:pPr>
            <a:r>
              <a:rPr b="1" lang="es" sz="1200">
                <a:latin typeface="Calibri"/>
                <a:ea typeface="Calibri"/>
                <a:cs typeface="Calibri"/>
                <a:sym typeface="Calibri"/>
              </a:rPr>
              <a:t>Propuesta de valor</a:t>
            </a:r>
            <a:endParaRPr b="1" sz="1200">
              <a:latin typeface="Calibri"/>
              <a:ea typeface="Calibri"/>
              <a:cs typeface="Calibri"/>
              <a:sym typeface="Calibri"/>
            </a:endParaRPr>
          </a:p>
        </p:txBody>
      </p:sp>
      <p:sp>
        <p:nvSpPr>
          <p:cNvPr id="256" name="Google Shape;256;p30"/>
          <p:cNvSpPr txBox="1"/>
          <p:nvPr/>
        </p:nvSpPr>
        <p:spPr>
          <a:xfrm>
            <a:off x="152400" y="1971450"/>
            <a:ext cx="2397600" cy="1477500"/>
          </a:xfrm>
          <a:prstGeom prst="rect">
            <a:avLst/>
          </a:prstGeom>
          <a:noFill/>
          <a:ln cap="flat" cmpd="sng" w="19050">
            <a:solidFill>
              <a:srgbClr val="93C47D"/>
            </a:solidFill>
            <a:prstDash val="dash"/>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s" sz="1200">
                <a:latin typeface="Calibri"/>
                <a:ea typeface="Calibri"/>
                <a:cs typeface="Calibri"/>
                <a:sym typeface="Calibri"/>
              </a:rPr>
              <a:t>La entidad mercantil requiere de una propuesta de valor diferenciadora, clara y profesional. Este producto tiene como público objetivo a mercados mayoristas</a:t>
            </a:r>
            <a:endParaRPr/>
          </a:p>
        </p:txBody>
      </p:sp>
      <p:sp>
        <p:nvSpPr>
          <p:cNvPr id="257" name="Google Shape;257;p30"/>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sp>
        <p:nvSpPr>
          <p:cNvPr id="258" name="Google Shape;258;p30"/>
          <p:cNvSpPr/>
          <p:nvPr/>
        </p:nvSpPr>
        <p:spPr>
          <a:xfrm>
            <a:off x="2550000" y="2375275"/>
            <a:ext cx="866700" cy="611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1"/>
          <p:cNvSpPr txBox="1"/>
          <p:nvPr>
            <p:ph type="title"/>
          </p:nvPr>
        </p:nvSpPr>
        <p:spPr>
          <a:xfrm>
            <a:off x="411325" y="124050"/>
            <a:ext cx="2645400" cy="960600"/>
          </a:xfrm>
          <a:prstGeom prst="rect">
            <a:avLst/>
          </a:prstGeom>
        </p:spPr>
        <p:txBody>
          <a:bodyPr anchorCtr="0" anchor="t" bIns="22850" lIns="45725" spcFirstLastPara="1" rIns="45725" wrap="square" tIns="22850">
            <a:spAutoFit/>
          </a:bodyPr>
          <a:lstStyle/>
          <a:p>
            <a:pPr indent="0" lvl="0" marL="0" rtl="0" algn="l">
              <a:spcBef>
                <a:spcPts val="0"/>
              </a:spcBef>
              <a:spcAft>
                <a:spcPts val="0"/>
              </a:spcAft>
              <a:buNone/>
            </a:pPr>
            <a:r>
              <a:rPr lang="es">
                <a:solidFill>
                  <a:schemeClr val="accent1"/>
                </a:solidFill>
              </a:rPr>
              <a:t>Apartado 04</a:t>
            </a:r>
            <a:endParaRPr>
              <a:solidFill>
                <a:schemeClr val="accent1"/>
              </a:solidFill>
            </a:endParaRPr>
          </a:p>
          <a:p>
            <a:pPr indent="0" lvl="0" marL="0" rtl="0" algn="l">
              <a:spcBef>
                <a:spcPts val="0"/>
              </a:spcBef>
              <a:spcAft>
                <a:spcPts val="0"/>
              </a:spcAft>
              <a:buNone/>
            </a:pPr>
            <a:r>
              <a:rPr lang="es">
                <a:solidFill>
                  <a:schemeClr val="accent5"/>
                </a:solidFill>
              </a:rPr>
              <a:t>ESTRATEGIA DEL MARKETING</a:t>
            </a:r>
            <a:endParaRPr/>
          </a:p>
        </p:txBody>
      </p:sp>
      <p:graphicFrame>
        <p:nvGraphicFramePr>
          <p:cNvPr id="264" name="Google Shape;264;p31"/>
          <p:cNvGraphicFramePr/>
          <p:nvPr/>
        </p:nvGraphicFramePr>
        <p:xfrm>
          <a:off x="3150325" y="58850"/>
          <a:ext cx="3000000" cy="3000000"/>
        </p:xfrm>
        <a:graphic>
          <a:graphicData uri="http://schemas.openxmlformats.org/drawingml/2006/table">
            <a:tbl>
              <a:tblPr>
                <a:noFill/>
                <a:tableStyleId>{08E6823E-F903-4DD9-82A9-AA4938FAAC1E}</a:tableStyleId>
              </a:tblPr>
              <a:tblGrid>
                <a:gridCol w="1795600"/>
                <a:gridCol w="2764650"/>
                <a:gridCol w="1140075"/>
              </a:tblGrid>
              <a:tr h="406575">
                <a:tc gridSpan="3">
                  <a:txBody>
                    <a:bodyPr/>
                    <a:lstStyle/>
                    <a:p>
                      <a:pPr indent="0" lvl="0" marL="0" rtl="0" algn="ctr">
                        <a:lnSpc>
                          <a:spcPct val="150000"/>
                        </a:lnSpc>
                        <a:spcBef>
                          <a:spcPts val="1200"/>
                        </a:spcBef>
                        <a:spcAft>
                          <a:spcPts val="0"/>
                        </a:spcAft>
                        <a:buNone/>
                      </a:pPr>
                      <a:r>
                        <a:rPr i="1" lang="es" sz="1200">
                          <a:latin typeface="Calibri"/>
                          <a:ea typeface="Calibri"/>
                          <a:cs typeface="Calibri"/>
                          <a:sym typeface="Calibri"/>
                        </a:rPr>
                        <a:t> Presupuesto de Marketing: Precios en euros</a:t>
                      </a:r>
                      <a:endParaRPr i="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hMerge="1"/>
                <a:tc hMerge="1"/>
              </a:tr>
              <a:tr h="406575">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Canal</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Detalle </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Precio en euros</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06575">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 Marketing de contenidos</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 Artículos técnicos y Video corporativo</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1.350 euros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06575">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 Email marketing y CMR</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 Plataforma </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600 euros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06575">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 </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 Campañas de base de datos de clientes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400 euros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06575">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 SEO y Web corporativa</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Optimización SEO técnica y de contenidos </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 600 euros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06575">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 </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 Mantenimiento y mejoras web</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400 euros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06575">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SEM</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Contenidos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1000 euros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06575">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Ferias/ Eventos B2B</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Participación en ferias sectoriales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1500 euros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06575">
                <a:tc>
                  <a:txBody>
                    <a:bodyPr/>
                    <a:lstStyle/>
                    <a:p>
                      <a:pPr indent="0" lvl="0" marL="0" rtl="0" algn="just">
                        <a:lnSpc>
                          <a:spcPct val="150000"/>
                        </a:lnSpc>
                        <a:spcBef>
                          <a:spcPts val="0"/>
                        </a:spcBef>
                        <a:spcAft>
                          <a:spcPts val="0"/>
                        </a:spcAft>
                        <a:buNone/>
                      </a:pPr>
                      <a:r>
                        <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Material de stand y promocional</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500 euros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06575">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Otros</a:t>
                      </a:r>
                      <a:endParaRPr b="1"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Herramientas digitales e imprevistos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400 euros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193500">
                <a:tc>
                  <a:txBody>
                    <a:bodyPr/>
                    <a:lstStyle/>
                    <a:p>
                      <a:pPr indent="0" lvl="0" marL="0" rtl="0" algn="ctr">
                        <a:lnSpc>
                          <a:spcPct val="150000"/>
                        </a:lnSpc>
                        <a:spcBef>
                          <a:spcPts val="1200"/>
                        </a:spcBef>
                        <a:spcAft>
                          <a:spcPts val="0"/>
                        </a:spcAft>
                        <a:buNone/>
                      </a:pPr>
                      <a:r>
                        <a:rPr b="1" lang="es" sz="1200">
                          <a:latin typeface="Calibri"/>
                          <a:ea typeface="Calibri"/>
                          <a:cs typeface="Calibri"/>
                          <a:sym typeface="Calibri"/>
                        </a:rPr>
                        <a:t>TOTAL</a:t>
                      </a:r>
                      <a:r>
                        <a:rPr lang="es" sz="1200">
                          <a:latin typeface="Calibri"/>
                          <a:ea typeface="Calibri"/>
                          <a:cs typeface="Calibri"/>
                          <a:sym typeface="Calibri"/>
                        </a:rPr>
                        <a:t> estimado</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just">
                        <a:lnSpc>
                          <a:spcPct val="150000"/>
                        </a:lnSpc>
                        <a:spcBef>
                          <a:spcPts val="0"/>
                        </a:spcBef>
                        <a:spcAft>
                          <a:spcPts val="0"/>
                        </a:spcAft>
                        <a:buNone/>
                      </a:pPr>
                      <a:r>
                        <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lnSpc>
                          <a:spcPct val="150000"/>
                        </a:lnSpc>
                        <a:spcBef>
                          <a:spcPts val="1200"/>
                        </a:spcBef>
                        <a:spcAft>
                          <a:spcPts val="0"/>
                        </a:spcAft>
                        <a:buNone/>
                      </a:pPr>
                      <a:r>
                        <a:rPr lang="es" sz="1200">
                          <a:latin typeface="Calibri"/>
                          <a:ea typeface="Calibri"/>
                          <a:cs typeface="Calibri"/>
                          <a:sym typeface="Calibri"/>
                        </a:rPr>
                        <a:t>6.750 euros</a:t>
                      </a:r>
                      <a:endParaRPr sz="1200">
                        <a:latin typeface="Calibri"/>
                        <a:ea typeface="Calibri"/>
                        <a:cs typeface="Calibri"/>
                        <a:sym typeface="Calibri"/>
                      </a:endParaRPr>
                    </a:p>
                  </a:txBody>
                  <a:tcPr marT="0" marB="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bl>
          </a:graphicData>
        </a:graphic>
      </p:graphicFrame>
      <p:sp>
        <p:nvSpPr>
          <p:cNvPr id="265" name="Google Shape;265;p31"/>
          <p:cNvSpPr txBox="1"/>
          <p:nvPr/>
        </p:nvSpPr>
        <p:spPr>
          <a:xfrm>
            <a:off x="56725" y="1955125"/>
            <a:ext cx="2391300" cy="1046700"/>
          </a:xfrm>
          <a:prstGeom prst="rect">
            <a:avLst/>
          </a:prstGeom>
          <a:noFill/>
          <a:ln cap="flat" cmpd="sng" w="19050">
            <a:solidFill>
              <a:srgbClr val="6AA84F"/>
            </a:solidFill>
            <a:prstDash val="dash"/>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lang="es">
                <a:latin typeface="Calibri"/>
                <a:ea typeface="Calibri"/>
                <a:cs typeface="Calibri"/>
                <a:sym typeface="Calibri"/>
              </a:rPr>
              <a:t>El presupuesto estimado por cada trimestre,  cuyos valores serán en euros,</a:t>
            </a:r>
            <a:endParaRPr/>
          </a:p>
        </p:txBody>
      </p:sp>
      <p:sp>
        <p:nvSpPr>
          <p:cNvPr id="266" name="Google Shape;266;p31"/>
          <p:cNvSpPr/>
          <p:nvPr/>
        </p:nvSpPr>
        <p:spPr>
          <a:xfrm>
            <a:off x="2448025" y="2388000"/>
            <a:ext cx="702300" cy="534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2"/>
          <p:cNvSpPr txBox="1"/>
          <p:nvPr>
            <p:ph type="title"/>
          </p:nvPr>
        </p:nvSpPr>
        <p:spPr>
          <a:xfrm>
            <a:off x="438150" y="123081"/>
            <a:ext cx="2724300" cy="960600"/>
          </a:xfrm>
          <a:prstGeom prst="rect">
            <a:avLst/>
          </a:prstGeom>
        </p:spPr>
        <p:txBody>
          <a:bodyPr anchorCtr="0" anchor="t" bIns="22850" lIns="45725" spcFirstLastPara="1" rIns="45725" wrap="square" tIns="22850">
            <a:spAutoFit/>
          </a:bodyPr>
          <a:lstStyle/>
          <a:p>
            <a:pPr indent="0" lvl="0" marL="0" rtl="0" algn="l">
              <a:spcBef>
                <a:spcPts val="0"/>
              </a:spcBef>
              <a:spcAft>
                <a:spcPts val="0"/>
              </a:spcAft>
              <a:buNone/>
            </a:pPr>
            <a:r>
              <a:rPr lang="es">
                <a:solidFill>
                  <a:schemeClr val="accent1"/>
                </a:solidFill>
              </a:rPr>
              <a:t>Apartado 04</a:t>
            </a:r>
            <a:endParaRPr>
              <a:solidFill>
                <a:schemeClr val="accent1"/>
              </a:solidFill>
            </a:endParaRPr>
          </a:p>
          <a:p>
            <a:pPr indent="0" lvl="0" marL="0" rtl="0" algn="l">
              <a:spcBef>
                <a:spcPts val="0"/>
              </a:spcBef>
              <a:spcAft>
                <a:spcPts val="0"/>
              </a:spcAft>
              <a:buNone/>
            </a:pPr>
            <a:r>
              <a:rPr lang="es">
                <a:solidFill>
                  <a:schemeClr val="accent5"/>
                </a:solidFill>
              </a:rPr>
              <a:t>ESTRATEGIA DEL MARKETING</a:t>
            </a:r>
            <a:endParaRPr/>
          </a:p>
        </p:txBody>
      </p:sp>
      <p:pic>
        <p:nvPicPr>
          <p:cNvPr id="272" name="Google Shape;272;p32"/>
          <p:cNvPicPr preferRelativeResize="0"/>
          <p:nvPr/>
        </p:nvPicPr>
        <p:blipFill>
          <a:blip r:embed="rId3">
            <a:alphaModFix/>
          </a:blip>
          <a:stretch>
            <a:fillRect/>
          </a:stretch>
        </p:blipFill>
        <p:spPr>
          <a:xfrm>
            <a:off x="304800" y="1083675"/>
            <a:ext cx="4926875" cy="1295400"/>
          </a:xfrm>
          <a:prstGeom prst="rect">
            <a:avLst/>
          </a:prstGeom>
          <a:noFill/>
          <a:ln cap="flat" cmpd="sng" w="19050">
            <a:solidFill>
              <a:schemeClr val="accent1"/>
            </a:solidFill>
            <a:prstDash val="dash"/>
            <a:round/>
            <a:headEnd len="sm" w="sm" type="none"/>
            <a:tailEnd len="sm" w="sm" type="none"/>
          </a:ln>
        </p:spPr>
      </p:pic>
      <p:sp>
        <p:nvSpPr>
          <p:cNvPr id="273" name="Google Shape;273;p32"/>
          <p:cNvSpPr txBox="1"/>
          <p:nvPr/>
        </p:nvSpPr>
        <p:spPr>
          <a:xfrm>
            <a:off x="5310600" y="141675"/>
            <a:ext cx="3639000" cy="923400"/>
          </a:xfrm>
          <a:prstGeom prst="rect">
            <a:avLst/>
          </a:prstGeom>
          <a:noFill/>
          <a:ln cap="flat" cmpd="sng" w="19050">
            <a:solidFill>
              <a:srgbClr val="93C47D"/>
            </a:solidFill>
            <a:prstDash val="dash"/>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lang="es" sz="1200">
                <a:latin typeface="Calibri"/>
                <a:ea typeface="Calibri"/>
                <a:cs typeface="Calibri"/>
                <a:sym typeface="Calibri"/>
              </a:rPr>
              <a:t>La estrategia consiste en establecer el precio de venta teniendo como base el costo directo de producción y aplicando el margen de ganancia que se desea obtener.</a:t>
            </a:r>
            <a:endParaRPr/>
          </a:p>
        </p:txBody>
      </p:sp>
      <p:graphicFrame>
        <p:nvGraphicFramePr>
          <p:cNvPr id="274" name="Google Shape;274;p32"/>
          <p:cNvGraphicFramePr/>
          <p:nvPr/>
        </p:nvGraphicFramePr>
        <p:xfrm>
          <a:off x="304800" y="2511350"/>
          <a:ext cx="3000000" cy="3000000"/>
        </p:xfrm>
        <a:graphic>
          <a:graphicData uri="http://schemas.openxmlformats.org/drawingml/2006/table">
            <a:tbl>
              <a:tblPr>
                <a:noFill/>
                <a:tableStyleId>{08E6823E-F903-4DD9-82A9-AA4938FAAC1E}</a:tableStyleId>
              </a:tblPr>
              <a:tblGrid>
                <a:gridCol w="828525"/>
                <a:gridCol w="897575"/>
                <a:gridCol w="1588025"/>
                <a:gridCol w="2525050"/>
              </a:tblGrid>
              <a:tr h="434925">
                <a:tc gridSpan="4">
                  <a:txBody>
                    <a:bodyPr/>
                    <a:lstStyle/>
                    <a:p>
                      <a:pPr indent="0" lvl="0" marL="0" rtl="0" algn="ctr">
                        <a:spcBef>
                          <a:spcPts val="1200"/>
                        </a:spcBef>
                        <a:spcAft>
                          <a:spcPts val="0"/>
                        </a:spcAft>
                        <a:buNone/>
                      </a:pPr>
                      <a:r>
                        <a:rPr i="1" lang="es" sz="1200">
                          <a:latin typeface="Calibri"/>
                          <a:ea typeface="Calibri"/>
                          <a:cs typeface="Calibri"/>
                          <a:sym typeface="Calibri"/>
                        </a:rPr>
                        <a:t>Previsión de ventas - 3 años</a:t>
                      </a:r>
                      <a:endParaRPr i="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solidFill>
                      <a:srgbClr val="F3F3F3"/>
                    </a:solidFill>
                  </a:tcPr>
                </a:tc>
                <a:tc hMerge="1"/>
                <a:tc hMerge="1"/>
                <a:tc hMerge="1"/>
              </a:tr>
              <a:tr h="434925">
                <a:tc>
                  <a:txBody>
                    <a:bodyPr/>
                    <a:lstStyle/>
                    <a:p>
                      <a:pPr indent="0" lvl="0" marL="0" rtl="0" algn="ctr">
                        <a:spcBef>
                          <a:spcPts val="1200"/>
                        </a:spcBef>
                        <a:spcAft>
                          <a:spcPts val="0"/>
                        </a:spcAft>
                        <a:buNone/>
                      </a:pPr>
                      <a:r>
                        <a:rPr lang="es" sz="1200">
                          <a:latin typeface="Calibri"/>
                          <a:ea typeface="Calibri"/>
                          <a:cs typeface="Calibri"/>
                          <a:sym typeface="Calibri"/>
                        </a:rPr>
                        <a:t>Año</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lang="es" sz="1200">
                          <a:latin typeface="Calibri"/>
                          <a:ea typeface="Calibri"/>
                          <a:cs typeface="Calibri"/>
                          <a:sym typeface="Calibri"/>
                        </a:rPr>
                        <a:t>200 gr</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lang="es" sz="1200">
                          <a:latin typeface="Calibri"/>
                          <a:ea typeface="Calibri"/>
                          <a:cs typeface="Calibri"/>
                          <a:sym typeface="Calibri"/>
                        </a:rPr>
                        <a:t>500 gr</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lang="es" sz="1200">
                          <a:latin typeface="Calibri"/>
                          <a:ea typeface="Calibri"/>
                          <a:cs typeface="Calibri"/>
                          <a:sym typeface="Calibri"/>
                        </a:rPr>
                        <a:t>Ingreso anual (€)</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34925">
                <a:tc>
                  <a:txBody>
                    <a:bodyPr/>
                    <a:lstStyle/>
                    <a:p>
                      <a:pPr indent="0" lvl="0" marL="0" rtl="0" algn="ctr">
                        <a:spcBef>
                          <a:spcPts val="1200"/>
                        </a:spcBef>
                        <a:spcAft>
                          <a:spcPts val="0"/>
                        </a:spcAft>
                        <a:buNone/>
                      </a:pPr>
                      <a:r>
                        <a:rPr lang="es" sz="1200">
                          <a:latin typeface="Calibri"/>
                          <a:ea typeface="Calibri"/>
                          <a:cs typeface="Calibri"/>
                          <a:sym typeface="Calibri"/>
                        </a:rPr>
                        <a:t>1</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lang="es" sz="1200">
                          <a:latin typeface="Calibri"/>
                          <a:ea typeface="Calibri"/>
                          <a:cs typeface="Calibri"/>
                          <a:sym typeface="Calibri"/>
                        </a:rPr>
                        <a:t>1.382.500€</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lang="es" sz="1200">
                          <a:latin typeface="Calibri"/>
                          <a:ea typeface="Calibri"/>
                          <a:cs typeface="Calibri"/>
                          <a:sym typeface="Calibri"/>
                        </a:rPr>
                        <a:t>1.342.500€</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b="1" lang="es" sz="1200">
                          <a:latin typeface="Calibri"/>
                          <a:ea typeface="Calibri"/>
                          <a:cs typeface="Calibri"/>
                          <a:sym typeface="Calibri"/>
                        </a:rPr>
                        <a:t>2.725.000€</a:t>
                      </a:r>
                      <a:endParaRPr b="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34925">
                <a:tc>
                  <a:txBody>
                    <a:bodyPr/>
                    <a:lstStyle/>
                    <a:p>
                      <a:pPr indent="0" lvl="0" marL="0" rtl="0" algn="ctr">
                        <a:spcBef>
                          <a:spcPts val="1200"/>
                        </a:spcBef>
                        <a:spcAft>
                          <a:spcPts val="0"/>
                        </a:spcAft>
                        <a:buNone/>
                      </a:pPr>
                      <a:r>
                        <a:rPr lang="es" sz="1200">
                          <a:latin typeface="Calibri"/>
                          <a:ea typeface="Calibri"/>
                          <a:cs typeface="Calibri"/>
                          <a:sym typeface="Calibri"/>
                        </a:rPr>
                        <a:t>2</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lang="es" sz="1200">
                          <a:latin typeface="Calibri"/>
                          <a:ea typeface="Calibri"/>
                          <a:cs typeface="Calibri"/>
                          <a:sym typeface="Calibri"/>
                        </a:rPr>
                        <a:t>1.668.875 €</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lang="es" sz="1200">
                          <a:latin typeface="Calibri"/>
                          <a:ea typeface="Calibri"/>
                          <a:cs typeface="Calibri"/>
                          <a:sym typeface="Calibri"/>
                        </a:rPr>
                        <a:t>2.035.625 €</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b="1" lang="es" sz="1200">
                          <a:latin typeface="Calibri"/>
                          <a:ea typeface="Calibri"/>
                          <a:cs typeface="Calibri"/>
                          <a:sym typeface="Calibri"/>
                        </a:rPr>
                        <a:t>3.704.500€</a:t>
                      </a:r>
                      <a:endParaRPr b="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r h="434925">
                <a:tc>
                  <a:txBody>
                    <a:bodyPr/>
                    <a:lstStyle/>
                    <a:p>
                      <a:pPr indent="0" lvl="0" marL="0" rtl="0" algn="ctr">
                        <a:spcBef>
                          <a:spcPts val="1200"/>
                        </a:spcBef>
                        <a:spcAft>
                          <a:spcPts val="0"/>
                        </a:spcAft>
                        <a:buNone/>
                      </a:pPr>
                      <a:r>
                        <a:rPr lang="es" sz="1200">
                          <a:latin typeface="Calibri"/>
                          <a:ea typeface="Calibri"/>
                          <a:cs typeface="Calibri"/>
                          <a:sym typeface="Calibri"/>
                        </a:rPr>
                        <a:t>3</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lang="es" sz="1200">
                          <a:latin typeface="Calibri"/>
                          <a:ea typeface="Calibri"/>
                          <a:cs typeface="Calibri"/>
                          <a:sym typeface="Calibri"/>
                        </a:rPr>
                        <a:t>1.896.000€</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lang="es" sz="1200">
                          <a:latin typeface="Calibri"/>
                          <a:ea typeface="Calibri"/>
                          <a:cs typeface="Calibri"/>
                          <a:sym typeface="Calibri"/>
                        </a:rPr>
                        <a:t>2.864.000 €</a:t>
                      </a:r>
                      <a:endParaRPr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c>
                  <a:txBody>
                    <a:bodyPr/>
                    <a:lstStyle/>
                    <a:p>
                      <a:pPr indent="0" lvl="0" marL="0" rtl="0" algn="ctr">
                        <a:spcBef>
                          <a:spcPts val="1200"/>
                        </a:spcBef>
                        <a:spcAft>
                          <a:spcPts val="0"/>
                        </a:spcAft>
                        <a:buNone/>
                      </a:pPr>
                      <a:r>
                        <a:rPr b="1" lang="es" sz="1200">
                          <a:latin typeface="Calibri"/>
                          <a:ea typeface="Calibri"/>
                          <a:cs typeface="Calibri"/>
                          <a:sym typeface="Calibri"/>
                        </a:rPr>
                        <a:t>4.760.000€</a:t>
                      </a:r>
                      <a:endParaRPr b="1" sz="1200">
                        <a:latin typeface="Calibri"/>
                        <a:ea typeface="Calibri"/>
                        <a:cs typeface="Calibri"/>
                        <a:sym typeface="Calibri"/>
                      </a:endParaRPr>
                    </a:p>
                  </a:txBody>
                  <a:tcPr marT="63500" marB="63500" marR="63500" marL="63500">
                    <a:lnL cap="flat" cmpd="sng" w="19050">
                      <a:solidFill>
                        <a:schemeClr val="accent1"/>
                      </a:solidFill>
                      <a:prstDash val="dash"/>
                      <a:round/>
                      <a:headEnd len="sm" w="sm" type="none"/>
                      <a:tailEnd len="sm" w="sm" type="none"/>
                    </a:lnL>
                    <a:lnR cap="flat" cmpd="sng" w="19050">
                      <a:solidFill>
                        <a:schemeClr val="accent1"/>
                      </a:solidFill>
                      <a:prstDash val="dash"/>
                      <a:round/>
                      <a:headEnd len="sm" w="sm" type="none"/>
                      <a:tailEnd len="sm" w="sm" type="none"/>
                    </a:lnR>
                    <a:lnT cap="flat" cmpd="sng" w="19050">
                      <a:solidFill>
                        <a:schemeClr val="accent1"/>
                      </a:solidFill>
                      <a:prstDash val="dash"/>
                      <a:round/>
                      <a:headEnd len="sm" w="sm" type="none"/>
                      <a:tailEnd len="sm" w="sm" type="none"/>
                    </a:lnT>
                    <a:lnB cap="flat" cmpd="sng" w="19050">
                      <a:solidFill>
                        <a:schemeClr val="accent1"/>
                      </a:solidFill>
                      <a:prstDash val="dash"/>
                      <a:round/>
                      <a:headEnd len="sm" w="sm" type="none"/>
                      <a:tailEnd len="sm" w="sm" type="none"/>
                    </a:lnB>
                  </a:tcPr>
                </a:tc>
              </a:tr>
            </a:tbl>
          </a:graphicData>
        </a:graphic>
      </p:graphicFrame>
      <p:sp>
        <p:nvSpPr>
          <p:cNvPr id="275" name="Google Shape;275;p32"/>
          <p:cNvSpPr txBox="1"/>
          <p:nvPr/>
        </p:nvSpPr>
        <p:spPr>
          <a:xfrm>
            <a:off x="6144000" y="2836275"/>
            <a:ext cx="2893800" cy="1477500"/>
          </a:xfrm>
          <a:prstGeom prst="rect">
            <a:avLst/>
          </a:prstGeom>
          <a:noFill/>
          <a:ln cap="flat" cmpd="sng" w="9525">
            <a:solidFill>
              <a:srgbClr val="E69138"/>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lang="es" sz="1200">
                <a:latin typeface="Calibri"/>
                <a:ea typeface="Calibri"/>
                <a:cs typeface="Calibri"/>
                <a:sym typeface="Calibri"/>
              </a:rPr>
              <a:t>El objetivo en el tercer año,  es consolidar la presencia en Europa, LATAM y entrar en otros mercados como EEUU y Asia. Aprovechar la economía de escala. </a:t>
            </a:r>
            <a:r>
              <a:rPr lang="es" sz="1200">
                <a:highlight>
                  <a:srgbClr val="FFFFFF"/>
                </a:highlight>
                <a:latin typeface="Calibri"/>
                <a:ea typeface="Calibri"/>
                <a:cs typeface="Calibri"/>
                <a:sym typeface="Calibri"/>
              </a:rPr>
              <a:t>Con un crecimiento esperado del 25%</a:t>
            </a:r>
            <a:endParaRPr/>
          </a:p>
        </p:txBody>
      </p:sp>
      <p:sp>
        <p:nvSpPr>
          <p:cNvPr id="276" name="Google Shape;276;p32"/>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3"/>
          <p:cNvSpPr txBox="1"/>
          <p:nvPr/>
        </p:nvSpPr>
        <p:spPr>
          <a:xfrm>
            <a:off x="367375" y="0"/>
            <a:ext cx="30000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200">
                <a:solidFill>
                  <a:schemeClr val="accent1"/>
                </a:solidFill>
                <a:latin typeface="Libre Franklin"/>
                <a:ea typeface="Libre Franklin"/>
                <a:cs typeface="Libre Franklin"/>
                <a:sym typeface="Libre Franklin"/>
              </a:rPr>
              <a:t>Apartado 05</a:t>
            </a:r>
            <a:br>
              <a:rPr b="1" lang="es" sz="2200">
                <a:solidFill>
                  <a:schemeClr val="accent1"/>
                </a:solidFill>
                <a:latin typeface="Libre Franklin"/>
                <a:ea typeface="Libre Franklin"/>
                <a:cs typeface="Libre Franklin"/>
                <a:sym typeface="Libre Franklin"/>
              </a:rPr>
            </a:br>
            <a:r>
              <a:rPr b="1" lang="es" sz="2200">
                <a:solidFill>
                  <a:schemeClr val="accent5"/>
                </a:solidFill>
                <a:latin typeface="Libre Franklin Medium"/>
                <a:ea typeface="Libre Franklin Medium"/>
                <a:cs typeface="Libre Franklin Medium"/>
                <a:sym typeface="Libre Franklin Medium"/>
              </a:rPr>
              <a:t>Plan de operaciones</a:t>
            </a:r>
            <a:endParaRPr b="1" sz="2200">
              <a:solidFill>
                <a:schemeClr val="accent5"/>
              </a:solidFill>
              <a:latin typeface="Libre Franklin"/>
              <a:ea typeface="Libre Franklin"/>
              <a:cs typeface="Libre Franklin"/>
              <a:sym typeface="Libre Franklin"/>
            </a:endParaRPr>
          </a:p>
        </p:txBody>
      </p:sp>
      <p:grpSp>
        <p:nvGrpSpPr>
          <p:cNvPr id="282" name="Google Shape;282;p33"/>
          <p:cNvGrpSpPr/>
          <p:nvPr/>
        </p:nvGrpSpPr>
        <p:grpSpPr>
          <a:xfrm>
            <a:off x="2375475" y="1180280"/>
            <a:ext cx="1944600" cy="2493580"/>
            <a:chOff x="3080857" y="2013852"/>
            <a:chExt cx="1944600" cy="1857000"/>
          </a:xfrm>
        </p:grpSpPr>
        <p:sp>
          <p:nvSpPr>
            <p:cNvPr id="283" name="Google Shape;283;p33"/>
            <p:cNvSpPr/>
            <p:nvPr/>
          </p:nvSpPr>
          <p:spPr>
            <a:xfrm flipH="1" rot="10800000">
              <a:off x="3080857" y="2013852"/>
              <a:ext cx="1944600" cy="1857000"/>
            </a:xfrm>
            <a:prstGeom prst="round2DiagRect">
              <a:avLst>
                <a:gd fmla="val 0" name="adj1"/>
                <a:gd fmla="val 17764" name="adj2"/>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3"/>
            <p:cNvSpPr txBox="1"/>
            <p:nvPr/>
          </p:nvSpPr>
          <p:spPr>
            <a:xfrm>
              <a:off x="3197232" y="2141448"/>
              <a:ext cx="1711800" cy="263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latin typeface="Calibri"/>
                  <a:ea typeface="Calibri"/>
                  <a:cs typeface="Calibri"/>
                  <a:sym typeface="Calibri"/>
                </a:rPr>
                <a:t>Procesos relevantes</a:t>
              </a:r>
              <a:endParaRPr b="1">
                <a:solidFill>
                  <a:schemeClr val="dk1"/>
                </a:solidFill>
                <a:latin typeface="Calibri"/>
                <a:ea typeface="Calibri"/>
                <a:cs typeface="Calibri"/>
                <a:sym typeface="Calibri"/>
              </a:endParaRPr>
            </a:p>
          </p:txBody>
        </p:sp>
        <p:sp>
          <p:nvSpPr>
            <p:cNvPr id="285" name="Google Shape;285;p33"/>
            <p:cNvSpPr txBox="1"/>
            <p:nvPr/>
          </p:nvSpPr>
          <p:spPr>
            <a:xfrm>
              <a:off x="3327282" y="2506429"/>
              <a:ext cx="1451700" cy="971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chemeClr val="dk1"/>
                  </a:solidFill>
                  <a:latin typeface="Calibri"/>
                  <a:ea typeface="Calibri"/>
                  <a:cs typeface="Calibri"/>
                  <a:sym typeface="Calibri"/>
                </a:rPr>
                <a:t>-Estratégicos</a:t>
              </a:r>
              <a:endParaRPr>
                <a:solidFill>
                  <a:schemeClr val="dk1"/>
                </a:solidFill>
                <a:latin typeface="Calibri"/>
                <a:ea typeface="Calibri"/>
                <a:cs typeface="Calibri"/>
                <a:sym typeface="Calibri"/>
              </a:endParaRPr>
            </a:p>
            <a:p>
              <a:pPr indent="0" lvl="0" marL="0" rtl="0" algn="l">
                <a:lnSpc>
                  <a:spcPct val="115000"/>
                </a:lnSpc>
                <a:spcBef>
                  <a:spcPts val="1600"/>
                </a:spcBef>
                <a:spcAft>
                  <a:spcPts val="0"/>
                </a:spcAft>
                <a:buNone/>
              </a:pPr>
              <a:r>
                <a:rPr lang="es">
                  <a:solidFill>
                    <a:schemeClr val="dk1"/>
                  </a:solidFill>
                  <a:latin typeface="Calibri"/>
                  <a:ea typeface="Calibri"/>
                  <a:cs typeface="Calibri"/>
                  <a:sym typeface="Calibri"/>
                </a:rPr>
                <a:t>-De soporte</a:t>
              </a:r>
              <a:endParaRPr>
                <a:solidFill>
                  <a:schemeClr val="dk1"/>
                </a:solidFill>
                <a:latin typeface="Calibri"/>
                <a:ea typeface="Calibri"/>
                <a:cs typeface="Calibri"/>
                <a:sym typeface="Calibri"/>
              </a:endParaRPr>
            </a:p>
            <a:p>
              <a:pPr indent="0" lvl="0" marL="0" rtl="0" algn="l">
                <a:lnSpc>
                  <a:spcPct val="115000"/>
                </a:lnSpc>
                <a:spcBef>
                  <a:spcPts val="1600"/>
                </a:spcBef>
                <a:spcAft>
                  <a:spcPts val="1600"/>
                </a:spcAft>
                <a:buNone/>
              </a:pPr>
              <a:r>
                <a:rPr lang="es">
                  <a:solidFill>
                    <a:schemeClr val="dk1"/>
                  </a:solidFill>
                  <a:latin typeface="Calibri"/>
                  <a:ea typeface="Calibri"/>
                  <a:cs typeface="Calibri"/>
                  <a:sym typeface="Calibri"/>
                </a:rPr>
                <a:t>-Operativos</a:t>
              </a:r>
              <a:endParaRPr>
                <a:solidFill>
                  <a:schemeClr val="dk1"/>
                </a:solidFill>
                <a:latin typeface="Calibri"/>
                <a:ea typeface="Calibri"/>
                <a:cs typeface="Calibri"/>
                <a:sym typeface="Calibri"/>
              </a:endParaRPr>
            </a:p>
          </p:txBody>
        </p:sp>
      </p:grpSp>
      <p:grpSp>
        <p:nvGrpSpPr>
          <p:cNvPr id="286" name="Google Shape;286;p33"/>
          <p:cNvGrpSpPr/>
          <p:nvPr/>
        </p:nvGrpSpPr>
        <p:grpSpPr>
          <a:xfrm>
            <a:off x="4329417" y="1180442"/>
            <a:ext cx="2221084" cy="2468139"/>
            <a:chOff x="5015948" y="2013875"/>
            <a:chExt cx="2709300" cy="1857000"/>
          </a:xfrm>
        </p:grpSpPr>
        <p:sp>
          <p:nvSpPr>
            <p:cNvPr id="287" name="Google Shape;287;p33"/>
            <p:cNvSpPr/>
            <p:nvPr/>
          </p:nvSpPr>
          <p:spPr>
            <a:xfrm>
              <a:off x="5015948" y="2013875"/>
              <a:ext cx="2709300" cy="1857000"/>
            </a:xfrm>
            <a:prstGeom prst="round2DiagRect">
              <a:avLst>
                <a:gd fmla="val 0" name="adj1"/>
                <a:gd fmla="val 17764" name="adj2"/>
              </a:avLst>
            </a:prstGeom>
            <a:solidFill>
              <a:schemeClr val="lt1"/>
            </a:solidFill>
            <a:ln cap="flat" cmpd="sng" w="19050">
              <a:solidFill>
                <a:srgbClr val="219B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8" name="Google Shape;288;p33"/>
            <p:cNvSpPr txBox="1"/>
            <p:nvPr/>
          </p:nvSpPr>
          <p:spPr>
            <a:xfrm>
              <a:off x="5308003" y="2169886"/>
              <a:ext cx="2417100" cy="311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latin typeface="Calibri"/>
                  <a:ea typeface="Calibri"/>
                  <a:cs typeface="Calibri"/>
                  <a:sym typeface="Calibri"/>
                </a:rPr>
                <a:t>Recursos necesarios</a:t>
              </a:r>
              <a:endParaRPr b="1">
                <a:solidFill>
                  <a:schemeClr val="dk1"/>
                </a:solidFill>
                <a:latin typeface="Calibri"/>
                <a:ea typeface="Calibri"/>
                <a:cs typeface="Calibri"/>
                <a:sym typeface="Calibri"/>
              </a:endParaRPr>
            </a:p>
          </p:txBody>
        </p:sp>
        <p:sp>
          <p:nvSpPr>
            <p:cNvPr id="289" name="Google Shape;289;p33"/>
            <p:cNvSpPr txBox="1"/>
            <p:nvPr/>
          </p:nvSpPr>
          <p:spPr>
            <a:xfrm>
              <a:off x="5308011" y="2457712"/>
              <a:ext cx="2417100" cy="804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88900" lvl="0" marL="90000" rtl="0" algn="l">
                <a:lnSpc>
                  <a:spcPct val="115000"/>
                </a:lnSpc>
                <a:spcBef>
                  <a:spcPts val="0"/>
                </a:spcBef>
                <a:spcAft>
                  <a:spcPts val="0"/>
                </a:spcAft>
                <a:buClr>
                  <a:schemeClr val="dk1"/>
                </a:buClr>
                <a:buSzPts val="1400"/>
                <a:buFont typeface="Calibri"/>
                <a:buChar char="-"/>
              </a:pPr>
              <a:r>
                <a:rPr lang="es">
                  <a:solidFill>
                    <a:schemeClr val="dk1"/>
                  </a:solidFill>
                  <a:latin typeface="Calibri"/>
                  <a:ea typeface="Calibri"/>
                  <a:cs typeface="Calibri"/>
                  <a:sym typeface="Calibri"/>
                </a:rPr>
                <a:t>Recursos humanos</a:t>
              </a:r>
              <a:endParaRPr>
                <a:solidFill>
                  <a:schemeClr val="dk1"/>
                </a:solidFill>
                <a:latin typeface="Calibri"/>
                <a:ea typeface="Calibri"/>
                <a:cs typeface="Calibri"/>
                <a:sym typeface="Calibri"/>
              </a:endParaRPr>
            </a:p>
            <a:p>
              <a:pPr indent="0" lvl="0" marL="0" rtl="0" algn="l">
                <a:lnSpc>
                  <a:spcPct val="115000"/>
                </a:lnSpc>
                <a:spcBef>
                  <a:spcPts val="1600"/>
                </a:spcBef>
                <a:spcAft>
                  <a:spcPts val="1600"/>
                </a:spcAft>
                <a:buNone/>
              </a:pPr>
              <a:r>
                <a:rPr lang="es">
                  <a:solidFill>
                    <a:schemeClr val="dk1"/>
                  </a:solidFill>
                  <a:latin typeface="Calibri"/>
                  <a:ea typeface="Calibri"/>
                  <a:cs typeface="Calibri"/>
                  <a:sym typeface="Calibri"/>
                </a:rPr>
                <a:t>- Recursos materiales y técnicos</a:t>
              </a:r>
              <a:endParaRPr>
                <a:solidFill>
                  <a:schemeClr val="dk1"/>
                </a:solidFill>
                <a:latin typeface="Calibri"/>
                <a:ea typeface="Calibri"/>
                <a:cs typeface="Calibri"/>
                <a:sym typeface="Calibri"/>
              </a:endParaRPr>
            </a:p>
          </p:txBody>
        </p:sp>
      </p:grpSp>
      <p:grpSp>
        <p:nvGrpSpPr>
          <p:cNvPr id="290" name="Google Shape;290;p33"/>
          <p:cNvGrpSpPr/>
          <p:nvPr/>
        </p:nvGrpSpPr>
        <p:grpSpPr>
          <a:xfrm>
            <a:off x="4208996" y="2296995"/>
            <a:ext cx="261571" cy="260379"/>
            <a:chOff x="4858109" y="2631368"/>
            <a:chExt cx="316442" cy="315000"/>
          </a:xfrm>
        </p:grpSpPr>
        <p:sp>
          <p:nvSpPr>
            <p:cNvPr id="291" name="Google Shape;291;p33"/>
            <p:cNvSpPr/>
            <p:nvPr/>
          </p:nvSpPr>
          <p:spPr>
            <a:xfrm>
              <a:off x="4859551" y="2631368"/>
              <a:ext cx="315000" cy="315000"/>
            </a:xfrm>
            <a:prstGeom prst="ellipse">
              <a:avLst/>
            </a:prstGeom>
            <a:solidFill>
              <a:srgbClr val="219B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3"/>
            <p:cNvSpPr/>
            <p:nvPr/>
          </p:nvSpPr>
          <p:spPr>
            <a:xfrm>
              <a:off x="4858109" y="2739300"/>
              <a:ext cx="239100" cy="99000"/>
            </a:xfrm>
            <a:prstGeom prst="rightArrow">
              <a:avLst>
                <a:gd fmla="val 32020" name="adj1"/>
                <a:gd fmla="val 6697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s"/>
              </a:br>
              <a:endParaRPr/>
            </a:p>
          </p:txBody>
        </p:sp>
      </p:grpSp>
      <p:grpSp>
        <p:nvGrpSpPr>
          <p:cNvPr id="293" name="Google Shape;293;p33"/>
          <p:cNvGrpSpPr/>
          <p:nvPr/>
        </p:nvGrpSpPr>
        <p:grpSpPr>
          <a:xfrm>
            <a:off x="2251484" y="2284157"/>
            <a:ext cx="261571" cy="260379"/>
            <a:chOff x="4858109" y="2631368"/>
            <a:chExt cx="316442" cy="315000"/>
          </a:xfrm>
        </p:grpSpPr>
        <p:sp>
          <p:nvSpPr>
            <p:cNvPr id="294" name="Google Shape;294;p33"/>
            <p:cNvSpPr/>
            <p:nvPr/>
          </p:nvSpPr>
          <p:spPr>
            <a:xfrm>
              <a:off x="4859551" y="2631368"/>
              <a:ext cx="315000" cy="315000"/>
            </a:xfrm>
            <a:prstGeom prst="ellipse">
              <a:avLst/>
            </a:prstGeom>
            <a:solidFill>
              <a:srgbClr val="219B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3"/>
            <p:cNvSpPr/>
            <p:nvPr/>
          </p:nvSpPr>
          <p:spPr>
            <a:xfrm>
              <a:off x="4858109" y="2739300"/>
              <a:ext cx="239100" cy="99000"/>
            </a:xfrm>
            <a:prstGeom prst="rightArrow">
              <a:avLst>
                <a:gd fmla="val 32020" name="adj1"/>
                <a:gd fmla="val 6697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s"/>
              </a:br>
              <a:endParaRPr/>
            </a:p>
          </p:txBody>
        </p:sp>
      </p:grpSp>
      <p:sp>
        <p:nvSpPr>
          <p:cNvPr id="296" name="Google Shape;296;p33"/>
          <p:cNvSpPr/>
          <p:nvPr/>
        </p:nvSpPr>
        <p:spPr>
          <a:xfrm>
            <a:off x="6559801" y="1193125"/>
            <a:ext cx="2221200" cy="2468100"/>
          </a:xfrm>
          <a:prstGeom prst="round2DiagRect">
            <a:avLst>
              <a:gd fmla="val 0" name="adj1"/>
              <a:gd fmla="val 17764" name="adj2"/>
            </a:avLst>
          </a:prstGeom>
          <a:solidFill>
            <a:schemeClr val="lt1"/>
          </a:solidFill>
          <a:ln cap="flat" cmpd="sng" w="19050">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latin typeface="Calibri"/>
                <a:ea typeface="Calibri"/>
                <a:cs typeface="Calibri"/>
                <a:sym typeface="Calibri"/>
              </a:rPr>
              <a:t>-Costes fijos</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s">
                <a:latin typeface="Calibri"/>
                <a:ea typeface="Calibri"/>
                <a:cs typeface="Calibri"/>
                <a:sym typeface="Calibri"/>
              </a:rPr>
              <a:t>-Costes variables</a:t>
            </a:r>
            <a:endParaRPr>
              <a:latin typeface="Calibri"/>
              <a:ea typeface="Calibri"/>
              <a:cs typeface="Calibri"/>
              <a:sym typeface="Calibri"/>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297" name="Google Shape;297;p33"/>
          <p:cNvGrpSpPr/>
          <p:nvPr/>
        </p:nvGrpSpPr>
        <p:grpSpPr>
          <a:xfrm>
            <a:off x="6427046" y="2284145"/>
            <a:ext cx="261571" cy="260379"/>
            <a:chOff x="4858109" y="2631368"/>
            <a:chExt cx="316442" cy="315000"/>
          </a:xfrm>
        </p:grpSpPr>
        <p:sp>
          <p:nvSpPr>
            <p:cNvPr id="298" name="Google Shape;298;p33"/>
            <p:cNvSpPr/>
            <p:nvPr/>
          </p:nvSpPr>
          <p:spPr>
            <a:xfrm>
              <a:off x="4859551" y="2631368"/>
              <a:ext cx="315000" cy="315000"/>
            </a:xfrm>
            <a:prstGeom prst="ellipse">
              <a:avLst/>
            </a:prstGeom>
            <a:solidFill>
              <a:srgbClr val="219B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3"/>
            <p:cNvSpPr/>
            <p:nvPr/>
          </p:nvSpPr>
          <p:spPr>
            <a:xfrm>
              <a:off x="4858109" y="2739300"/>
              <a:ext cx="239100" cy="99000"/>
            </a:xfrm>
            <a:prstGeom prst="rightArrow">
              <a:avLst>
                <a:gd fmla="val 32020" name="adj1"/>
                <a:gd fmla="val 6697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s"/>
              </a:br>
              <a:endParaRPr/>
            </a:p>
          </p:txBody>
        </p:sp>
      </p:grpSp>
      <p:sp>
        <p:nvSpPr>
          <p:cNvPr id="300" name="Google Shape;300;p33"/>
          <p:cNvSpPr txBox="1"/>
          <p:nvPr/>
        </p:nvSpPr>
        <p:spPr>
          <a:xfrm>
            <a:off x="6559790" y="1387742"/>
            <a:ext cx="1981500" cy="41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latin typeface="Calibri"/>
                <a:ea typeface="Calibri"/>
                <a:cs typeface="Calibri"/>
                <a:sym typeface="Calibri"/>
              </a:rPr>
              <a:t>Estructura de costes</a:t>
            </a:r>
            <a:endParaRPr b="1">
              <a:solidFill>
                <a:schemeClr val="dk1"/>
              </a:solidFill>
              <a:latin typeface="Calibri"/>
              <a:ea typeface="Calibri"/>
              <a:cs typeface="Calibri"/>
              <a:sym typeface="Calibri"/>
            </a:endParaRPr>
          </a:p>
        </p:txBody>
      </p:sp>
      <p:sp>
        <p:nvSpPr>
          <p:cNvPr id="301" name="Google Shape;301;p33"/>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grpSp>
        <p:nvGrpSpPr>
          <p:cNvPr id="302" name="Google Shape;302;p33"/>
          <p:cNvGrpSpPr/>
          <p:nvPr/>
        </p:nvGrpSpPr>
        <p:grpSpPr>
          <a:xfrm>
            <a:off x="362994" y="1180406"/>
            <a:ext cx="2003132" cy="2493557"/>
            <a:chOff x="1126863" y="2013875"/>
            <a:chExt cx="1944600" cy="2264400"/>
          </a:xfrm>
        </p:grpSpPr>
        <p:sp>
          <p:nvSpPr>
            <p:cNvPr id="303" name="Google Shape;303;p33"/>
            <p:cNvSpPr/>
            <p:nvPr/>
          </p:nvSpPr>
          <p:spPr>
            <a:xfrm>
              <a:off x="1126863" y="2013875"/>
              <a:ext cx="1944600" cy="2264400"/>
            </a:xfrm>
            <a:prstGeom prst="round2DiagRect">
              <a:avLst>
                <a:gd fmla="val 0" name="adj1"/>
                <a:gd fmla="val 17764" name="adj2"/>
              </a:avLst>
            </a:prstGeom>
            <a:solidFill>
              <a:schemeClr val="lt1"/>
            </a:solidFill>
            <a:ln cap="flat" cmpd="sng" w="19050">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3"/>
            <p:cNvSpPr txBox="1"/>
            <p:nvPr/>
          </p:nvSpPr>
          <p:spPr>
            <a:xfrm>
              <a:off x="1214074" y="2432275"/>
              <a:ext cx="1840200" cy="1845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es">
                  <a:solidFill>
                    <a:schemeClr val="dk1"/>
                  </a:solidFill>
                  <a:latin typeface="Calibri"/>
                  <a:ea typeface="Calibri"/>
                  <a:cs typeface="Calibri"/>
                  <a:sym typeface="Calibri"/>
                </a:rPr>
                <a:t>-</a:t>
              </a:r>
              <a:r>
                <a:rPr lang="es">
                  <a:solidFill>
                    <a:schemeClr val="dk1"/>
                  </a:solidFill>
                  <a:latin typeface="Calibri"/>
                  <a:ea typeface="Calibri"/>
                  <a:cs typeface="Calibri"/>
                  <a:sym typeface="Calibri"/>
                </a:rPr>
                <a:t>Se ubica en O </a:t>
              </a:r>
              <a:r>
                <a:rPr lang="es">
                  <a:solidFill>
                    <a:schemeClr val="dk1"/>
                  </a:solidFill>
                  <a:latin typeface="Calibri"/>
                  <a:ea typeface="Calibri"/>
                  <a:cs typeface="Calibri"/>
                  <a:sym typeface="Calibri"/>
                </a:rPr>
                <a:t>Carballiño</a:t>
              </a:r>
              <a:r>
                <a:rPr lang="es">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indent="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0" lvl="0" marL="0" rtl="0" algn="just">
                <a:lnSpc>
                  <a:spcPct val="100000"/>
                </a:lnSpc>
                <a:spcBef>
                  <a:spcPts val="0"/>
                </a:spcBef>
                <a:spcAft>
                  <a:spcPts val="0"/>
                </a:spcAft>
                <a:buNone/>
              </a:pPr>
              <a:r>
                <a:rPr lang="es">
                  <a:solidFill>
                    <a:schemeClr val="dk1"/>
                  </a:solidFill>
                  <a:latin typeface="Calibri"/>
                  <a:ea typeface="Calibri"/>
                  <a:cs typeface="Calibri"/>
                  <a:sym typeface="Calibri"/>
                </a:rPr>
                <a:t>-Localización operativa: se mantiene el centro de  operaciones. </a:t>
              </a:r>
              <a:endParaRPr>
                <a:solidFill>
                  <a:schemeClr val="dk1"/>
                </a:solidFill>
                <a:latin typeface="Calibri"/>
                <a:ea typeface="Calibri"/>
                <a:cs typeface="Calibri"/>
                <a:sym typeface="Calibri"/>
              </a:endParaRPr>
            </a:p>
            <a:p>
              <a:pPr indent="0" lvl="0" marL="0" rtl="0" algn="just">
                <a:lnSpc>
                  <a:spcPct val="100000"/>
                </a:lnSpc>
                <a:spcBef>
                  <a:spcPts val="0"/>
                </a:spcBef>
                <a:spcAft>
                  <a:spcPts val="0"/>
                </a:spcAft>
                <a:buNone/>
              </a:pPr>
              <a:r>
                <a:t/>
              </a:r>
              <a:endParaRPr>
                <a:solidFill>
                  <a:schemeClr val="dk1"/>
                </a:solidFill>
                <a:latin typeface="Calibri"/>
                <a:ea typeface="Calibri"/>
                <a:cs typeface="Calibri"/>
                <a:sym typeface="Calibri"/>
              </a:endParaRPr>
            </a:p>
            <a:p>
              <a:pPr indent="0" lvl="0" marL="0" rtl="0" algn="just">
                <a:lnSpc>
                  <a:spcPct val="100000"/>
                </a:lnSpc>
                <a:spcBef>
                  <a:spcPts val="0"/>
                </a:spcBef>
                <a:spcAft>
                  <a:spcPts val="0"/>
                </a:spcAft>
                <a:buNone/>
              </a:pPr>
              <a:r>
                <a:rPr lang="es">
                  <a:solidFill>
                    <a:schemeClr val="dk1"/>
                  </a:solidFill>
                  <a:latin typeface="Calibri"/>
                  <a:ea typeface="Calibri"/>
                  <a:cs typeface="Calibri"/>
                  <a:sym typeface="Calibri"/>
                </a:rPr>
                <a:t>-Buen enclave para facilitar la distribución.</a:t>
              </a:r>
              <a:endParaRPr>
                <a:solidFill>
                  <a:schemeClr val="dk1"/>
                </a:solidFill>
                <a:latin typeface="Calibri"/>
                <a:ea typeface="Calibri"/>
                <a:cs typeface="Calibri"/>
                <a:sym typeface="Calibri"/>
              </a:endParaRPr>
            </a:p>
            <a:p>
              <a:pPr indent="0" lvl="0" marL="0" rtl="0" algn="l">
                <a:lnSpc>
                  <a:spcPct val="115000"/>
                </a:lnSpc>
                <a:spcBef>
                  <a:spcPts val="1600"/>
                </a:spcBef>
                <a:spcAft>
                  <a:spcPts val="1600"/>
                </a:spcAft>
                <a:buNone/>
              </a:pPr>
              <a:r>
                <a:rPr lang="es" sz="800">
                  <a:solidFill>
                    <a:srgbClr val="FFFFFF"/>
                  </a:solidFill>
                  <a:latin typeface="Roboto"/>
                  <a:ea typeface="Roboto"/>
                  <a:cs typeface="Roboto"/>
                  <a:sym typeface="Roboto"/>
                </a:rPr>
                <a:t>d do eiusmod tempor.</a:t>
              </a:r>
              <a:endParaRPr sz="1100">
                <a:solidFill>
                  <a:srgbClr val="FFFFFF"/>
                </a:solidFill>
                <a:latin typeface="Roboto"/>
                <a:ea typeface="Roboto"/>
                <a:cs typeface="Roboto"/>
                <a:sym typeface="Roboto"/>
              </a:endParaRPr>
            </a:p>
          </p:txBody>
        </p:sp>
        <p:sp>
          <p:nvSpPr>
            <p:cNvPr id="305" name="Google Shape;305;p33"/>
            <p:cNvSpPr txBox="1"/>
            <p:nvPr/>
          </p:nvSpPr>
          <p:spPr>
            <a:xfrm>
              <a:off x="1373315" y="2148678"/>
              <a:ext cx="1451700" cy="3414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chemeClr val="dk1"/>
                  </a:solidFill>
                  <a:latin typeface="Calibri"/>
                  <a:ea typeface="Calibri"/>
                  <a:cs typeface="Calibri"/>
                  <a:sym typeface="Calibri"/>
                </a:rPr>
                <a:t>Localización</a:t>
              </a:r>
              <a:endParaRPr>
                <a:solidFill>
                  <a:schemeClr val="dk1"/>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nvSpPr>
        <p:spPr>
          <a:xfrm>
            <a:off x="300300" y="969925"/>
            <a:ext cx="2154000" cy="400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t/>
            </a:r>
            <a:endParaRPr/>
          </a:p>
        </p:txBody>
      </p:sp>
      <p:sp>
        <p:nvSpPr>
          <p:cNvPr id="311" name="Google Shape;311;p34"/>
          <p:cNvSpPr txBox="1"/>
          <p:nvPr/>
        </p:nvSpPr>
        <p:spPr>
          <a:xfrm>
            <a:off x="367375" y="0"/>
            <a:ext cx="54672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200">
                <a:solidFill>
                  <a:schemeClr val="accent1"/>
                </a:solidFill>
                <a:latin typeface="Libre Franklin"/>
                <a:ea typeface="Libre Franklin"/>
                <a:cs typeface="Libre Franklin"/>
                <a:sym typeface="Libre Franklin"/>
              </a:rPr>
              <a:t>Apartado 06</a:t>
            </a:r>
            <a:br>
              <a:rPr b="1" lang="es" sz="2200">
                <a:solidFill>
                  <a:schemeClr val="accent1"/>
                </a:solidFill>
                <a:latin typeface="Libre Franklin"/>
                <a:ea typeface="Libre Franklin"/>
                <a:cs typeface="Libre Franklin"/>
                <a:sym typeface="Libre Franklin"/>
              </a:rPr>
            </a:br>
            <a:r>
              <a:rPr b="1" lang="es" sz="2200">
                <a:solidFill>
                  <a:schemeClr val="accent5"/>
                </a:solidFill>
                <a:latin typeface="Libre Franklin Medium"/>
                <a:ea typeface="Libre Franklin Medium"/>
                <a:cs typeface="Libre Franklin Medium"/>
                <a:sym typeface="Libre Franklin Medium"/>
              </a:rPr>
              <a:t>Equipo directivo y organización</a:t>
            </a:r>
            <a:endParaRPr b="1" sz="2200">
              <a:solidFill>
                <a:schemeClr val="accent5"/>
              </a:solidFill>
              <a:latin typeface="Libre Franklin"/>
              <a:ea typeface="Libre Franklin"/>
              <a:cs typeface="Libre Franklin"/>
              <a:sym typeface="Libre Franklin"/>
            </a:endParaRPr>
          </a:p>
        </p:txBody>
      </p:sp>
      <p:sp>
        <p:nvSpPr>
          <p:cNvPr id="312" name="Google Shape;312;p34"/>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sp>
        <p:nvSpPr>
          <p:cNvPr id="313" name="Google Shape;313;p34"/>
          <p:cNvSpPr txBox="1"/>
          <p:nvPr/>
        </p:nvSpPr>
        <p:spPr>
          <a:xfrm>
            <a:off x="101850" y="794100"/>
            <a:ext cx="8792400" cy="39000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
                <a:latin typeface="Calibri"/>
                <a:ea typeface="Calibri"/>
                <a:cs typeface="Calibri"/>
                <a:sym typeface="Calibri"/>
              </a:rPr>
              <a:t>El </a:t>
            </a:r>
            <a:r>
              <a:rPr b="1" lang="es">
                <a:latin typeface="Calibri"/>
                <a:ea typeface="Calibri"/>
                <a:cs typeface="Calibri"/>
                <a:sym typeface="Calibri"/>
              </a:rPr>
              <a:t>objetivo principa</a:t>
            </a:r>
            <a:r>
              <a:rPr lang="es">
                <a:latin typeface="Calibri"/>
                <a:ea typeface="Calibri"/>
                <a:cs typeface="Calibri"/>
                <a:sym typeface="Calibri"/>
              </a:rPr>
              <a:t>l es contar un equipo  directivo ágil que coordine el lanzamiento; producción; comercialización e internacionalización del nuevo producto.  Y siempre manteniendo  la esencia de la marca; los </a:t>
            </a:r>
            <a:r>
              <a:rPr lang="es">
                <a:latin typeface="Calibri"/>
                <a:ea typeface="Calibri"/>
                <a:cs typeface="Calibri"/>
                <a:sym typeface="Calibri"/>
              </a:rPr>
              <a:t>estándares</a:t>
            </a:r>
            <a:r>
              <a:rPr lang="es">
                <a:latin typeface="Calibri"/>
                <a:ea typeface="Calibri"/>
                <a:cs typeface="Calibri"/>
                <a:sym typeface="Calibri"/>
              </a:rPr>
              <a:t> de calidad y la sostenibilidad.</a:t>
            </a:r>
            <a:endParaRPr>
              <a:latin typeface="Calibri"/>
              <a:ea typeface="Calibri"/>
              <a:cs typeface="Calibri"/>
              <a:sym typeface="Calibri"/>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314" name="Google Shape;314;p34"/>
          <p:cNvGrpSpPr/>
          <p:nvPr/>
        </p:nvGrpSpPr>
        <p:grpSpPr>
          <a:xfrm>
            <a:off x="300049" y="1664526"/>
            <a:ext cx="7991523" cy="537623"/>
            <a:chOff x="1593000" y="2322568"/>
            <a:chExt cx="5766305" cy="643475"/>
          </a:xfrm>
        </p:grpSpPr>
        <p:sp>
          <p:nvSpPr>
            <p:cNvPr id="315" name="Google Shape;315;p34"/>
            <p:cNvSpPr/>
            <p:nvPr/>
          </p:nvSpPr>
          <p:spPr>
            <a:xfrm rot="-5400000">
              <a:off x="3109180" y="1503216"/>
              <a:ext cx="643350" cy="2282303"/>
            </a:xfrm>
            <a:prstGeom prst="flowChartOffpageConnector">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4"/>
            <p:cNvSpPr/>
            <p:nvPr/>
          </p:nvSpPr>
          <p:spPr>
            <a:xfrm>
              <a:off x="1593000" y="2322568"/>
              <a:ext cx="690000" cy="642300"/>
            </a:xfrm>
            <a:prstGeom prst="rect">
              <a:avLst/>
            </a:prstGeom>
            <a:solidFill>
              <a:schemeClr val="lt1"/>
            </a:solidFill>
            <a:ln cap="flat" cmpd="sng" w="9525">
              <a:solidFill>
                <a:srgbClr val="000000"/>
              </a:solidFill>
              <a:prstDash val="solid"/>
              <a:round/>
              <a:headEnd len="sm" w="sm" type="none"/>
              <a:tailEnd len="sm" w="sm" type="none"/>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4"/>
            <p:cNvSpPr/>
            <p:nvPr/>
          </p:nvSpPr>
          <p:spPr>
            <a:xfrm>
              <a:off x="1593000" y="2322575"/>
              <a:ext cx="690000" cy="642600"/>
            </a:xfrm>
            <a:prstGeom prst="rect">
              <a:avLst/>
            </a:prstGeom>
            <a:solidFill>
              <a:srgbClr val="219BC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2600">
                  <a:solidFill>
                    <a:schemeClr val="dk1"/>
                  </a:solidFill>
                  <a:latin typeface="Calibri"/>
                  <a:ea typeface="Calibri"/>
                  <a:cs typeface="Calibri"/>
                  <a:sym typeface="Calibri"/>
                </a:rPr>
                <a:t>01</a:t>
              </a:r>
              <a:endParaRPr b="1" sz="2600">
                <a:solidFill>
                  <a:schemeClr val="dk1"/>
                </a:solidFill>
                <a:latin typeface="Calibri"/>
                <a:ea typeface="Calibri"/>
                <a:cs typeface="Calibri"/>
                <a:sym typeface="Calibri"/>
              </a:endParaRPr>
            </a:p>
          </p:txBody>
        </p:sp>
        <p:sp>
          <p:nvSpPr>
            <p:cNvPr id="318" name="Google Shape;318;p34"/>
            <p:cNvSpPr/>
            <p:nvPr/>
          </p:nvSpPr>
          <p:spPr>
            <a:xfrm>
              <a:off x="4572005" y="2323743"/>
              <a:ext cx="2787300" cy="6423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800">
                <a:solidFill>
                  <a:srgbClr val="A7291E"/>
                </a:solidFill>
                <a:latin typeface="Roboto"/>
                <a:ea typeface="Roboto"/>
                <a:cs typeface="Roboto"/>
                <a:sym typeface="Roboto"/>
              </a:endParaRPr>
            </a:p>
          </p:txBody>
        </p:sp>
      </p:grpSp>
      <p:grpSp>
        <p:nvGrpSpPr>
          <p:cNvPr id="319" name="Google Shape;319;p34"/>
          <p:cNvGrpSpPr/>
          <p:nvPr/>
        </p:nvGrpSpPr>
        <p:grpSpPr>
          <a:xfrm>
            <a:off x="300209" y="2856418"/>
            <a:ext cx="7991194" cy="643482"/>
            <a:chOff x="1592996" y="2322568"/>
            <a:chExt cx="6064962" cy="643482"/>
          </a:xfrm>
        </p:grpSpPr>
        <p:sp>
          <p:nvSpPr>
            <p:cNvPr id="320" name="Google Shape;320;p34"/>
            <p:cNvSpPr/>
            <p:nvPr/>
          </p:nvSpPr>
          <p:spPr>
            <a:xfrm rot="-5400000">
              <a:off x="3202517" y="1450014"/>
              <a:ext cx="643357" cy="2388711"/>
            </a:xfrm>
            <a:prstGeom prst="flowChartOffpageConnector">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4"/>
            <p:cNvSpPr/>
            <p:nvPr/>
          </p:nvSpPr>
          <p:spPr>
            <a:xfrm>
              <a:off x="1593000" y="2322568"/>
              <a:ext cx="690000" cy="642300"/>
            </a:xfrm>
            <a:prstGeom prst="rect">
              <a:avLst/>
            </a:prstGeom>
            <a:solidFill>
              <a:schemeClr val="lt1"/>
            </a:solidFill>
            <a:ln cap="flat" cmpd="sng" w="9525">
              <a:solidFill>
                <a:srgbClr val="000000"/>
              </a:solidFill>
              <a:prstDash val="solid"/>
              <a:round/>
              <a:headEnd len="sm" w="sm" type="none"/>
              <a:tailEnd len="sm" w="sm" type="none"/>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4"/>
            <p:cNvSpPr/>
            <p:nvPr/>
          </p:nvSpPr>
          <p:spPr>
            <a:xfrm>
              <a:off x="1592996" y="2322571"/>
              <a:ext cx="736800" cy="642600"/>
            </a:xfrm>
            <a:prstGeom prst="rect">
              <a:avLst/>
            </a:prstGeom>
            <a:solidFill>
              <a:schemeClr val="accen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2600">
                  <a:solidFill>
                    <a:schemeClr val="dk1"/>
                  </a:solidFill>
                  <a:latin typeface="Calibri"/>
                  <a:ea typeface="Calibri"/>
                  <a:cs typeface="Calibri"/>
                  <a:sym typeface="Calibri"/>
                </a:rPr>
                <a:t>03</a:t>
              </a:r>
              <a:endParaRPr b="1" sz="2600">
                <a:solidFill>
                  <a:schemeClr val="dk1"/>
                </a:solidFill>
                <a:latin typeface="Calibri"/>
                <a:ea typeface="Calibri"/>
                <a:cs typeface="Calibri"/>
                <a:sym typeface="Calibri"/>
              </a:endParaRPr>
            </a:p>
          </p:txBody>
        </p:sp>
        <p:sp>
          <p:nvSpPr>
            <p:cNvPr id="323" name="Google Shape;323;p34"/>
            <p:cNvSpPr/>
            <p:nvPr/>
          </p:nvSpPr>
          <p:spPr>
            <a:xfrm>
              <a:off x="4718559" y="2323750"/>
              <a:ext cx="2939400" cy="6423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800">
                <a:solidFill>
                  <a:srgbClr val="A7291E"/>
                </a:solidFill>
                <a:latin typeface="Roboto"/>
                <a:ea typeface="Roboto"/>
                <a:cs typeface="Roboto"/>
                <a:sym typeface="Roboto"/>
              </a:endParaRPr>
            </a:p>
          </p:txBody>
        </p:sp>
      </p:grpSp>
      <p:grpSp>
        <p:nvGrpSpPr>
          <p:cNvPr id="324" name="Google Shape;324;p34"/>
          <p:cNvGrpSpPr/>
          <p:nvPr/>
        </p:nvGrpSpPr>
        <p:grpSpPr>
          <a:xfrm>
            <a:off x="300349" y="3446184"/>
            <a:ext cx="7991523" cy="537623"/>
            <a:chOff x="1593000" y="2322568"/>
            <a:chExt cx="5766305" cy="643475"/>
          </a:xfrm>
        </p:grpSpPr>
        <p:sp>
          <p:nvSpPr>
            <p:cNvPr id="325" name="Google Shape;325;p34"/>
            <p:cNvSpPr/>
            <p:nvPr/>
          </p:nvSpPr>
          <p:spPr>
            <a:xfrm rot="-5400000">
              <a:off x="3109180" y="1503216"/>
              <a:ext cx="643350" cy="2282303"/>
            </a:xfrm>
            <a:prstGeom prst="flowChartOffpageConnector">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4"/>
            <p:cNvSpPr/>
            <p:nvPr/>
          </p:nvSpPr>
          <p:spPr>
            <a:xfrm>
              <a:off x="1593000" y="2322568"/>
              <a:ext cx="690000" cy="642300"/>
            </a:xfrm>
            <a:prstGeom prst="rect">
              <a:avLst/>
            </a:prstGeom>
            <a:solidFill>
              <a:schemeClr val="lt1"/>
            </a:solidFill>
            <a:ln cap="flat" cmpd="sng" w="9525">
              <a:solidFill>
                <a:srgbClr val="000000"/>
              </a:solidFill>
              <a:prstDash val="solid"/>
              <a:round/>
              <a:headEnd len="sm" w="sm" type="none"/>
              <a:tailEnd len="sm" w="sm" type="none"/>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4"/>
            <p:cNvSpPr/>
            <p:nvPr/>
          </p:nvSpPr>
          <p:spPr>
            <a:xfrm>
              <a:off x="1593000" y="2322575"/>
              <a:ext cx="690000" cy="642600"/>
            </a:xfrm>
            <a:prstGeom prst="rect">
              <a:avLst/>
            </a:prstGeom>
            <a:solidFill>
              <a:schemeClr val="accen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2600">
                  <a:solidFill>
                    <a:schemeClr val="dk1"/>
                  </a:solidFill>
                  <a:latin typeface="Calibri"/>
                  <a:ea typeface="Calibri"/>
                  <a:cs typeface="Calibri"/>
                  <a:sym typeface="Calibri"/>
                </a:rPr>
                <a:t>04</a:t>
              </a:r>
              <a:endParaRPr b="1" sz="2600">
                <a:solidFill>
                  <a:schemeClr val="dk1"/>
                </a:solidFill>
                <a:latin typeface="Calibri"/>
                <a:ea typeface="Calibri"/>
                <a:cs typeface="Calibri"/>
                <a:sym typeface="Calibri"/>
              </a:endParaRPr>
            </a:p>
          </p:txBody>
        </p:sp>
        <p:sp>
          <p:nvSpPr>
            <p:cNvPr id="328" name="Google Shape;328;p34"/>
            <p:cNvSpPr/>
            <p:nvPr/>
          </p:nvSpPr>
          <p:spPr>
            <a:xfrm>
              <a:off x="4572005" y="2323743"/>
              <a:ext cx="2787300" cy="6423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800">
                <a:solidFill>
                  <a:srgbClr val="A7291E"/>
                </a:solidFill>
                <a:latin typeface="Roboto"/>
                <a:ea typeface="Roboto"/>
                <a:cs typeface="Roboto"/>
                <a:sym typeface="Roboto"/>
              </a:endParaRPr>
            </a:p>
          </p:txBody>
        </p:sp>
      </p:grpSp>
      <p:grpSp>
        <p:nvGrpSpPr>
          <p:cNvPr id="329" name="Google Shape;329;p34"/>
          <p:cNvGrpSpPr/>
          <p:nvPr/>
        </p:nvGrpSpPr>
        <p:grpSpPr>
          <a:xfrm>
            <a:off x="300324" y="3975501"/>
            <a:ext cx="7991523" cy="643475"/>
            <a:chOff x="1593000" y="2322568"/>
            <a:chExt cx="5766305" cy="643475"/>
          </a:xfrm>
        </p:grpSpPr>
        <p:sp>
          <p:nvSpPr>
            <p:cNvPr id="330" name="Google Shape;330;p34"/>
            <p:cNvSpPr/>
            <p:nvPr/>
          </p:nvSpPr>
          <p:spPr>
            <a:xfrm rot="-5400000">
              <a:off x="3109180" y="1503216"/>
              <a:ext cx="643350" cy="2282303"/>
            </a:xfrm>
            <a:prstGeom prst="flowChartOffpageConnector">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4"/>
            <p:cNvSpPr/>
            <p:nvPr/>
          </p:nvSpPr>
          <p:spPr>
            <a:xfrm>
              <a:off x="1593000" y="2322568"/>
              <a:ext cx="690000" cy="642300"/>
            </a:xfrm>
            <a:prstGeom prst="rect">
              <a:avLst/>
            </a:prstGeom>
            <a:solidFill>
              <a:schemeClr val="lt1"/>
            </a:solidFill>
            <a:ln cap="flat" cmpd="sng" w="9525">
              <a:solidFill>
                <a:srgbClr val="000000"/>
              </a:solidFill>
              <a:prstDash val="solid"/>
              <a:round/>
              <a:headEnd len="sm" w="sm" type="none"/>
              <a:tailEnd len="sm" w="sm" type="none"/>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4"/>
            <p:cNvSpPr/>
            <p:nvPr/>
          </p:nvSpPr>
          <p:spPr>
            <a:xfrm>
              <a:off x="1593000" y="2322575"/>
              <a:ext cx="690000" cy="642600"/>
            </a:xfrm>
            <a:prstGeom prst="rect">
              <a:avLst/>
            </a:prstGeom>
            <a:solidFill>
              <a:schemeClr val="accen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2600">
                  <a:solidFill>
                    <a:schemeClr val="dk1"/>
                  </a:solidFill>
                  <a:latin typeface="Calibri"/>
                  <a:ea typeface="Calibri"/>
                  <a:cs typeface="Calibri"/>
                  <a:sym typeface="Calibri"/>
                </a:rPr>
                <a:t>05</a:t>
              </a:r>
              <a:endParaRPr b="1" sz="2600">
                <a:solidFill>
                  <a:schemeClr val="dk1"/>
                </a:solidFill>
                <a:latin typeface="Calibri"/>
                <a:ea typeface="Calibri"/>
                <a:cs typeface="Calibri"/>
                <a:sym typeface="Calibri"/>
              </a:endParaRPr>
            </a:p>
          </p:txBody>
        </p:sp>
        <p:sp>
          <p:nvSpPr>
            <p:cNvPr id="333" name="Google Shape;333;p34"/>
            <p:cNvSpPr/>
            <p:nvPr/>
          </p:nvSpPr>
          <p:spPr>
            <a:xfrm>
              <a:off x="4572005" y="2323743"/>
              <a:ext cx="2787300" cy="6423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800">
                <a:solidFill>
                  <a:srgbClr val="A7291E"/>
                </a:solidFill>
                <a:latin typeface="Roboto"/>
                <a:ea typeface="Roboto"/>
                <a:cs typeface="Roboto"/>
                <a:sym typeface="Roboto"/>
              </a:endParaRPr>
            </a:p>
          </p:txBody>
        </p:sp>
      </p:grpSp>
      <p:grpSp>
        <p:nvGrpSpPr>
          <p:cNvPr id="334" name="Google Shape;334;p34"/>
          <p:cNvGrpSpPr/>
          <p:nvPr/>
        </p:nvGrpSpPr>
        <p:grpSpPr>
          <a:xfrm>
            <a:off x="300340" y="2192170"/>
            <a:ext cx="7991523" cy="664324"/>
            <a:chOff x="1593000" y="2322568"/>
            <a:chExt cx="5766305" cy="643475"/>
          </a:xfrm>
        </p:grpSpPr>
        <p:sp>
          <p:nvSpPr>
            <p:cNvPr id="335" name="Google Shape;335;p34"/>
            <p:cNvSpPr/>
            <p:nvPr/>
          </p:nvSpPr>
          <p:spPr>
            <a:xfrm rot="-5400000">
              <a:off x="3109180" y="1503216"/>
              <a:ext cx="643350" cy="2282303"/>
            </a:xfrm>
            <a:prstGeom prst="flowChartOffpageConnector">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4"/>
            <p:cNvSpPr/>
            <p:nvPr/>
          </p:nvSpPr>
          <p:spPr>
            <a:xfrm>
              <a:off x="1593000" y="2322568"/>
              <a:ext cx="690000" cy="642300"/>
            </a:xfrm>
            <a:prstGeom prst="rect">
              <a:avLst/>
            </a:prstGeom>
            <a:solidFill>
              <a:schemeClr val="lt1"/>
            </a:solidFill>
            <a:ln cap="flat" cmpd="sng" w="9525">
              <a:solidFill>
                <a:srgbClr val="000000"/>
              </a:solidFill>
              <a:prstDash val="solid"/>
              <a:round/>
              <a:headEnd len="sm" w="sm" type="none"/>
              <a:tailEnd len="sm" w="sm" type="none"/>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4"/>
            <p:cNvSpPr/>
            <p:nvPr/>
          </p:nvSpPr>
          <p:spPr>
            <a:xfrm>
              <a:off x="1593073" y="2322582"/>
              <a:ext cx="690000" cy="642600"/>
            </a:xfrm>
            <a:prstGeom prst="rect">
              <a:avLst/>
            </a:prstGeom>
            <a:solidFill>
              <a:srgbClr val="219BC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2600">
                  <a:solidFill>
                    <a:schemeClr val="dk1"/>
                  </a:solidFill>
                  <a:latin typeface="Calibri"/>
                  <a:ea typeface="Calibri"/>
                  <a:cs typeface="Calibri"/>
                  <a:sym typeface="Calibri"/>
                </a:rPr>
                <a:t>02</a:t>
              </a:r>
              <a:endParaRPr b="1" sz="2600">
                <a:solidFill>
                  <a:schemeClr val="dk1"/>
                </a:solidFill>
                <a:latin typeface="Calibri"/>
                <a:ea typeface="Calibri"/>
                <a:cs typeface="Calibri"/>
                <a:sym typeface="Calibri"/>
              </a:endParaRPr>
            </a:p>
          </p:txBody>
        </p:sp>
        <p:sp>
          <p:nvSpPr>
            <p:cNvPr id="338" name="Google Shape;338;p34"/>
            <p:cNvSpPr/>
            <p:nvPr/>
          </p:nvSpPr>
          <p:spPr>
            <a:xfrm>
              <a:off x="4572005" y="2323743"/>
              <a:ext cx="2787300" cy="6423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sz="800">
                <a:solidFill>
                  <a:srgbClr val="A7291E"/>
                </a:solidFill>
                <a:latin typeface="Roboto"/>
                <a:ea typeface="Roboto"/>
                <a:cs typeface="Roboto"/>
                <a:sym typeface="Roboto"/>
              </a:endParaRPr>
            </a:p>
          </p:txBody>
        </p:sp>
      </p:grpSp>
      <p:sp>
        <p:nvSpPr>
          <p:cNvPr id="339" name="Google Shape;339;p34"/>
          <p:cNvSpPr txBox="1"/>
          <p:nvPr/>
        </p:nvSpPr>
        <p:spPr>
          <a:xfrm>
            <a:off x="1506000" y="1725975"/>
            <a:ext cx="26736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alibri"/>
                <a:ea typeface="Calibri"/>
                <a:cs typeface="Calibri"/>
                <a:sym typeface="Calibri"/>
              </a:rPr>
              <a:t>Dirección General</a:t>
            </a:r>
            <a:endParaRPr>
              <a:latin typeface="Calibri"/>
              <a:ea typeface="Calibri"/>
              <a:cs typeface="Calibri"/>
              <a:sym typeface="Calibri"/>
            </a:endParaRPr>
          </a:p>
        </p:txBody>
      </p:sp>
      <p:sp>
        <p:nvSpPr>
          <p:cNvPr id="340" name="Google Shape;340;p34"/>
          <p:cNvSpPr txBox="1"/>
          <p:nvPr/>
        </p:nvSpPr>
        <p:spPr>
          <a:xfrm>
            <a:off x="1340525" y="2250250"/>
            <a:ext cx="29154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alibri"/>
                <a:ea typeface="Calibri"/>
                <a:cs typeface="Calibri"/>
                <a:sym typeface="Calibri"/>
              </a:rPr>
              <a:t>Dirección de Operaciones y logística</a:t>
            </a:r>
            <a:endParaRPr>
              <a:latin typeface="Calibri"/>
              <a:ea typeface="Calibri"/>
              <a:cs typeface="Calibri"/>
              <a:sym typeface="Calibri"/>
            </a:endParaRPr>
          </a:p>
        </p:txBody>
      </p:sp>
      <p:sp>
        <p:nvSpPr>
          <p:cNvPr id="341" name="Google Shape;341;p34"/>
          <p:cNvSpPr txBox="1"/>
          <p:nvPr/>
        </p:nvSpPr>
        <p:spPr>
          <a:xfrm>
            <a:off x="1404150" y="2852175"/>
            <a:ext cx="29154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alibri"/>
                <a:ea typeface="Calibri"/>
                <a:cs typeface="Calibri"/>
                <a:sym typeface="Calibri"/>
              </a:rPr>
              <a:t>Dirección de ventas y marketing</a:t>
            </a:r>
            <a:endParaRPr>
              <a:latin typeface="Calibri"/>
              <a:ea typeface="Calibri"/>
              <a:cs typeface="Calibri"/>
              <a:sym typeface="Calibri"/>
            </a:endParaRPr>
          </a:p>
        </p:txBody>
      </p:sp>
      <p:sp>
        <p:nvSpPr>
          <p:cNvPr id="342" name="Google Shape;342;p34"/>
          <p:cNvSpPr txBox="1"/>
          <p:nvPr/>
        </p:nvSpPr>
        <p:spPr>
          <a:xfrm>
            <a:off x="1404150" y="3495625"/>
            <a:ext cx="27882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alibri"/>
                <a:ea typeface="Calibri"/>
                <a:cs typeface="Calibri"/>
                <a:sym typeface="Calibri"/>
              </a:rPr>
              <a:t>Dirección financiera</a:t>
            </a:r>
            <a:endParaRPr>
              <a:latin typeface="Calibri"/>
              <a:ea typeface="Calibri"/>
              <a:cs typeface="Calibri"/>
              <a:sym typeface="Calibri"/>
            </a:endParaRPr>
          </a:p>
        </p:txBody>
      </p:sp>
      <p:sp>
        <p:nvSpPr>
          <p:cNvPr id="343" name="Google Shape;343;p34"/>
          <p:cNvSpPr txBox="1"/>
          <p:nvPr/>
        </p:nvSpPr>
        <p:spPr>
          <a:xfrm>
            <a:off x="1251375" y="4052525"/>
            <a:ext cx="2828700" cy="7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alibri"/>
                <a:ea typeface="Calibri"/>
                <a:cs typeface="Calibri"/>
                <a:sym typeface="Calibri"/>
              </a:rPr>
              <a:t>Dirección de selección de personas y gestión del talento</a:t>
            </a:r>
            <a:endParaRPr>
              <a:latin typeface="Calibri"/>
              <a:ea typeface="Calibri"/>
              <a:cs typeface="Calibri"/>
              <a:sym typeface="Calibri"/>
            </a:endParaRPr>
          </a:p>
        </p:txBody>
      </p:sp>
      <p:sp>
        <p:nvSpPr>
          <p:cNvPr id="344" name="Google Shape;344;p34"/>
          <p:cNvSpPr txBox="1"/>
          <p:nvPr/>
        </p:nvSpPr>
        <p:spPr>
          <a:xfrm>
            <a:off x="4472425" y="1697275"/>
            <a:ext cx="3679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alibri"/>
                <a:ea typeface="Calibri"/>
                <a:cs typeface="Calibri"/>
                <a:sym typeface="Calibri"/>
              </a:rPr>
              <a:t>Supervisión general</a:t>
            </a:r>
            <a:endParaRPr>
              <a:latin typeface="Calibri"/>
              <a:ea typeface="Calibri"/>
              <a:cs typeface="Calibri"/>
              <a:sym typeface="Calibri"/>
            </a:endParaRPr>
          </a:p>
        </p:txBody>
      </p:sp>
      <p:sp>
        <p:nvSpPr>
          <p:cNvPr id="345" name="Google Shape;345;p34"/>
          <p:cNvSpPr txBox="1"/>
          <p:nvPr/>
        </p:nvSpPr>
        <p:spPr>
          <a:xfrm>
            <a:off x="4472425" y="2290775"/>
            <a:ext cx="3475800" cy="4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alibri"/>
                <a:ea typeface="Calibri"/>
                <a:cs typeface="Calibri"/>
                <a:sym typeface="Calibri"/>
              </a:rPr>
              <a:t>Procesos productivos, calidad y logística</a:t>
            </a:r>
            <a:endParaRPr>
              <a:latin typeface="Calibri"/>
              <a:ea typeface="Calibri"/>
              <a:cs typeface="Calibri"/>
              <a:sym typeface="Calibri"/>
            </a:endParaRPr>
          </a:p>
        </p:txBody>
      </p:sp>
      <p:sp>
        <p:nvSpPr>
          <p:cNvPr id="346" name="Google Shape;346;p34"/>
          <p:cNvSpPr txBox="1"/>
          <p:nvPr/>
        </p:nvSpPr>
        <p:spPr>
          <a:xfrm>
            <a:off x="4529725" y="2951200"/>
            <a:ext cx="3564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alibri"/>
                <a:ea typeface="Calibri"/>
                <a:cs typeface="Calibri"/>
                <a:sym typeface="Calibri"/>
              </a:rPr>
              <a:t>Plan de marketing y ventas				</a:t>
            </a:r>
            <a:endParaRPr>
              <a:latin typeface="Calibri"/>
              <a:ea typeface="Calibri"/>
              <a:cs typeface="Calibri"/>
              <a:sym typeface="Calibri"/>
            </a:endParaRPr>
          </a:p>
        </p:txBody>
      </p:sp>
      <p:sp>
        <p:nvSpPr>
          <p:cNvPr id="347" name="Google Shape;347;p34"/>
          <p:cNvSpPr txBox="1"/>
          <p:nvPr/>
        </p:nvSpPr>
        <p:spPr>
          <a:xfrm>
            <a:off x="4408825" y="3424950"/>
            <a:ext cx="3806700" cy="5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Calibri"/>
                <a:ea typeface="Calibri"/>
                <a:cs typeface="Calibri"/>
                <a:sym typeface="Calibri"/>
              </a:rPr>
              <a:t>Supervisión de gestión económica y financiera</a:t>
            </a:r>
            <a:endParaRPr>
              <a:latin typeface="Calibri"/>
              <a:ea typeface="Calibri"/>
              <a:cs typeface="Calibri"/>
              <a:sym typeface="Calibri"/>
            </a:endParaRPr>
          </a:p>
        </p:txBody>
      </p:sp>
      <p:sp>
        <p:nvSpPr>
          <p:cNvPr id="348" name="Google Shape;348;p34"/>
          <p:cNvSpPr txBox="1"/>
          <p:nvPr/>
        </p:nvSpPr>
        <p:spPr>
          <a:xfrm>
            <a:off x="4408825" y="4078575"/>
            <a:ext cx="3806700" cy="615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a:latin typeface="Calibri"/>
                <a:ea typeface="Calibri"/>
                <a:cs typeface="Calibri"/>
                <a:sym typeface="Calibri"/>
              </a:rPr>
              <a:t>Establecer los requisitos en la selección de personal, políticas del personal  etc. </a:t>
            </a:r>
            <a:endParaRPr>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5"/>
          <p:cNvSpPr txBox="1"/>
          <p:nvPr/>
        </p:nvSpPr>
        <p:spPr>
          <a:xfrm>
            <a:off x="300300" y="969925"/>
            <a:ext cx="2154000" cy="400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t/>
            </a:r>
            <a:endParaRPr/>
          </a:p>
        </p:txBody>
      </p:sp>
      <p:sp>
        <p:nvSpPr>
          <p:cNvPr id="354" name="Google Shape;354;p35"/>
          <p:cNvSpPr txBox="1"/>
          <p:nvPr/>
        </p:nvSpPr>
        <p:spPr>
          <a:xfrm>
            <a:off x="367375" y="0"/>
            <a:ext cx="54672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200">
                <a:solidFill>
                  <a:schemeClr val="accent1"/>
                </a:solidFill>
                <a:latin typeface="Libre Franklin"/>
                <a:ea typeface="Libre Franklin"/>
                <a:cs typeface="Libre Franklin"/>
                <a:sym typeface="Libre Franklin"/>
              </a:rPr>
              <a:t>Apartado 06</a:t>
            </a:r>
            <a:br>
              <a:rPr b="1" lang="es" sz="2200">
                <a:solidFill>
                  <a:schemeClr val="accent1"/>
                </a:solidFill>
                <a:latin typeface="Libre Franklin"/>
                <a:ea typeface="Libre Franklin"/>
                <a:cs typeface="Libre Franklin"/>
                <a:sym typeface="Libre Franklin"/>
              </a:rPr>
            </a:br>
            <a:r>
              <a:rPr b="1" lang="es" sz="2200">
                <a:solidFill>
                  <a:schemeClr val="accent5"/>
                </a:solidFill>
                <a:latin typeface="Libre Franklin Medium"/>
                <a:ea typeface="Libre Franklin Medium"/>
                <a:cs typeface="Libre Franklin Medium"/>
                <a:sym typeface="Libre Franklin Medium"/>
              </a:rPr>
              <a:t>Equipo directivo y organización</a:t>
            </a:r>
            <a:endParaRPr b="1" sz="2200">
              <a:solidFill>
                <a:schemeClr val="accent5"/>
              </a:solidFill>
              <a:latin typeface="Libre Franklin"/>
              <a:ea typeface="Libre Franklin"/>
              <a:cs typeface="Libre Franklin"/>
              <a:sym typeface="Libre Franklin"/>
            </a:endParaRPr>
          </a:p>
        </p:txBody>
      </p:sp>
      <p:sp>
        <p:nvSpPr>
          <p:cNvPr id="355" name="Google Shape;355;p35"/>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sp>
        <p:nvSpPr>
          <p:cNvPr id="356" name="Google Shape;356;p35"/>
          <p:cNvSpPr txBox="1"/>
          <p:nvPr/>
        </p:nvSpPr>
        <p:spPr>
          <a:xfrm>
            <a:off x="101850" y="794100"/>
            <a:ext cx="8792400" cy="39000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 sz="1600">
                <a:latin typeface="Calibri"/>
                <a:ea typeface="Calibri"/>
                <a:cs typeface="Calibri"/>
                <a:sym typeface="Calibri"/>
              </a:rPr>
              <a:t>A continuación se ha de señalar los distintos responsables y otros equipos de apoyo así como departamentos incluidos en los puntos ya mencionados;</a:t>
            </a:r>
            <a:endParaRPr sz="1600">
              <a:latin typeface="Calibri"/>
              <a:ea typeface="Calibri"/>
              <a:cs typeface="Calibri"/>
              <a:sym typeface="Calibri"/>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t/>
            </a:r>
            <a:endParaRPr/>
          </a:p>
          <a:p>
            <a:pPr indent="-323850" lvl="0" marL="457200" rtl="0" algn="just">
              <a:lnSpc>
                <a:spcPct val="115000"/>
              </a:lnSpc>
              <a:spcBef>
                <a:spcPts val="0"/>
              </a:spcBef>
              <a:spcAft>
                <a:spcPts val="0"/>
              </a:spcAft>
              <a:buSzPts val="1500"/>
              <a:buFont typeface="Calibri"/>
              <a:buChar char="-"/>
            </a:pPr>
            <a:r>
              <a:rPr lang="es" sz="1500">
                <a:latin typeface="Calibri"/>
                <a:ea typeface="Calibri"/>
                <a:cs typeface="Calibri"/>
                <a:sym typeface="Calibri"/>
              </a:rPr>
              <a:t>Forma jurídica → SRL.</a:t>
            </a:r>
            <a:endParaRPr sz="1500">
              <a:latin typeface="Calibri"/>
              <a:ea typeface="Calibri"/>
              <a:cs typeface="Calibri"/>
              <a:sym typeface="Calibri"/>
            </a:endParaRPr>
          </a:p>
          <a:p>
            <a:pPr indent="-323850" lvl="0" marL="457200" rtl="0" algn="just">
              <a:lnSpc>
                <a:spcPct val="115000"/>
              </a:lnSpc>
              <a:spcBef>
                <a:spcPts val="0"/>
              </a:spcBef>
              <a:spcAft>
                <a:spcPts val="0"/>
              </a:spcAft>
              <a:buSzPts val="1500"/>
              <a:buFont typeface="Calibri"/>
              <a:buChar char="-"/>
            </a:pPr>
            <a:r>
              <a:rPr lang="es" sz="1500">
                <a:latin typeface="Calibri"/>
                <a:ea typeface="Calibri"/>
                <a:cs typeface="Calibri"/>
                <a:sym typeface="Calibri"/>
              </a:rPr>
              <a:t>Misión→mantenimiento de la frecura y el sabor del pulpo</a:t>
            </a:r>
            <a:endParaRPr sz="1500">
              <a:latin typeface="Calibri"/>
              <a:ea typeface="Calibri"/>
              <a:cs typeface="Calibri"/>
              <a:sym typeface="Calibri"/>
            </a:endParaRPr>
          </a:p>
          <a:p>
            <a:pPr indent="-323850" lvl="0" marL="457200" rtl="0" algn="just">
              <a:lnSpc>
                <a:spcPct val="115000"/>
              </a:lnSpc>
              <a:spcBef>
                <a:spcPts val="0"/>
              </a:spcBef>
              <a:spcAft>
                <a:spcPts val="0"/>
              </a:spcAft>
              <a:buSzPts val="1500"/>
              <a:buFont typeface="Calibri"/>
              <a:buChar char="-"/>
            </a:pPr>
            <a:r>
              <a:rPr lang="es" sz="1500">
                <a:latin typeface="Calibri"/>
                <a:ea typeface="Calibri"/>
                <a:cs typeface="Calibri"/>
                <a:sym typeface="Calibri"/>
              </a:rPr>
              <a:t>Visión→Liderazgo internacional, innovación constante y el uso tecnológico.</a:t>
            </a:r>
            <a:endParaRPr sz="1500">
              <a:latin typeface="Calibri"/>
              <a:ea typeface="Calibri"/>
              <a:cs typeface="Calibri"/>
              <a:sym typeface="Calibri"/>
            </a:endParaRPr>
          </a:p>
        </p:txBody>
      </p:sp>
      <p:graphicFrame>
        <p:nvGraphicFramePr>
          <p:cNvPr id="357" name="Google Shape;357;p35"/>
          <p:cNvGraphicFramePr/>
          <p:nvPr/>
        </p:nvGraphicFramePr>
        <p:xfrm>
          <a:off x="367400" y="1545950"/>
          <a:ext cx="3000000" cy="3000000"/>
        </p:xfrm>
        <a:graphic>
          <a:graphicData uri="http://schemas.openxmlformats.org/drawingml/2006/table">
            <a:tbl>
              <a:tblPr>
                <a:noFill/>
                <a:tableStyleId>{8ABBEE87-62AD-4EDD-BEDA-F695716BED0F}</a:tableStyleId>
              </a:tblPr>
              <a:tblGrid>
                <a:gridCol w="2315200"/>
                <a:gridCol w="3282800"/>
                <a:gridCol w="2799000"/>
              </a:tblGrid>
              <a:tr h="381000">
                <a:tc>
                  <a:txBody>
                    <a:bodyPr/>
                    <a:lstStyle/>
                    <a:p>
                      <a:pPr indent="0" lvl="0" marL="0" rtl="0" algn="l">
                        <a:spcBef>
                          <a:spcPts val="0"/>
                        </a:spcBef>
                        <a:spcAft>
                          <a:spcPts val="0"/>
                        </a:spcAft>
                        <a:buNone/>
                      </a:pPr>
                      <a:r>
                        <a:rPr b="1" lang="es" sz="1600">
                          <a:latin typeface="Calibri"/>
                          <a:ea typeface="Calibri"/>
                          <a:cs typeface="Calibri"/>
                          <a:sym typeface="Calibri"/>
                        </a:rPr>
                        <a:t>Responsable internacional</a:t>
                      </a:r>
                      <a:endParaRPr b="1" sz="1600">
                        <a:latin typeface="Calibri"/>
                        <a:ea typeface="Calibri"/>
                        <a:cs typeface="Calibri"/>
                        <a:sym typeface="Calibri"/>
                      </a:endParaRPr>
                    </a:p>
                  </a:txBody>
                  <a:tcPr marT="91425" marB="91425" marR="91425" marL="91425">
                    <a:lnL cap="flat" cmpd="sng" w="9525">
                      <a:solidFill>
                        <a:srgbClr val="9E9E9E"/>
                      </a:solidFill>
                      <a:prstDash val="dash"/>
                      <a:round/>
                      <a:headEnd len="sm" w="sm" type="none"/>
                      <a:tailEnd len="sm" w="sm" type="none"/>
                    </a:lnL>
                    <a:lnR cap="flat" cmpd="sng" w="9525">
                      <a:solidFill>
                        <a:srgbClr val="9E9E9E"/>
                      </a:solidFill>
                      <a:prstDash val="dash"/>
                      <a:round/>
                      <a:headEnd len="sm" w="sm" type="none"/>
                      <a:tailEnd len="sm" w="sm" type="none"/>
                    </a:lnR>
                    <a:lnT cap="flat" cmpd="sng" w="9525">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solidFill>
                      <a:srgbClr val="219BC3"/>
                    </a:solidFill>
                  </a:tcPr>
                </a:tc>
                <a:tc>
                  <a:txBody>
                    <a:bodyPr/>
                    <a:lstStyle/>
                    <a:p>
                      <a:pPr indent="0" lvl="0" marL="0" rtl="0" algn="l">
                        <a:spcBef>
                          <a:spcPts val="0"/>
                        </a:spcBef>
                        <a:spcAft>
                          <a:spcPts val="0"/>
                        </a:spcAft>
                        <a:buNone/>
                      </a:pPr>
                      <a:r>
                        <a:rPr b="1" lang="es" sz="1600">
                          <a:latin typeface="Calibri"/>
                          <a:ea typeface="Calibri"/>
                          <a:cs typeface="Calibri"/>
                          <a:sym typeface="Calibri"/>
                        </a:rPr>
                        <a:t>Responsable de producción e innovación</a:t>
                      </a:r>
                      <a:endParaRPr b="1" sz="1600">
                        <a:latin typeface="Calibri"/>
                        <a:ea typeface="Calibri"/>
                        <a:cs typeface="Calibri"/>
                        <a:sym typeface="Calibri"/>
                      </a:endParaRPr>
                    </a:p>
                  </a:txBody>
                  <a:tcPr marT="91425" marB="91425" marR="91425" marL="91425">
                    <a:lnL cap="flat" cmpd="sng" w="9525">
                      <a:solidFill>
                        <a:srgbClr val="9E9E9E"/>
                      </a:solidFill>
                      <a:prstDash val="dash"/>
                      <a:round/>
                      <a:headEnd len="sm" w="sm" type="none"/>
                      <a:tailEnd len="sm" w="sm" type="none"/>
                    </a:lnL>
                    <a:lnR cap="flat" cmpd="sng" w="9525">
                      <a:solidFill>
                        <a:srgbClr val="9E9E9E"/>
                      </a:solidFill>
                      <a:prstDash val="dash"/>
                      <a:round/>
                      <a:headEnd len="sm" w="sm" type="none"/>
                      <a:tailEnd len="sm" w="sm" type="none"/>
                    </a:lnR>
                    <a:lnT cap="flat" cmpd="sng" w="9525">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solidFill>
                      <a:schemeClr val="accent1"/>
                    </a:solidFill>
                  </a:tcPr>
                </a:tc>
                <a:tc>
                  <a:txBody>
                    <a:bodyPr/>
                    <a:lstStyle/>
                    <a:p>
                      <a:pPr indent="0" lvl="0" marL="0" rtl="0" algn="l">
                        <a:spcBef>
                          <a:spcPts val="0"/>
                        </a:spcBef>
                        <a:spcAft>
                          <a:spcPts val="0"/>
                        </a:spcAft>
                        <a:buNone/>
                      </a:pPr>
                      <a:r>
                        <a:rPr b="1" lang="es" sz="1600">
                          <a:latin typeface="Calibri"/>
                          <a:ea typeface="Calibri"/>
                          <a:cs typeface="Calibri"/>
                          <a:sym typeface="Calibri"/>
                        </a:rPr>
                        <a:t>Equipo de apoyo y departamentos. </a:t>
                      </a:r>
                      <a:endParaRPr b="1" sz="1600">
                        <a:latin typeface="Calibri"/>
                        <a:ea typeface="Calibri"/>
                        <a:cs typeface="Calibri"/>
                        <a:sym typeface="Calibri"/>
                      </a:endParaRPr>
                    </a:p>
                  </a:txBody>
                  <a:tcPr marT="91425" marB="91425" marR="91425" marL="91425">
                    <a:lnL cap="flat" cmpd="sng" w="9525">
                      <a:solidFill>
                        <a:srgbClr val="9E9E9E"/>
                      </a:solidFill>
                      <a:prstDash val="dash"/>
                      <a:round/>
                      <a:headEnd len="sm" w="sm" type="none"/>
                      <a:tailEnd len="sm" w="sm" type="none"/>
                    </a:lnL>
                    <a:lnR cap="flat" cmpd="sng" w="9525">
                      <a:solidFill>
                        <a:srgbClr val="9E9E9E"/>
                      </a:solidFill>
                      <a:prstDash val="dash"/>
                      <a:round/>
                      <a:headEnd len="sm" w="sm" type="none"/>
                      <a:tailEnd len="sm" w="sm" type="none"/>
                    </a:lnR>
                    <a:lnT cap="flat" cmpd="sng" w="9525">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solidFill>
                      <a:srgbClr val="219BC3"/>
                    </a:solidFill>
                  </a:tcPr>
                </a:tc>
              </a:tr>
              <a:tr h="381000">
                <a:tc>
                  <a:txBody>
                    <a:bodyPr/>
                    <a:lstStyle/>
                    <a:p>
                      <a:pPr indent="0" lvl="0" marL="0" rtl="0" algn="l">
                        <a:spcBef>
                          <a:spcPts val="0"/>
                        </a:spcBef>
                        <a:spcAft>
                          <a:spcPts val="0"/>
                        </a:spcAft>
                        <a:buNone/>
                      </a:pPr>
                      <a:r>
                        <a:rPr lang="es" sz="1600">
                          <a:latin typeface="Calibri"/>
                          <a:ea typeface="Calibri"/>
                          <a:cs typeface="Calibri"/>
                          <a:sym typeface="Calibri"/>
                        </a:rPr>
                        <a:t>Identificación de nuevos mercados y gestionar nuevas exportaciones</a:t>
                      </a:r>
                      <a:endParaRPr sz="1600">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c>
                  <a:txBody>
                    <a:bodyPr/>
                    <a:lstStyle/>
                    <a:p>
                      <a:pPr indent="0" lvl="0" marL="0" rtl="0" algn="l">
                        <a:spcBef>
                          <a:spcPts val="0"/>
                        </a:spcBef>
                        <a:spcAft>
                          <a:spcPts val="0"/>
                        </a:spcAft>
                        <a:buNone/>
                      </a:pPr>
                      <a:r>
                        <a:rPr lang="es" sz="1600">
                          <a:latin typeface="Calibri"/>
                          <a:ea typeface="Calibri"/>
                          <a:cs typeface="Calibri"/>
                          <a:sym typeface="Calibri"/>
                        </a:rPr>
                        <a:t>Nuevas recetas, packaging, I+D en alimentación</a:t>
                      </a:r>
                      <a:endParaRPr sz="1600">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c>
                  <a:txBody>
                    <a:bodyPr/>
                    <a:lstStyle/>
                    <a:p>
                      <a:pPr indent="0" lvl="0" marL="0" rtl="0" algn="l">
                        <a:spcBef>
                          <a:spcPts val="0"/>
                        </a:spcBef>
                        <a:spcAft>
                          <a:spcPts val="0"/>
                        </a:spcAft>
                        <a:buNone/>
                      </a:pPr>
                      <a:r>
                        <a:rPr lang="es" sz="1600">
                          <a:latin typeface="Calibri"/>
                          <a:ea typeface="Calibri"/>
                          <a:cs typeface="Calibri"/>
                          <a:sym typeface="Calibri"/>
                        </a:rPr>
                        <a:t>-Deparmentos de producción.</a:t>
                      </a:r>
                      <a:endParaRPr sz="1600">
                        <a:latin typeface="Calibri"/>
                        <a:ea typeface="Calibri"/>
                        <a:cs typeface="Calibri"/>
                        <a:sym typeface="Calibri"/>
                      </a:endParaRPr>
                    </a:p>
                    <a:p>
                      <a:pPr indent="0" lvl="0" marL="0" rtl="0" algn="l">
                        <a:spcBef>
                          <a:spcPts val="0"/>
                        </a:spcBef>
                        <a:spcAft>
                          <a:spcPts val="0"/>
                        </a:spcAft>
                        <a:buNone/>
                      </a:pPr>
                      <a:r>
                        <a:rPr lang="es" sz="1600">
                          <a:latin typeface="Calibri"/>
                          <a:ea typeface="Calibri"/>
                          <a:cs typeface="Calibri"/>
                          <a:sym typeface="Calibri"/>
                        </a:rPr>
                        <a:t>-Departamento logístico </a:t>
                      </a:r>
                      <a:endParaRPr sz="1600">
                        <a:latin typeface="Calibri"/>
                        <a:ea typeface="Calibri"/>
                        <a:cs typeface="Calibri"/>
                        <a:sym typeface="Calibri"/>
                      </a:endParaRPr>
                    </a:p>
                    <a:p>
                      <a:pPr indent="0" lvl="0" marL="0" rtl="0" algn="l">
                        <a:spcBef>
                          <a:spcPts val="0"/>
                        </a:spcBef>
                        <a:spcAft>
                          <a:spcPts val="0"/>
                        </a:spcAft>
                        <a:buNone/>
                      </a:pPr>
                      <a:r>
                        <a:rPr lang="es" sz="1600">
                          <a:latin typeface="Calibri"/>
                          <a:ea typeface="Calibri"/>
                          <a:cs typeface="Calibri"/>
                          <a:sym typeface="Calibri"/>
                        </a:rPr>
                        <a:t>-Departamento financiero</a:t>
                      </a:r>
                      <a:endParaRPr sz="1600">
                        <a:latin typeface="Calibri"/>
                        <a:ea typeface="Calibri"/>
                        <a:cs typeface="Calibri"/>
                        <a:sym typeface="Calibri"/>
                      </a:endParaRPr>
                    </a:p>
                    <a:p>
                      <a:pPr indent="0" lvl="0" marL="0" rtl="0" algn="l">
                        <a:spcBef>
                          <a:spcPts val="0"/>
                        </a:spcBef>
                        <a:spcAft>
                          <a:spcPts val="0"/>
                        </a:spcAft>
                        <a:buNone/>
                      </a:pPr>
                      <a:r>
                        <a:rPr lang="es" sz="1600">
                          <a:latin typeface="Calibri"/>
                          <a:ea typeface="Calibri"/>
                          <a:cs typeface="Calibri"/>
                          <a:sym typeface="Calibri"/>
                        </a:rPr>
                        <a:t>-Departamento de selección de personal</a:t>
                      </a:r>
                      <a:endParaRPr sz="1600">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6"/>
          <p:cNvSpPr txBox="1"/>
          <p:nvPr/>
        </p:nvSpPr>
        <p:spPr>
          <a:xfrm>
            <a:off x="300300" y="969925"/>
            <a:ext cx="2154000" cy="400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t/>
            </a:r>
            <a:endParaRPr/>
          </a:p>
        </p:txBody>
      </p:sp>
      <p:sp>
        <p:nvSpPr>
          <p:cNvPr id="363" name="Google Shape;363;p36"/>
          <p:cNvSpPr txBox="1"/>
          <p:nvPr/>
        </p:nvSpPr>
        <p:spPr>
          <a:xfrm>
            <a:off x="367375" y="0"/>
            <a:ext cx="49707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200">
                <a:solidFill>
                  <a:schemeClr val="accent1"/>
                </a:solidFill>
                <a:latin typeface="Libre Franklin"/>
                <a:ea typeface="Libre Franklin"/>
                <a:cs typeface="Libre Franklin"/>
                <a:sym typeface="Libre Franklin"/>
              </a:rPr>
              <a:t>Apartado 06</a:t>
            </a:r>
            <a:br>
              <a:rPr b="1" lang="es" sz="2200">
                <a:solidFill>
                  <a:schemeClr val="accent1"/>
                </a:solidFill>
                <a:latin typeface="Libre Franklin"/>
                <a:ea typeface="Libre Franklin"/>
                <a:cs typeface="Libre Franklin"/>
                <a:sym typeface="Libre Franklin"/>
              </a:rPr>
            </a:br>
            <a:r>
              <a:rPr b="1" lang="es" sz="2200">
                <a:solidFill>
                  <a:schemeClr val="accent5"/>
                </a:solidFill>
                <a:latin typeface="Libre Franklin Medium"/>
                <a:ea typeface="Libre Franklin Medium"/>
                <a:cs typeface="Libre Franklin Medium"/>
                <a:sym typeface="Libre Franklin Medium"/>
              </a:rPr>
              <a:t>Equipo directivo y organización</a:t>
            </a:r>
            <a:endParaRPr b="1" sz="2200">
              <a:solidFill>
                <a:schemeClr val="accent5"/>
              </a:solidFill>
              <a:latin typeface="Libre Franklin"/>
              <a:ea typeface="Libre Franklin"/>
              <a:cs typeface="Libre Franklin"/>
              <a:sym typeface="Libre Franklin"/>
            </a:endParaRPr>
          </a:p>
        </p:txBody>
      </p:sp>
      <p:sp>
        <p:nvSpPr>
          <p:cNvPr id="364" name="Google Shape;364;p36"/>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pic>
        <p:nvPicPr>
          <p:cNvPr id="365" name="Google Shape;365;p36"/>
          <p:cNvPicPr preferRelativeResize="0"/>
          <p:nvPr/>
        </p:nvPicPr>
        <p:blipFill>
          <a:blip r:embed="rId3">
            <a:alphaModFix/>
          </a:blip>
          <a:stretch>
            <a:fillRect/>
          </a:stretch>
        </p:blipFill>
        <p:spPr>
          <a:xfrm>
            <a:off x="152400" y="898425"/>
            <a:ext cx="8963025" cy="3743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7"/>
          <p:cNvSpPr txBox="1"/>
          <p:nvPr/>
        </p:nvSpPr>
        <p:spPr>
          <a:xfrm>
            <a:off x="325775" y="794100"/>
            <a:ext cx="8500800" cy="421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b="1" lang="es">
                <a:solidFill>
                  <a:schemeClr val="accent1"/>
                </a:solidFill>
                <a:latin typeface="Calibri"/>
                <a:ea typeface="Calibri"/>
                <a:cs typeface="Calibri"/>
                <a:sym typeface="Calibri"/>
              </a:rPr>
              <a:t>Cuenta de pérdidas y gananciales  previsonales</a:t>
            </a:r>
            <a:endParaRPr b="1">
              <a:solidFill>
                <a:schemeClr val="accent1"/>
              </a:solidFill>
              <a:latin typeface="Calibri"/>
              <a:ea typeface="Calibri"/>
              <a:cs typeface="Calibri"/>
              <a:sym typeface="Calibri"/>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0"/>
              </a:spcAft>
              <a:buNone/>
            </a:pPr>
            <a:r>
              <a:t/>
            </a:r>
            <a:endParaRPr>
              <a:latin typeface="Calibri"/>
              <a:ea typeface="Calibri"/>
              <a:cs typeface="Calibri"/>
              <a:sym typeface="Calibri"/>
            </a:endParaRPr>
          </a:p>
          <a:p>
            <a:pPr indent="0" lvl="0" marL="0" rtl="0" algn="just">
              <a:lnSpc>
                <a:spcPct val="150000"/>
              </a:lnSpc>
              <a:spcBef>
                <a:spcPts val="1200"/>
              </a:spcBef>
              <a:spcAft>
                <a:spcPts val="0"/>
              </a:spcAft>
              <a:buNone/>
            </a:pPr>
            <a:r>
              <a:rPr lang="es">
                <a:latin typeface="Calibri"/>
                <a:ea typeface="Calibri"/>
                <a:cs typeface="Calibri"/>
                <a:sym typeface="Calibri"/>
              </a:rPr>
              <a:t>                          </a:t>
            </a:r>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1200"/>
              </a:spcAft>
              <a:buNone/>
            </a:pPr>
            <a:r>
              <a:t/>
            </a:r>
            <a:endParaRPr/>
          </a:p>
        </p:txBody>
      </p:sp>
      <p:sp>
        <p:nvSpPr>
          <p:cNvPr id="371" name="Google Shape;371;p37"/>
          <p:cNvSpPr txBox="1"/>
          <p:nvPr/>
        </p:nvSpPr>
        <p:spPr>
          <a:xfrm>
            <a:off x="367375" y="0"/>
            <a:ext cx="30000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200">
                <a:solidFill>
                  <a:schemeClr val="accent1"/>
                </a:solidFill>
                <a:latin typeface="Libre Franklin"/>
                <a:ea typeface="Libre Franklin"/>
                <a:cs typeface="Libre Franklin"/>
                <a:sym typeface="Libre Franklin"/>
              </a:rPr>
              <a:t>Apartado 07</a:t>
            </a:r>
            <a:br>
              <a:rPr b="1" lang="es" sz="2200">
                <a:solidFill>
                  <a:schemeClr val="accent1"/>
                </a:solidFill>
                <a:latin typeface="Libre Franklin"/>
                <a:ea typeface="Libre Franklin"/>
                <a:cs typeface="Libre Franklin"/>
                <a:sym typeface="Libre Franklin"/>
              </a:rPr>
            </a:br>
            <a:r>
              <a:rPr b="1" lang="es" sz="2200">
                <a:solidFill>
                  <a:schemeClr val="accent5"/>
                </a:solidFill>
                <a:latin typeface="Libre Franklin Medium"/>
                <a:ea typeface="Libre Franklin Medium"/>
                <a:cs typeface="Libre Franklin Medium"/>
                <a:sym typeface="Libre Franklin Medium"/>
              </a:rPr>
              <a:t>Plan financiero</a:t>
            </a:r>
            <a:endParaRPr b="1" sz="2200">
              <a:solidFill>
                <a:schemeClr val="accent5"/>
              </a:solidFill>
              <a:latin typeface="Libre Franklin"/>
              <a:ea typeface="Libre Franklin"/>
              <a:cs typeface="Libre Franklin"/>
              <a:sym typeface="Libre Franklin"/>
            </a:endParaRPr>
          </a:p>
        </p:txBody>
      </p:sp>
      <p:sp>
        <p:nvSpPr>
          <p:cNvPr id="372" name="Google Shape;372;p37"/>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graphicFrame>
        <p:nvGraphicFramePr>
          <p:cNvPr id="373" name="Google Shape;373;p37"/>
          <p:cNvGraphicFramePr/>
          <p:nvPr/>
        </p:nvGraphicFramePr>
        <p:xfrm>
          <a:off x="956675" y="1509175"/>
          <a:ext cx="3000000" cy="3000000"/>
        </p:xfrm>
        <a:graphic>
          <a:graphicData uri="http://schemas.openxmlformats.org/drawingml/2006/table">
            <a:tbl>
              <a:tblPr>
                <a:noFill/>
                <a:tableStyleId>{8ABBEE87-62AD-4EDD-BEDA-F695716BED0F}</a:tableStyleId>
              </a:tblPr>
              <a:tblGrid>
                <a:gridCol w="1809750"/>
                <a:gridCol w="1809750"/>
                <a:gridCol w="1809750"/>
                <a:gridCol w="1809750"/>
              </a:tblGrid>
              <a:tr h="381000">
                <a:tc>
                  <a:txBody>
                    <a:bodyPr/>
                    <a:lstStyle/>
                    <a:p>
                      <a:pPr indent="0" lvl="0" marL="0" rtl="0" algn="ctr">
                        <a:spcBef>
                          <a:spcPts val="0"/>
                        </a:spcBef>
                        <a:spcAft>
                          <a:spcPts val="0"/>
                        </a:spcAft>
                        <a:buNone/>
                      </a:pPr>
                      <a:r>
                        <a:rPr b="1" lang="es" sz="1500">
                          <a:solidFill>
                            <a:schemeClr val="dk1"/>
                          </a:solidFill>
                          <a:latin typeface="Calibri"/>
                          <a:ea typeface="Calibri"/>
                          <a:cs typeface="Calibri"/>
                          <a:sym typeface="Calibri"/>
                        </a:rPr>
                        <a:t>Concepto</a:t>
                      </a:r>
                      <a:endParaRPr b="1" sz="1500">
                        <a:solidFill>
                          <a:schemeClr val="dk1"/>
                        </a:solidFill>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3C78D8"/>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b="1" lang="es" sz="1500">
                          <a:solidFill>
                            <a:schemeClr val="dk1"/>
                          </a:solidFill>
                          <a:latin typeface="Calibri"/>
                          <a:ea typeface="Calibri"/>
                          <a:cs typeface="Calibri"/>
                          <a:sym typeface="Calibri"/>
                        </a:rPr>
                        <a:t>Año 1</a:t>
                      </a:r>
                      <a:endParaRPr b="1" sz="1500">
                        <a:solidFill>
                          <a:schemeClr val="dk1"/>
                        </a:solidFill>
                        <a:latin typeface="Calibri"/>
                        <a:ea typeface="Calibri"/>
                        <a:cs typeface="Calibri"/>
                        <a:sym typeface="Calibri"/>
                      </a:endParaRPr>
                    </a:p>
                  </a:txBody>
                  <a:tcPr marT="91425" marB="91425" marR="91425" marL="91425">
                    <a:lnL cap="flat" cmpd="sng" w="19050">
                      <a:solidFill>
                        <a:srgbClr val="3C78D8"/>
                      </a:solidFill>
                      <a:prstDash val="dash"/>
                      <a:round/>
                      <a:headEnd len="sm" w="sm" type="none"/>
                      <a:tailEnd len="sm" w="sm" type="none"/>
                    </a:lnL>
                    <a:lnR cap="flat" cmpd="sng" w="19050">
                      <a:solidFill>
                        <a:srgbClr val="6AA84F"/>
                      </a:solidFill>
                      <a:prstDash val="dash"/>
                      <a:round/>
                      <a:headEnd len="sm" w="sm" type="none"/>
                      <a:tailEnd len="sm" w="sm" type="none"/>
                    </a:lnR>
                    <a:lnT cap="flat" cmpd="sng" w="19050">
                      <a:solidFill>
                        <a:srgbClr val="3C78D8"/>
                      </a:solidFill>
                      <a:prstDash val="dash"/>
                      <a:round/>
                      <a:headEnd len="sm" w="sm" type="none"/>
                      <a:tailEnd len="sm" w="sm" type="none"/>
                    </a:lnT>
                    <a:lnB cap="flat" cmpd="sng" w="19050">
                      <a:solidFill>
                        <a:srgbClr val="3C78D8"/>
                      </a:solidFill>
                      <a:prstDash val="dash"/>
                      <a:round/>
                      <a:headEnd len="sm" w="sm" type="none"/>
                      <a:tailEnd len="sm" w="sm" type="none"/>
                    </a:lnB>
                  </a:tcPr>
                </a:tc>
                <a:tc>
                  <a:txBody>
                    <a:bodyPr/>
                    <a:lstStyle/>
                    <a:p>
                      <a:pPr indent="0" lvl="0" marL="0" rtl="0" algn="ctr">
                        <a:spcBef>
                          <a:spcPts val="0"/>
                        </a:spcBef>
                        <a:spcAft>
                          <a:spcPts val="0"/>
                        </a:spcAft>
                        <a:buNone/>
                      </a:pPr>
                      <a:r>
                        <a:rPr b="1" lang="es" sz="1500">
                          <a:solidFill>
                            <a:schemeClr val="dk1"/>
                          </a:solidFill>
                          <a:latin typeface="Calibri"/>
                          <a:ea typeface="Calibri"/>
                          <a:cs typeface="Calibri"/>
                          <a:sym typeface="Calibri"/>
                        </a:rPr>
                        <a:t>Año 2</a:t>
                      </a:r>
                      <a:endParaRPr b="1" sz="1500">
                        <a:solidFill>
                          <a:schemeClr val="dk1"/>
                        </a:solidFill>
                        <a:latin typeface="Calibri"/>
                        <a:ea typeface="Calibri"/>
                        <a:cs typeface="Calibri"/>
                        <a:sym typeface="Calibri"/>
                      </a:endParaRPr>
                    </a:p>
                  </a:txBody>
                  <a:tcPr marT="91425" marB="91425" marR="91425" marL="91425">
                    <a:lnL cap="flat" cmpd="sng" w="19050">
                      <a:solidFill>
                        <a:srgbClr val="6AA84F"/>
                      </a:solidFill>
                      <a:prstDash val="dash"/>
                      <a:round/>
                      <a:headEnd len="sm" w="sm" type="none"/>
                      <a:tailEnd len="sm" w="sm" type="none"/>
                    </a:lnL>
                    <a:lnR cap="flat" cmpd="sng" w="19050">
                      <a:solidFill>
                        <a:srgbClr val="C27BA0"/>
                      </a:solidFill>
                      <a:prstDash val="dash"/>
                      <a:round/>
                      <a:headEnd len="sm" w="sm" type="none"/>
                      <a:tailEnd len="sm" w="sm" type="none"/>
                    </a:lnR>
                    <a:lnT cap="flat" cmpd="sng" w="19050">
                      <a:solidFill>
                        <a:srgbClr val="6AA84F"/>
                      </a:solidFill>
                      <a:prstDash val="dash"/>
                      <a:round/>
                      <a:headEnd len="sm" w="sm" type="none"/>
                      <a:tailEnd len="sm" w="sm" type="none"/>
                    </a:lnT>
                    <a:lnB cap="flat" cmpd="sng" w="19050">
                      <a:solidFill>
                        <a:srgbClr val="6AA84F"/>
                      </a:solidFill>
                      <a:prstDash val="dash"/>
                      <a:round/>
                      <a:headEnd len="sm" w="sm" type="none"/>
                      <a:tailEnd len="sm" w="sm" type="none"/>
                    </a:lnB>
                  </a:tcPr>
                </a:tc>
                <a:tc>
                  <a:txBody>
                    <a:bodyPr/>
                    <a:lstStyle/>
                    <a:p>
                      <a:pPr indent="0" lvl="0" marL="0" rtl="0" algn="ctr">
                        <a:spcBef>
                          <a:spcPts val="0"/>
                        </a:spcBef>
                        <a:spcAft>
                          <a:spcPts val="0"/>
                        </a:spcAft>
                        <a:buNone/>
                      </a:pPr>
                      <a:r>
                        <a:rPr b="1" lang="es" sz="1500">
                          <a:solidFill>
                            <a:schemeClr val="dk1"/>
                          </a:solidFill>
                          <a:latin typeface="Calibri"/>
                          <a:ea typeface="Calibri"/>
                          <a:cs typeface="Calibri"/>
                          <a:sym typeface="Calibri"/>
                        </a:rPr>
                        <a:t>Año 3</a:t>
                      </a:r>
                      <a:endParaRPr b="1" sz="1500">
                        <a:solidFill>
                          <a:schemeClr val="dk1"/>
                        </a:solidFill>
                        <a:latin typeface="Calibri"/>
                        <a:ea typeface="Calibri"/>
                        <a:cs typeface="Calibri"/>
                        <a:sym typeface="Calibri"/>
                      </a:endParaRPr>
                    </a:p>
                  </a:txBody>
                  <a:tcPr marT="91425" marB="91425" marR="91425" marL="91425">
                    <a:lnL cap="flat" cmpd="sng" w="19050">
                      <a:solidFill>
                        <a:srgbClr val="C27BA0"/>
                      </a:solidFill>
                      <a:prstDash val="dash"/>
                      <a:round/>
                      <a:headEnd len="sm" w="sm" type="none"/>
                      <a:tailEnd len="sm" w="sm" type="none"/>
                    </a:lnL>
                    <a:lnR cap="flat" cmpd="sng" w="19050">
                      <a:solidFill>
                        <a:srgbClr val="C27BA0"/>
                      </a:solidFill>
                      <a:prstDash val="dash"/>
                      <a:round/>
                      <a:headEnd len="sm" w="sm" type="none"/>
                      <a:tailEnd len="sm" w="sm" type="none"/>
                    </a:lnR>
                    <a:lnT cap="flat" cmpd="sng" w="19050">
                      <a:solidFill>
                        <a:srgbClr val="C27BA0"/>
                      </a:solidFill>
                      <a:prstDash val="dash"/>
                      <a:round/>
                      <a:headEnd len="sm" w="sm" type="none"/>
                      <a:tailEnd len="sm" w="sm" type="none"/>
                    </a:lnT>
                    <a:lnB cap="flat" cmpd="sng" w="19050">
                      <a:solidFill>
                        <a:srgbClr val="C27BA0"/>
                      </a:solidFill>
                      <a:prstDash val="dash"/>
                      <a:round/>
                      <a:headEnd len="sm" w="sm" type="none"/>
                      <a:tailEnd len="sm" w="sm" type="none"/>
                    </a:lnB>
                  </a:tcPr>
                </a:tc>
              </a:tr>
              <a:tr h="381000">
                <a:tc>
                  <a:txBody>
                    <a:bodyPr/>
                    <a:lstStyle/>
                    <a:p>
                      <a:pPr indent="0" lvl="0" marL="0" rtl="0" algn="ctr">
                        <a:spcBef>
                          <a:spcPts val="0"/>
                        </a:spcBef>
                        <a:spcAft>
                          <a:spcPts val="0"/>
                        </a:spcAft>
                        <a:buNone/>
                      </a:pPr>
                      <a:r>
                        <a:rPr b="1" lang="es" sz="1500">
                          <a:solidFill>
                            <a:schemeClr val="dk1"/>
                          </a:solidFill>
                          <a:latin typeface="Calibri"/>
                          <a:ea typeface="Calibri"/>
                          <a:cs typeface="Calibri"/>
                          <a:sym typeface="Calibri"/>
                        </a:rPr>
                        <a:t>Ingresos totales</a:t>
                      </a:r>
                      <a:endParaRPr b="1" sz="1500">
                        <a:solidFill>
                          <a:schemeClr val="dk1"/>
                        </a:solidFill>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3C78D8"/>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s" sz="1500">
                          <a:solidFill>
                            <a:schemeClr val="dk1"/>
                          </a:solidFill>
                          <a:latin typeface="Calibri"/>
                          <a:ea typeface="Calibri"/>
                          <a:cs typeface="Calibri"/>
                          <a:sym typeface="Calibri"/>
                        </a:rPr>
                        <a:t>10.000.000  €</a:t>
                      </a:r>
                      <a:endParaRPr sz="1500">
                        <a:solidFill>
                          <a:schemeClr val="dk1"/>
                        </a:solidFill>
                        <a:latin typeface="Calibri"/>
                        <a:ea typeface="Calibri"/>
                        <a:cs typeface="Calibri"/>
                        <a:sym typeface="Calibri"/>
                      </a:endParaRPr>
                    </a:p>
                  </a:txBody>
                  <a:tcPr marT="91425" marB="91425" marR="91425" marL="91425">
                    <a:lnL cap="flat" cmpd="sng" w="19050">
                      <a:solidFill>
                        <a:srgbClr val="3C78D8"/>
                      </a:solidFill>
                      <a:prstDash val="dash"/>
                      <a:round/>
                      <a:headEnd len="sm" w="sm" type="none"/>
                      <a:tailEnd len="sm" w="sm" type="none"/>
                    </a:lnL>
                    <a:lnR cap="flat" cmpd="sng" w="19050">
                      <a:solidFill>
                        <a:srgbClr val="6AA84F"/>
                      </a:solidFill>
                      <a:prstDash val="dash"/>
                      <a:round/>
                      <a:headEnd len="sm" w="sm" type="none"/>
                      <a:tailEnd len="sm" w="sm" type="none"/>
                    </a:lnR>
                    <a:lnT cap="flat" cmpd="sng" w="19050">
                      <a:solidFill>
                        <a:srgbClr val="3C78D8"/>
                      </a:solidFill>
                      <a:prstDash val="dash"/>
                      <a:round/>
                      <a:headEnd len="sm" w="sm" type="none"/>
                      <a:tailEnd len="sm" w="sm" type="none"/>
                    </a:lnT>
                    <a:lnB cap="flat" cmpd="sng" w="19050">
                      <a:solidFill>
                        <a:srgbClr val="3C78D8"/>
                      </a:solidFill>
                      <a:prstDash val="dash"/>
                      <a:round/>
                      <a:headEnd len="sm" w="sm" type="none"/>
                      <a:tailEnd len="sm" w="sm" type="none"/>
                    </a:lnB>
                  </a:tcPr>
                </a:tc>
                <a:tc>
                  <a:txBody>
                    <a:bodyPr/>
                    <a:lstStyle/>
                    <a:p>
                      <a:pPr indent="0" lvl="0" marL="0" rtl="0" algn="ctr">
                        <a:spcBef>
                          <a:spcPts val="0"/>
                        </a:spcBef>
                        <a:spcAft>
                          <a:spcPts val="0"/>
                        </a:spcAft>
                        <a:buNone/>
                      </a:pPr>
                      <a:r>
                        <a:rPr lang="es" sz="1500">
                          <a:solidFill>
                            <a:schemeClr val="dk1"/>
                          </a:solidFill>
                          <a:latin typeface="Calibri"/>
                          <a:ea typeface="Calibri"/>
                          <a:cs typeface="Calibri"/>
                          <a:sym typeface="Calibri"/>
                        </a:rPr>
                        <a:t>14.400.000 €</a:t>
                      </a:r>
                      <a:endParaRPr sz="1500">
                        <a:solidFill>
                          <a:schemeClr val="dk1"/>
                        </a:solidFill>
                        <a:latin typeface="Calibri"/>
                        <a:ea typeface="Calibri"/>
                        <a:cs typeface="Calibri"/>
                        <a:sym typeface="Calibri"/>
                      </a:endParaRPr>
                    </a:p>
                  </a:txBody>
                  <a:tcPr marT="91425" marB="91425" marR="91425" marL="91425">
                    <a:lnL cap="flat" cmpd="sng" w="19050">
                      <a:solidFill>
                        <a:srgbClr val="6AA84F"/>
                      </a:solidFill>
                      <a:prstDash val="dash"/>
                      <a:round/>
                      <a:headEnd len="sm" w="sm" type="none"/>
                      <a:tailEnd len="sm" w="sm" type="none"/>
                    </a:lnL>
                    <a:lnR cap="flat" cmpd="sng" w="19050">
                      <a:solidFill>
                        <a:srgbClr val="C27BA0"/>
                      </a:solidFill>
                      <a:prstDash val="dash"/>
                      <a:round/>
                      <a:headEnd len="sm" w="sm" type="none"/>
                      <a:tailEnd len="sm" w="sm" type="none"/>
                    </a:lnR>
                    <a:lnT cap="flat" cmpd="sng" w="19050">
                      <a:solidFill>
                        <a:srgbClr val="6AA84F"/>
                      </a:solidFill>
                      <a:prstDash val="dash"/>
                      <a:round/>
                      <a:headEnd len="sm" w="sm" type="none"/>
                      <a:tailEnd len="sm" w="sm" type="none"/>
                    </a:lnT>
                    <a:lnB cap="flat" cmpd="sng" w="19050">
                      <a:solidFill>
                        <a:srgbClr val="6AA84F"/>
                      </a:solidFill>
                      <a:prstDash val="dash"/>
                      <a:round/>
                      <a:headEnd len="sm" w="sm" type="none"/>
                      <a:tailEnd len="sm" w="sm" type="none"/>
                    </a:lnB>
                  </a:tcPr>
                </a:tc>
                <a:tc>
                  <a:txBody>
                    <a:bodyPr/>
                    <a:lstStyle/>
                    <a:p>
                      <a:pPr indent="0" lvl="0" marL="0" rtl="0" algn="ctr">
                        <a:spcBef>
                          <a:spcPts val="0"/>
                        </a:spcBef>
                        <a:spcAft>
                          <a:spcPts val="0"/>
                        </a:spcAft>
                        <a:buNone/>
                      </a:pPr>
                      <a:r>
                        <a:rPr lang="es" sz="1500">
                          <a:solidFill>
                            <a:schemeClr val="dk1"/>
                          </a:solidFill>
                          <a:latin typeface="Calibri"/>
                          <a:ea typeface="Calibri"/>
                          <a:cs typeface="Calibri"/>
                          <a:sym typeface="Calibri"/>
                        </a:rPr>
                        <a:t>16.900.000 €</a:t>
                      </a:r>
                      <a:endParaRPr sz="1500">
                        <a:solidFill>
                          <a:schemeClr val="dk1"/>
                        </a:solidFill>
                        <a:latin typeface="Calibri"/>
                        <a:ea typeface="Calibri"/>
                        <a:cs typeface="Calibri"/>
                        <a:sym typeface="Calibri"/>
                      </a:endParaRPr>
                    </a:p>
                  </a:txBody>
                  <a:tcPr marT="91425" marB="91425" marR="91425" marL="91425">
                    <a:lnL cap="flat" cmpd="sng" w="19050">
                      <a:solidFill>
                        <a:srgbClr val="C27BA0"/>
                      </a:solidFill>
                      <a:prstDash val="dash"/>
                      <a:round/>
                      <a:headEnd len="sm" w="sm" type="none"/>
                      <a:tailEnd len="sm" w="sm" type="none"/>
                    </a:lnL>
                    <a:lnR cap="flat" cmpd="sng" w="19050">
                      <a:solidFill>
                        <a:srgbClr val="C27BA0"/>
                      </a:solidFill>
                      <a:prstDash val="dash"/>
                      <a:round/>
                      <a:headEnd len="sm" w="sm" type="none"/>
                      <a:tailEnd len="sm" w="sm" type="none"/>
                    </a:lnR>
                    <a:lnT cap="flat" cmpd="sng" w="19050">
                      <a:solidFill>
                        <a:srgbClr val="C27BA0"/>
                      </a:solidFill>
                      <a:prstDash val="dash"/>
                      <a:round/>
                      <a:headEnd len="sm" w="sm" type="none"/>
                      <a:tailEnd len="sm" w="sm" type="none"/>
                    </a:lnT>
                    <a:lnB cap="flat" cmpd="sng" w="19050">
                      <a:solidFill>
                        <a:srgbClr val="C27BA0"/>
                      </a:solidFill>
                      <a:prstDash val="dash"/>
                      <a:round/>
                      <a:headEnd len="sm" w="sm" type="none"/>
                      <a:tailEnd len="sm" w="sm" type="none"/>
                    </a:lnB>
                  </a:tcPr>
                </a:tc>
              </a:tr>
              <a:tr h="381000">
                <a:tc>
                  <a:txBody>
                    <a:bodyPr/>
                    <a:lstStyle/>
                    <a:p>
                      <a:pPr indent="0" lvl="0" marL="0" rtl="0" algn="ctr">
                        <a:spcBef>
                          <a:spcPts val="0"/>
                        </a:spcBef>
                        <a:spcAft>
                          <a:spcPts val="0"/>
                        </a:spcAft>
                        <a:buNone/>
                      </a:pPr>
                      <a:r>
                        <a:rPr b="1" lang="es" sz="1500">
                          <a:solidFill>
                            <a:schemeClr val="dk1"/>
                          </a:solidFill>
                          <a:latin typeface="Calibri"/>
                          <a:ea typeface="Calibri"/>
                          <a:cs typeface="Calibri"/>
                          <a:sym typeface="Calibri"/>
                        </a:rPr>
                        <a:t>Gastos totales</a:t>
                      </a:r>
                      <a:endParaRPr b="1" sz="1500">
                        <a:solidFill>
                          <a:schemeClr val="dk1"/>
                        </a:solidFill>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3C78D8"/>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s" sz="1500">
                          <a:solidFill>
                            <a:schemeClr val="dk1"/>
                          </a:solidFill>
                          <a:latin typeface="Calibri"/>
                          <a:ea typeface="Calibri"/>
                          <a:cs typeface="Calibri"/>
                          <a:sym typeface="Calibri"/>
                        </a:rPr>
                        <a:t>2.862.275 €</a:t>
                      </a:r>
                      <a:endParaRPr sz="1500">
                        <a:solidFill>
                          <a:schemeClr val="dk1"/>
                        </a:solidFill>
                        <a:latin typeface="Calibri"/>
                        <a:ea typeface="Calibri"/>
                        <a:cs typeface="Calibri"/>
                        <a:sym typeface="Calibri"/>
                      </a:endParaRPr>
                    </a:p>
                  </a:txBody>
                  <a:tcPr marT="91425" marB="91425" marR="91425" marL="91425">
                    <a:lnL cap="flat" cmpd="sng" w="19050">
                      <a:solidFill>
                        <a:srgbClr val="3C78D8"/>
                      </a:solidFill>
                      <a:prstDash val="dash"/>
                      <a:round/>
                      <a:headEnd len="sm" w="sm" type="none"/>
                      <a:tailEnd len="sm" w="sm" type="none"/>
                    </a:lnL>
                    <a:lnR cap="flat" cmpd="sng" w="19050">
                      <a:solidFill>
                        <a:srgbClr val="6AA84F"/>
                      </a:solidFill>
                      <a:prstDash val="dash"/>
                      <a:round/>
                      <a:headEnd len="sm" w="sm" type="none"/>
                      <a:tailEnd len="sm" w="sm" type="none"/>
                    </a:lnR>
                    <a:lnT cap="flat" cmpd="sng" w="19050">
                      <a:solidFill>
                        <a:srgbClr val="3C78D8"/>
                      </a:solidFill>
                      <a:prstDash val="dash"/>
                      <a:round/>
                      <a:headEnd len="sm" w="sm" type="none"/>
                      <a:tailEnd len="sm" w="sm" type="none"/>
                    </a:lnT>
                    <a:lnB cap="flat" cmpd="sng" w="19050">
                      <a:solidFill>
                        <a:srgbClr val="3C78D8"/>
                      </a:solidFill>
                      <a:prstDash val="dash"/>
                      <a:round/>
                      <a:headEnd len="sm" w="sm" type="none"/>
                      <a:tailEnd len="sm" w="sm" type="none"/>
                    </a:lnB>
                  </a:tcPr>
                </a:tc>
                <a:tc>
                  <a:txBody>
                    <a:bodyPr/>
                    <a:lstStyle/>
                    <a:p>
                      <a:pPr indent="0" lvl="0" marL="0" rtl="0" algn="ctr">
                        <a:spcBef>
                          <a:spcPts val="0"/>
                        </a:spcBef>
                        <a:spcAft>
                          <a:spcPts val="0"/>
                        </a:spcAft>
                        <a:buNone/>
                      </a:pPr>
                      <a:r>
                        <a:rPr lang="es" sz="1500">
                          <a:solidFill>
                            <a:schemeClr val="dk1"/>
                          </a:solidFill>
                          <a:latin typeface="Calibri"/>
                          <a:ea typeface="Calibri"/>
                          <a:cs typeface="Calibri"/>
                          <a:sym typeface="Calibri"/>
                        </a:rPr>
                        <a:t>4.270.633 €</a:t>
                      </a:r>
                      <a:endParaRPr sz="1500">
                        <a:solidFill>
                          <a:schemeClr val="dk1"/>
                        </a:solidFill>
                        <a:latin typeface="Calibri"/>
                        <a:ea typeface="Calibri"/>
                        <a:cs typeface="Calibri"/>
                        <a:sym typeface="Calibri"/>
                      </a:endParaRPr>
                    </a:p>
                  </a:txBody>
                  <a:tcPr marT="91425" marB="91425" marR="91425" marL="91425">
                    <a:lnL cap="flat" cmpd="sng" w="19050">
                      <a:solidFill>
                        <a:srgbClr val="6AA84F"/>
                      </a:solidFill>
                      <a:prstDash val="dash"/>
                      <a:round/>
                      <a:headEnd len="sm" w="sm" type="none"/>
                      <a:tailEnd len="sm" w="sm" type="none"/>
                    </a:lnL>
                    <a:lnR cap="flat" cmpd="sng" w="19050">
                      <a:solidFill>
                        <a:srgbClr val="C27BA0"/>
                      </a:solidFill>
                      <a:prstDash val="dash"/>
                      <a:round/>
                      <a:headEnd len="sm" w="sm" type="none"/>
                      <a:tailEnd len="sm" w="sm" type="none"/>
                    </a:lnR>
                    <a:lnT cap="flat" cmpd="sng" w="19050">
                      <a:solidFill>
                        <a:srgbClr val="6AA84F"/>
                      </a:solidFill>
                      <a:prstDash val="dash"/>
                      <a:round/>
                      <a:headEnd len="sm" w="sm" type="none"/>
                      <a:tailEnd len="sm" w="sm" type="none"/>
                    </a:lnT>
                    <a:lnB cap="flat" cmpd="sng" w="19050">
                      <a:solidFill>
                        <a:srgbClr val="6AA84F"/>
                      </a:solidFill>
                      <a:prstDash val="dash"/>
                      <a:round/>
                      <a:headEnd len="sm" w="sm" type="none"/>
                      <a:tailEnd len="sm" w="sm" type="none"/>
                    </a:lnB>
                  </a:tcPr>
                </a:tc>
                <a:tc>
                  <a:txBody>
                    <a:bodyPr/>
                    <a:lstStyle/>
                    <a:p>
                      <a:pPr indent="0" lvl="0" marL="0" rtl="0" algn="ctr">
                        <a:spcBef>
                          <a:spcPts val="0"/>
                        </a:spcBef>
                        <a:spcAft>
                          <a:spcPts val="0"/>
                        </a:spcAft>
                        <a:buNone/>
                      </a:pPr>
                      <a:r>
                        <a:rPr lang="es" sz="1500">
                          <a:solidFill>
                            <a:schemeClr val="dk1"/>
                          </a:solidFill>
                          <a:latin typeface="Calibri"/>
                          <a:ea typeface="Calibri"/>
                          <a:cs typeface="Calibri"/>
                          <a:sym typeface="Calibri"/>
                        </a:rPr>
                        <a:t>5.150.725 €</a:t>
                      </a:r>
                      <a:endParaRPr sz="1500">
                        <a:solidFill>
                          <a:schemeClr val="dk1"/>
                        </a:solidFill>
                        <a:latin typeface="Calibri"/>
                        <a:ea typeface="Calibri"/>
                        <a:cs typeface="Calibri"/>
                        <a:sym typeface="Calibri"/>
                      </a:endParaRPr>
                    </a:p>
                  </a:txBody>
                  <a:tcPr marT="91425" marB="91425" marR="91425" marL="91425">
                    <a:lnL cap="flat" cmpd="sng" w="19050">
                      <a:solidFill>
                        <a:srgbClr val="C27BA0"/>
                      </a:solidFill>
                      <a:prstDash val="dash"/>
                      <a:round/>
                      <a:headEnd len="sm" w="sm" type="none"/>
                      <a:tailEnd len="sm" w="sm" type="none"/>
                    </a:lnL>
                    <a:lnR cap="flat" cmpd="sng" w="19050">
                      <a:solidFill>
                        <a:srgbClr val="C27BA0"/>
                      </a:solidFill>
                      <a:prstDash val="dash"/>
                      <a:round/>
                      <a:headEnd len="sm" w="sm" type="none"/>
                      <a:tailEnd len="sm" w="sm" type="none"/>
                    </a:lnR>
                    <a:lnT cap="flat" cmpd="sng" w="19050">
                      <a:solidFill>
                        <a:srgbClr val="C27BA0"/>
                      </a:solidFill>
                      <a:prstDash val="dash"/>
                      <a:round/>
                      <a:headEnd len="sm" w="sm" type="none"/>
                      <a:tailEnd len="sm" w="sm" type="none"/>
                    </a:lnT>
                    <a:lnB cap="flat" cmpd="sng" w="19050">
                      <a:solidFill>
                        <a:srgbClr val="C27BA0"/>
                      </a:solidFill>
                      <a:prstDash val="dash"/>
                      <a:round/>
                      <a:headEnd len="sm" w="sm" type="none"/>
                      <a:tailEnd len="sm" w="sm" type="none"/>
                    </a:lnB>
                  </a:tcPr>
                </a:tc>
              </a:tr>
              <a:tr h="381000">
                <a:tc>
                  <a:txBody>
                    <a:bodyPr/>
                    <a:lstStyle/>
                    <a:p>
                      <a:pPr indent="0" lvl="0" marL="0" rtl="0" algn="ctr">
                        <a:spcBef>
                          <a:spcPts val="0"/>
                        </a:spcBef>
                        <a:spcAft>
                          <a:spcPts val="0"/>
                        </a:spcAft>
                        <a:buNone/>
                      </a:pPr>
                      <a:r>
                        <a:rPr b="1" lang="es" sz="1500">
                          <a:solidFill>
                            <a:schemeClr val="dk1"/>
                          </a:solidFill>
                          <a:latin typeface="Calibri"/>
                          <a:ea typeface="Calibri"/>
                          <a:cs typeface="Calibri"/>
                          <a:sym typeface="Calibri"/>
                        </a:rPr>
                        <a:t>Beneficio Neto</a:t>
                      </a:r>
                      <a:endParaRPr b="1" sz="1500">
                        <a:solidFill>
                          <a:schemeClr val="dk1"/>
                        </a:solidFill>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3C78D8"/>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s" sz="1500">
                          <a:solidFill>
                            <a:schemeClr val="dk1"/>
                          </a:solidFill>
                          <a:latin typeface="Calibri"/>
                          <a:ea typeface="Calibri"/>
                          <a:cs typeface="Calibri"/>
                          <a:sym typeface="Calibri"/>
                        </a:rPr>
                        <a:t>7.135.275 €</a:t>
                      </a:r>
                      <a:endParaRPr sz="1500">
                        <a:solidFill>
                          <a:schemeClr val="dk1"/>
                        </a:solidFill>
                        <a:latin typeface="Calibri"/>
                        <a:ea typeface="Calibri"/>
                        <a:cs typeface="Calibri"/>
                        <a:sym typeface="Calibri"/>
                      </a:endParaRPr>
                    </a:p>
                  </a:txBody>
                  <a:tcPr marT="91425" marB="91425" marR="91425" marL="91425">
                    <a:lnL cap="flat" cmpd="sng" w="19050">
                      <a:solidFill>
                        <a:srgbClr val="3C78D8"/>
                      </a:solidFill>
                      <a:prstDash val="dash"/>
                      <a:round/>
                      <a:headEnd len="sm" w="sm" type="none"/>
                      <a:tailEnd len="sm" w="sm" type="none"/>
                    </a:lnL>
                    <a:lnR cap="flat" cmpd="sng" w="19050">
                      <a:solidFill>
                        <a:srgbClr val="6AA84F"/>
                      </a:solidFill>
                      <a:prstDash val="dash"/>
                      <a:round/>
                      <a:headEnd len="sm" w="sm" type="none"/>
                      <a:tailEnd len="sm" w="sm" type="none"/>
                    </a:lnR>
                    <a:lnT cap="flat" cmpd="sng" w="19050">
                      <a:solidFill>
                        <a:srgbClr val="3C78D8"/>
                      </a:solidFill>
                      <a:prstDash val="dash"/>
                      <a:round/>
                      <a:headEnd len="sm" w="sm" type="none"/>
                      <a:tailEnd len="sm" w="sm" type="none"/>
                    </a:lnT>
                    <a:lnB cap="flat" cmpd="sng" w="19050">
                      <a:solidFill>
                        <a:srgbClr val="3C78D8"/>
                      </a:solidFill>
                      <a:prstDash val="dash"/>
                      <a:round/>
                      <a:headEnd len="sm" w="sm" type="none"/>
                      <a:tailEnd len="sm" w="sm" type="none"/>
                    </a:lnB>
                  </a:tcPr>
                </a:tc>
                <a:tc>
                  <a:txBody>
                    <a:bodyPr/>
                    <a:lstStyle/>
                    <a:p>
                      <a:pPr indent="0" lvl="0" marL="0" rtl="0" algn="ctr">
                        <a:spcBef>
                          <a:spcPts val="0"/>
                        </a:spcBef>
                        <a:spcAft>
                          <a:spcPts val="0"/>
                        </a:spcAft>
                        <a:buNone/>
                      </a:pPr>
                      <a:r>
                        <a:rPr lang="es" sz="1500">
                          <a:solidFill>
                            <a:schemeClr val="dk1"/>
                          </a:solidFill>
                          <a:latin typeface="Calibri"/>
                          <a:ea typeface="Calibri"/>
                          <a:cs typeface="Calibri"/>
                          <a:sym typeface="Calibri"/>
                        </a:rPr>
                        <a:t>10.129.367 €</a:t>
                      </a:r>
                      <a:endParaRPr sz="1500">
                        <a:solidFill>
                          <a:schemeClr val="dk1"/>
                        </a:solidFill>
                        <a:latin typeface="Calibri"/>
                        <a:ea typeface="Calibri"/>
                        <a:cs typeface="Calibri"/>
                        <a:sym typeface="Calibri"/>
                      </a:endParaRPr>
                    </a:p>
                  </a:txBody>
                  <a:tcPr marT="91425" marB="91425" marR="91425" marL="91425">
                    <a:lnL cap="flat" cmpd="sng" w="19050">
                      <a:solidFill>
                        <a:srgbClr val="6AA84F"/>
                      </a:solidFill>
                      <a:prstDash val="dash"/>
                      <a:round/>
                      <a:headEnd len="sm" w="sm" type="none"/>
                      <a:tailEnd len="sm" w="sm" type="none"/>
                    </a:lnL>
                    <a:lnR cap="flat" cmpd="sng" w="19050">
                      <a:solidFill>
                        <a:srgbClr val="C27BA0"/>
                      </a:solidFill>
                      <a:prstDash val="dash"/>
                      <a:round/>
                      <a:headEnd len="sm" w="sm" type="none"/>
                      <a:tailEnd len="sm" w="sm" type="none"/>
                    </a:lnR>
                    <a:lnT cap="flat" cmpd="sng" w="19050">
                      <a:solidFill>
                        <a:srgbClr val="6AA84F"/>
                      </a:solidFill>
                      <a:prstDash val="dash"/>
                      <a:round/>
                      <a:headEnd len="sm" w="sm" type="none"/>
                      <a:tailEnd len="sm" w="sm" type="none"/>
                    </a:lnT>
                    <a:lnB cap="flat" cmpd="sng" w="19050">
                      <a:solidFill>
                        <a:srgbClr val="6AA84F"/>
                      </a:solidFill>
                      <a:prstDash val="dash"/>
                      <a:round/>
                      <a:headEnd len="sm" w="sm" type="none"/>
                      <a:tailEnd len="sm" w="sm" type="none"/>
                    </a:lnB>
                  </a:tcPr>
                </a:tc>
                <a:tc>
                  <a:txBody>
                    <a:bodyPr/>
                    <a:lstStyle/>
                    <a:p>
                      <a:pPr indent="0" lvl="0" marL="0" rtl="0" algn="ctr">
                        <a:spcBef>
                          <a:spcPts val="0"/>
                        </a:spcBef>
                        <a:spcAft>
                          <a:spcPts val="0"/>
                        </a:spcAft>
                        <a:buNone/>
                      </a:pPr>
                      <a:r>
                        <a:rPr lang="es" sz="1500">
                          <a:solidFill>
                            <a:schemeClr val="dk1"/>
                          </a:solidFill>
                          <a:latin typeface="Calibri"/>
                          <a:ea typeface="Calibri"/>
                          <a:cs typeface="Calibri"/>
                          <a:sym typeface="Calibri"/>
                        </a:rPr>
                        <a:t>11.748.275 €</a:t>
                      </a:r>
                      <a:endParaRPr sz="1500">
                        <a:solidFill>
                          <a:schemeClr val="dk1"/>
                        </a:solidFill>
                        <a:latin typeface="Calibri"/>
                        <a:ea typeface="Calibri"/>
                        <a:cs typeface="Calibri"/>
                        <a:sym typeface="Calibri"/>
                      </a:endParaRPr>
                    </a:p>
                  </a:txBody>
                  <a:tcPr marT="91425" marB="91425" marR="91425" marL="91425">
                    <a:lnL cap="flat" cmpd="sng" w="19050">
                      <a:solidFill>
                        <a:srgbClr val="C27BA0"/>
                      </a:solidFill>
                      <a:prstDash val="dash"/>
                      <a:round/>
                      <a:headEnd len="sm" w="sm" type="none"/>
                      <a:tailEnd len="sm" w="sm" type="none"/>
                    </a:lnL>
                    <a:lnR cap="flat" cmpd="sng" w="19050">
                      <a:solidFill>
                        <a:srgbClr val="C27BA0"/>
                      </a:solidFill>
                      <a:prstDash val="dash"/>
                      <a:round/>
                      <a:headEnd len="sm" w="sm" type="none"/>
                      <a:tailEnd len="sm" w="sm" type="none"/>
                    </a:lnR>
                    <a:lnT cap="flat" cmpd="sng" w="19050">
                      <a:solidFill>
                        <a:srgbClr val="C27BA0"/>
                      </a:solidFill>
                      <a:prstDash val="dash"/>
                      <a:round/>
                      <a:headEnd len="sm" w="sm" type="none"/>
                      <a:tailEnd len="sm" w="sm" type="none"/>
                    </a:lnT>
                    <a:lnB cap="flat" cmpd="sng" w="19050">
                      <a:solidFill>
                        <a:srgbClr val="C27BA0"/>
                      </a:solidFill>
                      <a:prstDash val="dash"/>
                      <a:round/>
                      <a:headEnd len="sm" w="sm" type="none"/>
                      <a:tailEnd len="sm" w="sm" type="none"/>
                    </a:lnB>
                  </a:tcPr>
                </a:tc>
              </a:tr>
            </a:tbl>
          </a:graphicData>
        </a:graphic>
      </p:graphicFrame>
      <p:sp>
        <p:nvSpPr>
          <p:cNvPr id="374" name="Google Shape;374;p37"/>
          <p:cNvSpPr/>
          <p:nvPr/>
        </p:nvSpPr>
        <p:spPr>
          <a:xfrm>
            <a:off x="4035125" y="3253725"/>
            <a:ext cx="1082100" cy="649200"/>
          </a:xfrm>
          <a:prstGeom prst="down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37"/>
          <p:cNvSpPr/>
          <p:nvPr/>
        </p:nvSpPr>
        <p:spPr>
          <a:xfrm>
            <a:off x="3033800" y="4001675"/>
            <a:ext cx="2732700" cy="534600"/>
          </a:xfrm>
          <a:prstGeom prst="roundRect">
            <a:avLst>
              <a:gd fmla="val 16667" name="adj"/>
            </a:avLst>
          </a:prstGeom>
          <a:solidFill>
            <a:schemeClr val="lt2"/>
          </a:solidFill>
          <a:ln cap="flat" cmpd="sng" w="19050">
            <a:solidFill>
              <a:srgbClr val="F1C232"/>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lnSpc>
                <a:spcPct val="150000"/>
              </a:lnSpc>
              <a:spcBef>
                <a:spcPts val="1200"/>
              </a:spcBef>
              <a:spcAft>
                <a:spcPts val="1200"/>
              </a:spcAft>
              <a:buNone/>
            </a:pPr>
            <a:r>
              <a:rPr b="1" lang="es" sz="1500">
                <a:latin typeface="Calibri"/>
                <a:ea typeface="Calibri"/>
                <a:cs typeface="Calibri"/>
                <a:sym typeface="Calibri"/>
              </a:rPr>
              <a:t>Beneficio Neto </a:t>
            </a:r>
            <a:r>
              <a:rPr lang="es" sz="1500">
                <a:latin typeface="Calibri"/>
                <a:ea typeface="Calibri"/>
                <a:cs typeface="Calibri"/>
                <a:sym typeface="Calibri"/>
              </a:rPr>
              <a:t>→ + 70%.</a:t>
            </a:r>
            <a:endParaRPr sz="1500">
              <a:latin typeface="Calibri"/>
              <a:ea typeface="Calibri"/>
              <a:cs typeface="Calibri"/>
              <a:sym typeface="Calibri"/>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8"/>
          <p:cNvSpPr txBox="1"/>
          <p:nvPr/>
        </p:nvSpPr>
        <p:spPr>
          <a:xfrm>
            <a:off x="274850" y="949325"/>
            <a:ext cx="8335200" cy="3740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b="1" lang="es">
                <a:solidFill>
                  <a:schemeClr val="accent1"/>
                </a:solidFill>
                <a:latin typeface="Calibri"/>
                <a:ea typeface="Calibri"/>
                <a:cs typeface="Calibri"/>
                <a:sym typeface="Calibri"/>
              </a:rPr>
              <a:t>Indicadores clave de rentabilidad  solvencia</a:t>
            </a:r>
            <a:endParaRPr b="1">
              <a:solidFill>
                <a:schemeClr val="accent1"/>
              </a:solidFill>
              <a:latin typeface="Calibri"/>
              <a:ea typeface="Calibri"/>
              <a:cs typeface="Calibri"/>
              <a:sym typeface="Calibri"/>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0"/>
              </a:spcAft>
              <a:buNone/>
            </a:pPr>
            <a:r>
              <a:t/>
            </a:r>
            <a:endParaRPr/>
          </a:p>
          <a:p>
            <a:pPr indent="0" lvl="0" marL="0" rtl="0" algn="just">
              <a:lnSpc>
                <a:spcPct val="150000"/>
              </a:lnSpc>
              <a:spcBef>
                <a:spcPts val="1200"/>
              </a:spcBef>
              <a:spcAft>
                <a:spcPts val="1200"/>
              </a:spcAft>
              <a:buNone/>
            </a:pPr>
            <a:r>
              <a:t/>
            </a:r>
            <a:endParaRPr/>
          </a:p>
        </p:txBody>
      </p:sp>
      <p:sp>
        <p:nvSpPr>
          <p:cNvPr id="381" name="Google Shape;381;p38"/>
          <p:cNvSpPr txBox="1"/>
          <p:nvPr/>
        </p:nvSpPr>
        <p:spPr>
          <a:xfrm>
            <a:off x="367375" y="0"/>
            <a:ext cx="30000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200">
                <a:solidFill>
                  <a:schemeClr val="accent1"/>
                </a:solidFill>
                <a:latin typeface="Libre Franklin"/>
                <a:ea typeface="Libre Franklin"/>
                <a:cs typeface="Libre Franklin"/>
                <a:sym typeface="Libre Franklin"/>
              </a:rPr>
              <a:t>Apartado 07</a:t>
            </a:r>
            <a:br>
              <a:rPr b="1" lang="es" sz="2200">
                <a:solidFill>
                  <a:schemeClr val="accent1"/>
                </a:solidFill>
                <a:latin typeface="Libre Franklin"/>
                <a:ea typeface="Libre Franklin"/>
                <a:cs typeface="Libre Franklin"/>
                <a:sym typeface="Libre Franklin"/>
              </a:rPr>
            </a:br>
            <a:r>
              <a:rPr b="1" lang="es" sz="2200">
                <a:solidFill>
                  <a:schemeClr val="accent5"/>
                </a:solidFill>
                <a:latin typeface="Libre Franklin Medium"/>
                <a:ea typeface="Libre Franklin Medium"/>
                <a:cs typeface="Libre Franklin Medium"/>
                <a:sym typeface="Libre Franklin Medium"/>
              </a:rPr>
              <a:t>Plan financiero</a:t>
            </a:r>
            <a:endParaRPr b="1" sz="2200">
              <a:solidFill>
                <a:schemeClr val="accent5"/>
              </a:solidFill>
              <a:latin typeface="Libre Franklin"/>
              <a:ea typeface="Libre Franklin"/>
              <a:cs typeface="Libre Franklin"/>
              <a:sym typeface="Libre Franklin"/>
            </a:endParaRPr>
          </a:p>
        </p:txBody>
      </p:sp>
      <p:sp>
        <p:nvSpPr>
          <p:cNvPr id="382" name="Google Shape;382;p38"/>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i="0" lang="es" sz="1400" u="none" cap="none" strike="noStrike">
                <a:solidFill>
                  <a:schemeClr val="accent2"/>
                </a:solidFill>
                <a:latin typeface="Libre Franklin Medium"/>
                <a:ea typeface="Libre Franklin Medium"/>
                <a:cs typeface="Libre Franklin Medium"/>
                <a:sym typeface="Libre Franklin Medium"/>
              </a:rPr>
              <a:t>0</a:t>
            </a:r>
            <a:fld id="{00000000-1234-1234-1234-123412341234}" type="slidenum">
              <a:rPr b="1" i="0" lang="es" sz="1400" u="none" cap="none" strike="noStrike">
                <a:solidFill>
                  <a:schemeClr val="accent2"/>
                </a:solidFill>
                <a:latin typeface="Libre Franklin Medium"/>
                <a:ea typeface="Libre Franklin Medium"/>
                <a:cs typeface="Libre Franklin Medium"/>
                <a:sym typeface="Libre Franklin Medium"/>
              </a:rPr>
              <a:t>‹#›</a:t>
            </a:fld>
            <a:endParaRPr b="1" i="0" sz="1400" u="none" cap="none" strike="noStrike">
              <a:solidFill>
                <a:schemeClr val="accent2"/>
              </a:solidFill>
              <a:latin typeface="Libre Franklin Medium"/>
              <a:ea typeface="Libre Franklin Medium"/>
              <a:cs typeface="Libre Franklin Medium"/>
              <a:sym typeface="Libre Franklin Medium"/>
            </a:endParaRPr>
          </a:p>
        </p:txBody>
      </p:sp>
      <p:graphicFrame>
        <p:nvGraphicFramePr>
          <p:cNvPr id="383" name="Google Shape;383;p38"/>
          <p:cNvGraphicFramePr/>
          <p:nvPr/>
        </p:nvGraphicFramePr>
        <p:xfrm>
          <a:off x="822950" y="1389625"/>
          <a:ext cx="3000000" cy="3000000"/>
        </p:xfrm>
        <a:graphic>
          <a:graphicData uri="http://schemas.openxmlformats.org/drawingml/2006/table">
            <a:tbl>
              <a:tblPr>
                <a:noFill/>
                <a:tableStyleId>{8ABBEE87-62AD-4EDD-BEDA-F695716BED0F}</a:tableStyleId>
              </a:tblPr>
              <a:tblGrid>
                <a:gridCol w="1809750"/>
                <a:gridCol w="1809750"/>
                <a:gridCol w="1809750"/>
                <a:gridCol w="1809750"/>
              </a:tblGrid>
              <a:tr h="381000">
                <a:tc>
                  <a:txBody>
                    <a:bodyPr/>
                    <a:lstStyle/>
                    <a:p>
                      <a:pPr indent="0" lvl="0" marL="0" rtl="0" algn="ctr">
                        <a:spcBef>
                          <a:spcPts val="0"/>
                        </a:spcBef>
                        <a:spcAft>
                          <a:spcPts val="0"/>
                        </a:spcAft>
                        <a:buNone/>
                      </a:pPr>
                      <a:r>
                        <a:rPr b="1" lang="es">
                          <a:latin typeface="Calibri"/>
                          <a:ea typeface="Calibri"/>
                          <a:cs typeface="Calibri"/>
                          <a:sym typeface="Calibri"/>
                        </a:rPr>
                        <a:t>Indicador</a:t>
                      </a:r>
                      <a:endParaRPr b="1">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3C78D8"/>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b="1" lang="es">
                          <a:latin typeface="Calibri"/>
                          <a:ea typeface="Calibri"/>
                          <a:cs typeface="Calibri"/>
                          <a:sym typeface="Calibri"/>
                        </a:rPr>
                        <a:t>Año 1</a:t>
                      </a:r>
                      <a:endParaRPr b="1">
                        <a:latin typeface="Calibri"/>
                        <a:ea typeface="Calibri"/>
                        <a:cs typeface="Calibri"/>
                        <a:sym typeface="Calibri"/>
                      </a:endParaRPr>
                    </a:p>
                  </a:txBody>
                  <a:tcPr marT="91425" marB="91425" marR="91425" marL="91425">
                    <a:lnL cap="flat" cmpd="sng" w="19050">
                      <a:solidFill>
                        <a:srgbClr val="3C78D8"/>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3C78D8"/>
                      </a:solidFill>
                      <a:prstDash val="dash"/>
                      <a:round/>
                      <a:headEnd len="sm" w="sm" type="none"/>
                      <a:tailEnd len="sm" w="sm" type="none"/>
                    </a:lnT>
                    <a:lnB cap="flat" cmpd="sng" w="19050">
                      <a:solidFill>
                        <a:srgbClr val="3C78D8"/>
                      </a:solidFill>
                      <a:prstDash val="dash"/>
                      <a:round/>
                      <a:headEnd len="sm" w="sm" type="none"/>
                      <a:tailEnd len="sm" w="sm" type="none"/>
                    </a:lnB>
                  </a:tcPr>
                </a:tc>
                <a:tc>
                  <a:txBody>
                    <a:bodyPr/>
                    <a:lstStyle/>
                    <a:p>
                      <a:pPr indent="0" lvl="0" marL="0" rtl="0" algn="ctr">
                        <a:spcBef>
                          <a:spcPts val="0"/>
                        </a:spcBef>
                        <a:spcAft>
                          <a:spcPts val="0"/>
                        </a:spcAft>
                        <a:buNone/>
                      </a:pPr>
                      <a:r>
                        <a:rPr b="1" lang="es">
                          <a:latin typeface="Calibri"/>
                          <a:ea typeface="Calibri"/>
                          <a:cs typeface="Calibri"/>
                          <a:sym typeface="Calibri"/>
                        </a:rPr>
                        <a:t>Año 2</a:t>
                      </a:r>
                      <a:endParaRPr b="1">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93C47D"/>
                      </a:solidFill>
                      <a:prstDash val="dash"/>
                      <a:round/>
                      <a:headEnd len="sm" w="sm" type="none"/>
                      <a:tailEnd len="sm" w="sm" type="none"/>
                    </a:lnT>
                    <a:lnB cap="flat" cmpd="sng" w="19050">
                      <a:solidFill>
                        <a:srgbClr val="93C47D"/>
                      </a:solidFill>
                      <a:prstDash val="dash"/>
                      <a:round/>
                      <a:headEnd len="sm" w="sm" type="none"/>
                      <a:tailEnd len="sm" w="sm" type="none"/>
                    </a:lnB>
                  </a:tcPr>
                </a:tc>
                <a:tc>
                  <a:txBody>
                    <a:bodyPr/>
                    <a:lstStyle/>
                    <a:p>
                      <a:pPr indent="0" lvl="0" marL="0" rtl="0" algn="ctr">
                        <a:spcBef>
                          <a:spcPts val="0"/>
                        </a:spcBef>
                        <a:spcAft>
                          <a:spcPts val="0"/>
                        </a:spcAft>
                        <a:buNone/>
                      </a:pPr>
                      <a:r>
                        <a:rPr b="1" lang="es">
                          <a:latin typeface="Calibri"/>
                          <a:ea typeface="Calibri"/>
                          <a:cs typeface="Calibri"/>
                          <a:sym typeface="Calibri"/>
                        </a:rPr>
                        <a:t>Año 3</a:t>
                      </a:r>
                      <a:endParaRPr b="1">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r>
              <a:tr h="381000">
                <a:tc>
                  <a:txBody>
                    <a:bodyPr/>
                    <a:lstStyle/>
                    <a:p>
                      <a:pPr indent="0" lvl="0" marL="0" rtl="0" algn="ctr">
                        <a:spcBef>
                          <a:spcPts val="0"/>
                        </a:spcBef>
                        <a:spcAft>
                          <a:spcPts val="0"/>
                        </a:spcAft>
                        <a:buNone/>
                      </a:pPr>
                      <a:r>
                        <a:rPr b="1" lang="es">
                          <a:latin typeface="Calibri"/>
                          <a:ea typeface="Calibri"/>
                          <a:cs typeface="Calibri"/>
                          <a:sym typeface="Calibri"/>
                        </a:rPr>
                        <a:t>Margen Neto</a:t>
                      </a:r>
                      <a:endParaRPr b="1">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3C78D8"/>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s">
                          <a:latin typeface="Calibri"/>
                          <a:ea typeface="Calibri"/>
                          <a:cs typeface="Calibri"/>
                          <a:sym typeface="Calibri"/>
                        </a:rPr>
                        <a:t>71,4 </a:t>
                      </a:r>
                      <a:r>
                        <a:rPr lang="es">
                          <a:latin typeface="Calibri"/>
                          <a:ea typeface="Calibri"/>
                          <a:cs typeface="Calibri"/>
                          <a:sym typeface="Calibri"/>
                        </a:rPr>
                        <a:t>%</a:t>
                      </a:r>
                      <a:endParaRPr>
                        <a:latin typeface="Calibri"/>
                        <a:ea typeface="Calibri"/>
                        <a:cs typeface="Calibri"/>
                        <a:sym typeface="Calibri"/>
                      </a:endParaRPr>
                    </a:p>
                  </a:txBody>
                  <a:tcPr marT="91425" marB="91425" marR="91425" marL="91425">
                    <a:lnL cap="flat" cmpd="sng" w="19050">
                      <a:solidFill>
                        <a:srgbClr val="3C78D8"/>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3C78D8"/>
                      </a:solidFill>
                      <a:prstDash val="dash"/>
                      <a:round/>
                      <a:headEnd len="sm" w="sm" type="none"/>
                      <a:tailEnd len="sm" w="sm" type="none"/>
                    </a:lnT>
                    <a:lnB cap="flat" cmpd="sng" w="19050">
                      <a:solidFill>
                        <a:srgbClr val="3C78D8"/>
                      </a:solidFill>
                      <a:prstDash val="dash"/>
                      <a:round/>
                      <a:headEnd len="sm" w="sm" type="none"/>
                      <a:tailEnd len="sm" w="sm" type="none"/>
                    </a:lnB>
                  </a:tcPr>
                </a:tc>
                <a:tc>
                  <a:txBody>
                    <a:bodyPr/>
                    <a:lstStyle/>
                    <a:p>
                      <a:pPr indent="0" lvl="0" marL="0" rtl="0" algn="ctr">
                        <a:spcBef>
                          <a:spcPts val="0"/>
                        </a:spcBef>
                        <a:spcAft>
                          <a:spcPts val="0"/>
                        </a:spcAft>
                        <a:buNone/>
                      </a:pPr>
                      <a:r>
                        <a:rPr lang="es">
                          <a:latin typeface="Calibri"/>
                          <a:ea typeface="Calibri"/>
                          <a:cs typeface="Calibri"/>
                          <a:sym typeface="Calibri"/>
                        </a:rPr>
                        <a:t>70,3 %</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93C47D"/>
                      </a:solidFill>
                      <a:prstDash val="dash"/>
                      <a:round/>
                      <a:headEnd len="sm" w="sm" type="none"/>
                      <a:tailEnd len="sm" w="sm" type="none"/>
                    </a:lnT>
                    <a:lnB cap="flat" cmpd="sng" w="19050">
                      <a:solidFill>
                        <a:srgbClr val="93C47D"/>
                      </a:solidFill>
                      <a:prstDash val="dash"/>
                      <a:round/>
                      <a:headEnd len="sm" w="sm" type="none"/>
                      <a:tailEnd len="sm" w="sm" type="none"/>
                    </a:lnB>
                  </a:tcPr>
                </a:tc>
                <a:tc>
                  <a:txBody>
                    <a:bodyPr/>
                    <a:lstStyle/>
                    <a:p>
                      <a:pPr indent="0" lvl="0" marL="0" rtl="0" algn="ctr">
                        <a:spcBef>
                          <a:spcPts val="0"/>
                        </a:spcBef>
                        <a:spcAft>
                          <a:spcPts val="0"/>
                        </a:spcAft>
                        <a:buNone/>
                      </a:pPr>
                      <a:r>
                        <a:rPr lang="es">
                          <a:latin typeface="Calibri"/>
                          <a:ea typeface="Calibri"/>
                          <a:cs typeface="Calibri"/>
                          <a:sym typeface="Calibri"/>
                        </a:rPr>
                        <a:t>69,5 %</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r>
              <a:tr h="381000">
                <a:tc>
                  <a:txBody>
                    <a:bodyPr/>
                    <a:lstStyle/>
                    <a:p>
                      <a:pPr indent="0" lvl="0" marL="0" rtl="0" algn="ctr">
                        <a:spcBef>
                          <a:spcPts val="0"/>
                        </a:spcBef>
                        <a:spcAft>
                          <a:spcPts val="0"/>
                        </a:spcAft>
                        <a:buNone/>
                      </a:pPr>
                      <a:r>
                        <a:rPr b="1" lang="es">
                          <a:latin typeface="Calibri"/>
                          <a:ea typeface="Calibri"/>
                          <a:cs typeface="Calibri"/>
                          <a:sym typeface="Calibri"/>
                        </a:rPr>
                        <a:t>Liquidez </a:t>
                      </a:r>
                      <a:endParaRPr b="1">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3C78D8"/>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s">
                          <a:latin typeface="Calibri"/>
                          <a:ea typeface="Calibri"/>
                          <a:cs typeface="Calibri"/>
                          <a:sym typeface="Calibri"/>
                        </a:rPr>
                        <a:t>25,1 %</a:t>
                      </a:r>
                      <a:endParaRPr>
                        <a:latin typeface="Calibri"/>
                        <a:ea typeface="Calibri"/>
                        <a:cs typeface="Calibri"/>
                        <a:sym typeface="Calibri"/>
                      </a:endParaRPr>
                    </a:p>
                  </a:txBody>
                  <a:tcPr marT="91425" marB="91425" marR="91425" marL="91425">
                    <a:lnL cap="flat" cmpd="sng" w="19050">
                      <a:solidFill>
                        <a:srgbClr val="3C78D8"/>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3C78D8"/>
                      </a:solidFill>
                      <a:prstDash val="dash"/>
                      <a:round/>
                      <a:headEnd len="sm" w="sm" type="none"/>
                      <a:tailEnd len="sm" w="sm" type="none"/>
                    </a:lnT>
                    <a:lnB cap="flat" cmpd="sng" w="19050">
                      <a:solidFill>
                        <a:srgbClr val="3C78D8"/>
                      </a:solidFill>
                      <a:prstDash val="dash"/>
                      <a:round/>
                      <a:headEnd len="sm" w="sm" type="none"/>
                      <a:tailEnd len="sm" w="sm" type="none"/>
                    </a:lnB>
                  </a:tcPr>
                </a:tc>
                <a:tc>
                  <a:txBody>
                    <a:bodyPr/>
                    <a:lstStyle/>
                    <a:p>
                      <a:pPr indent="0" lvl="0" marL="0" rtl="0" algn="ctr">
                        <a:spcBef>
                          <a:spcPts val="0"/>
                        </a:spcBef>
                        <a:spcAft>
                          <a:spcPts val="0"/>
                        </a:spcAft>
                        <a:buNone/>
                      </a:pPr>
                      <a:r>
                        <a:rPr lang="es">
                          <a:latin typeface="Calibri"/>
                          <a:ea typeface="Calibri"/>
                          <a:cs typeface="Calibri"/>
                          <a:sym typeface="Calibri"/>
                        </a:rPr>
                        <a:t>37,3 %</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93C47D"/>
                      </a:solidFill>
                      <a:prstDash val="dash"/>
                      <a:round/>
                      <a:headEnd len="sm" w="sm" type="none"/>
                      <a:tailEnd len="sm" w="sm" type="none"/>
                    </a:lnT>
                    <a:lnB cap="flat" cmpd="sng" w="19050">
                      <a:solidFill>
                        <a:srgbClr val="93C47D"/>
                      </a:solidFill>
                      <a:prstDash val="dash"/>
                      <a:round/>
                      <a:headEnd len="sm" w="sm" type="none"/>
                      <a:tailEnd len="sm" w="sm" type="none"/>
                    </a:lnB>
                  </a:tcPr>
                </a:tc>
                <a:tc>
                  <a:txBody>
                    <a:bodyPr/>
                    <a:lstStyle/>
                    <a:p>
                      <a:pPr indent="0" lvl="0" marL="0" rtl="0" algn="ctr">
                        <a:spcBef>
                          <a:spcPts val="0"/>
                        </a:spcBef>
                        <a:spcAft>
                          <a:spcPts val="0"/>
                        </a:spcAft>
                        <a:buNone/>
                      </a:pPr>
                      <a:r>
                        <a:rPr lang="es">
                          <a:latin typeface="Calibri"/>
                          <a:ea typeface="Calibri"/>
                          <a:cs typeface="Calibri"/>
                          <a:sym typeface="Calibri"/>
                        </a:rPr>
                        <a:t>51,1 %</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r>
              <a:tr h="381000">
                <a:tc>
                  <a:txBody>
                    <a:bodyPr/>
                    <a:lstStyle/>
                    <a:p>
                      <a:pPr indent="0" lvl="0" marL="0" rtl="0" algn="ctr">
                        <a:spcBef>
                          <a:spcPts val="0"/>
                        </a:spcBef>
                        <a:spcAft>
                          <a:spcPts val="0"/>
                        </a:spcAft>
                        <a:buNone/>
                      </a:pPr>
                      <a:r>
                        <a:rPr b="1" lang="es">
                          <a:latin typeface="Calibri"/>
                          <a:ea typeface="Calibri"/>
                          <a:cs typeface="Calibri"/>
                          <a:sym typeface="Calibri"/>
                        </a:rPr>
                        <a:t>Endeudamiento</a:t>
                      </a:r>
                      <a:endParaRPr b="1">
                        <a:latin typeface="Calibri"/>
                        <a:ea typeface="Calibri"/>
                        <a:cs typeface="Calibri"/>
                        <a:sym typeface="Calibri"/>
                      </a:endParaRPr>
                    </a:p>
                  </a:txBody>
                  <a:tcPr marT="91425" marB="91425" marR="91425" marL="91425">
                    <a:lnL cap="flat" cmpd="sng" w="19050">
                      <a:solidFill>
                        <a:srgbClr val="9E9E9E"/>
                      </a:solidFill>
                      <a:prstDash val="dash"/>
                      <a:round/>
                      <a:headEnd len="sm" w="sm" type="none"/>
                      <a:tailEnd len="sm" w="sm" type="none"/>
                    </a:lnL>
                    <a:lnR cap="flat" cmpd="sng" w="19050">
                      <a:solidFill>
                        <a:srgbClr val="3C78D8"/>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s">
                          <a:latin typeface="Calibri"/>
                          <a:ea typeface="Calibri"/>
                          <a:cs typeface="Calibri"/>
                          <a:sym typeface="Calibri"/>
                        </a:rPr>
                        <a:t>0,9 %</a:t>
                      </a:r>
                      <a:endParaRPr>
                        <a:latin typeface="Calibri"/>
                        <a:ea typeface="Calibri"/>
                        <a:cs typeface="Calibri"/>
                        <a:sym typeface="Calibri"/>
                      </a:endParaRPr>
                    </a:p>
                  </a:txBody>
                  <a:tcPr marT="91425" marB="91425" marR="91425" marL="91425">
                    <a:lnL cap="flat" cmpd="sng" w="19050">
                      <a:solidFill>
                        <a:srgbClr val="3C78D8"/>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3C78D8"/>
                      </a:solidFill>
                      <a:prstDash val="dash"/>
                      <a:round/>
                      <a:headEnd len="sm" w="sm" type="none"/>
                      <a:tailEnd len="sm" w="sm" type="none"/>
                    </a:lnT>
                    <a:lnB cap="flat" cmpd="sng" w="19050">
                      <a:solidFill>
                        <a:srgbClr val="3C78D8"/>
                      </a:solidFill>
                      <a:prstDash val="dash"/>
                      <a:round/>
                      <a:headEnd len="sm" w="sm" type="none"/>
                      <a:tailEnd len="sm" w="sm" type="none"/>
                    </a:lnB>
                  </a:tcPr>
                </a:tc>
                <a:tc>
                  <a:txBody>
                    <a:bodyPr/>
                    <a:lstStyle/>
                    <a:p>
                      <a:pPr indent="0" lvl="0" marL="0" rtl="0" algn="ctr">
                        <a:spcBef>
                          <a:spcPts val="0"/>
                        </a:spcBef>
                        <a:spcAft>
                          <a:spcPts val="0"/>
                        </a:spcAft>
                        <a:buNone/>
                      </a:pPr>
                      <a:r>
                        <a:rPr lang="es">
                          <a:latin typeface="Calibri"/>
                          <a:ea typeface="Calibri"/>
                          <a:cs typeface="Calibri"/>
                          <a:sym typeface="Calibri"/>
                        </a:rPr>
                        <a:t>0,35 %</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93C47D"/>
                      </a:solidFill>
                      <a:prstDash val="dash"/>
                      <a:round/>
                      <a:headEnd len="sm" w="sm" type="none"/>
                      <a:tailEnd len="sm" w="sm" type="none"/>
                    </a:lnT>
                    <a:lnB cap="flat" cmpd="sng" w="19050">
                      <a:solidFill>
                        <a:srgbClr val="93C47D"/>
                      </a:solidFill>
                      <a:prstDash val="dash"/>
                      <a:round/>
                      <a:headEnd len="sm" w="sm" type="none"/>
                      <a:tailEnd len="sm" w="sm" type="none"/>
                    </a:lnB>
                  </a:tcPr>
                </a:tc>
                <a:tc>
                  <a:txBody>
                    <a:bodyPr/>
                    <a:lstStyle/>
                    <a:p>
                      <a:pPr indent="0" lvl="0" marL="0" rtl="0" algn="ctr">
                        <a:spcBef>
                          <a:spcPts val="0"/>
                        </a:spcBef>
                        <a:spcAft>
                          <a:spcPts val="0"/>
                        </a:spcAft>
                        <a:buNone/>
                      </a:pPr>
                      <a:r>
                        <a:rPr lang="es">
                          <a:latin typeface="Calibri"/>
                          <a:ea typeface="Calibri"/>
                          <a:cs typeface="Calibri"/>
                          <a:sym typeface="Calibri"/>
                        </a:rPr>
                        <a:t>0,19 %</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tcPr>
                </a:tc>
              </a:tr>
            </a:tbl>
          </a:graphicData>
        </a:graphic>
      </p:graphicFrame>
      <p:sp>
        <p:nvSpPr>
          <p:cNvPr id="384" name="Google Shape;384;p38"/>
          <p:cNvSpPr/>
          <p:nvPr/>
        </p:nvSpPr>
        <p:spPr>
          <a:xfrm>
            <a:off x="823025" y="3508500"/>
            <a:ext cx="7239000" cy="700200"/>
          </a:xfrm>
          <a:prstGeom prst="roundRect">
            <a:avLst>
              <a:gd fmla="val 16667" name="adj"/>
            </a:avLst>
          </a:prstGeom>
          <a:solidFill>
            <a:schemeClr val="lt2"/>
          </a:solidFill>
          <a:ln cap="flat" cmpd="sng" w="19050">
            <a:solidFill>
              <a:srgbClr val="CC0000"/>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t>Margen Neto → Eficiencia operativa.</a:t>
            </a:r>
            <a:endParaRPr/>
          </a:p>
          <a:p>
            <a:pPr indent="0" lvl="0" marL="0" rtl="0" algn="ctr">
              <a:spcBef>
                <a:spcPts val="0"/>
              </a:spcBef>
              <a:spcAft>
                <a:spcPts val="0"/>
              </a:spcAft>
              <a:buNone/>
            </a:pPr>
            <a:r>
              <a:rPr lang="es"/>
              <a:t>Liquidez → Muy alta.</a:t>
            </a:r>
            <a:endParaRPr/>
          </a:p>
          <a:p>
            <a:pPr indent="0" lvl="0" marL="0" rtl="0" algn="ctr">
              <a:spcBef>
                <a:spcPts val="0"/>
              </a:spcBef>
              <a:spcAft>
                <a:spcPts val="0"/>
              </a:spcAft>
              <a:buNone/>
            </a:pPr>
            <a:r>
              <a:rPr lang="es"/>
              <a:t>Endeudamiento → Reduce el riesgo financiero.</a:t>
            </a:r>
            <a:endParaRPr/>
          </a:p>
        </p:txBody>
      </p:sp>
      <p:sp>
        <p:nvSpPr>
          <p:cNvPr id="385" name="Google Shape;385;p38"/>
          <p:cNvSpPr/>
          <p:nvPr/>
        </p:nvSpPr>
        <p:spPr>
          <a:xfrm>
            <a:off x="4026825" y="3031500"/>
            <a:ext cx="687600" cy="477000"/>
          </a:xfrm>
          <a:prstGeom prst="downArrow">
            <a:avLst>
              <a:gd fmla="val 50000" name="adj1"/>
              <a:gd fmla="val 50000" name="adj2"/>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9"/>
          <p:cNvSpPr txBox="1"/>
          <p:nvPr>
            <p:ph type="title"/>
          </p:nvPr>
        </p:nvSpPr>
        <p:spPr>
          <a:xfrm>
            <a:off x="438150" y="285750"/>
            <a:ext cx="2724300" cy="655800"/>
          </a:xfrm>
          <a:prstGeom prst="rect">
            <a:avLst/>
          </a:prstGeom>
          <a:noFill/>
          <a:ln>
            <a:noFill/>
          </a:ln>
        </p:spPr>
        <p:txBody>
          <a:bodyPr anchorCtr="0" anchor="t" bIns="22850" lIns="45725" spcFirstLastPara="1" rIns="45725" wrap="square" tIns="22850">
            <a:spAutoFit/>
          </a:bodyPr>
          <a:lstStyle/>
          <a:p>
            <a:pPr indent="0" lvl="0" marL="0" rtl="0" algn="l">
              <a:lnSpc>
                <a:spcPct val="90000"/>
              </a:lnSpc>
              <a:spcBef>
                <a:spcPts val="0"/>
              </a:spcBef>
              <a:spcAft>
                <a:spcPts val="0"/>
              </a:spcAft>
              <a:buNone/>
            </a:pPr>
            <a:r>
              <a:rPr lang="es">
                <a:solidFill>
                  <a:schemeClr val="accent1"/>
                </a:solidFill>
              </a:rPr>
              <a:t>Apartado 08</a:t>
            </a:r>
            <a:br>
              <a:rPr lang="es">
                <a:solidFill>
                  <a:schemeClr val="accent1"/>
                </a:solidFill>
              </a:rPr>
            </a:br>
            <a:r>
              <a:rPr lang="es">
                <a:solidFill>
                  <a:schemeClr val="accent5"/>
                </a:solidFill>
                <a:latin typeface="Libre Franklin Medium"/>
                <a:ea typeface="Libre Franklin Medium"/>
                <a:cs typeface="Libre Franklin Medium"/>
                <a:sym typeface="Libre Franklin Medium"/>
              </a:rPr>
              <a:t>Conclusiones</a:t>
            </a:r>
            <a:endParaRPr>
              <a:solidFill>
                <a:schemeClr val="accent1"/>
              </a:solidFill>
            </a:endParaRPr>
          </a:p>
        </p:txBody>
      </p:sp>
      <p:sp>
        <p:nvSpPr>
          <p:cNvPr id="391" name="Google Shape;391;p39"/>
          <p:cNvSpPr txBox="1"/>
          <p:nvPr/>
        </p:nvSpPr>
        <p:spPr>
          <a:xfrm>
            <a:off x="8458200" y="4536282"/>
            <a:ext cx="866775" cy="461963"/>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lang="es" sz="1400">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lang="es" sz="1400">
                <a:solidFill>
                  <a:schemeClr val="accent2"/>
                </a:solidFill>
                <a:latin typeface="Libre Franklin Medium"/>
                <a:ea typeface="Libre Franklin Medium"/>
                <a:cs typeface="Libre Franklin Medium"/>
                <a:sym typeface="Libre Franklin Medium"/>
              </a:rPr>
              <a:t>0</a:t>
            </a:r>
            <a:fld id="{00000000-1234-1234-1234-123412341234}" type="slidenum">
              <a:rPr b="1" lang="es" sz="1400">
                <a:solidFill>
                  <a:schemeClr val="accent2"/>
                </a:solidFill>
                <a:latin typeface="Libre Franklin Medium"/>
                <a:ea typeface="Libre Franklin Medium"/>
                <a:cs typeface="Libre Franklin Medium"/>
                <a:sym typeface="Libre Franklin Medium"/>
              </a:rPr>
              <a:t>‹#›</a:t>
            </a:fld>
            <a:endParaRPr b="1" sz="1400">
              <a:solidFill>
                <a:schemeClr val="accent2"/>
              </a:solidFill>
              <a:latin typeface="Libre Franklin Medium"/>
              <a:ea typeface="Libre Franklin Medium"/>
              <a:cs typeface="Libre Franklin Medium"/>
              <a:sym typeface="Libre Franklin Medium"/>
            </a:endParaRPr>
          </a:p>
        </p:txBody>
      </p:sp>
      <p:grpSp>
        <p:nvGrpSpPr>
          <p:cNvPr id="392" name="Google Shape;392;p39"/>
          <p:cNvGrpSpPr/>
          <p:nvPr/>
        </p:nvGrpSpPr>
        <p:grpSpPr>
          <a:xfrm>
            <a:off x="2529704" y="2890600"/>
            <a:ext cx="1854000" cy="1911474"/>
            <a:chOff x="6359407" y="1318151"/>
            <a:chExt cx="1854000" cy="1854000"/>
          </a:xfrm>
        </p:grpSpPr>
        <p:sp>
          <p:nvSpPr>
            <p:cNvPr id="393" name="Google Shape;393;p39"/>
            <p:cNvSpPr/>
            <p:nvPr/>
          </p:nvSpPr>
          <p:spPr>
            <a:xfrm>
              <a:off x="6359407" y="1318151"/>
              <a:ext cx="1854000" cy="1854000"/>
            </a:xfrm>
            <a:prstGeom prst="ellipse">
              <a:avLst/>
            </a:prstGeom>
            <a:solidFill>
              <a:schemeClr val="lt1"/>
            </a:solidFill>
            <a:ln cap="flat" cmpd="sng" w="28575">
              <a:solidFill>
                <a:srgbClr val="FFD96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9"/>
            <p:cNvSpPr txBox="1"/>
            <p:nvPr/>
          </p:nvSpPr>
          <p:spPr>
            <a:xfrm>
              <a:off x="6715875" y="1812956"/>
              <a:ext cx="1290600" cy="834000"/>
            </a:xfrm>
            <a:prstGeom prst="rect">
              <a:avLst/>
            </a:prstGeom>
            <a:solidFill>
              <a:schemeClr val="lt1"/>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s" sz="1200">
                  <a:solidFill>
                    <a:schemeClr val="dk1"/>
                  </a:solidFill>
                  <a:latin typeface="Calibri"/>
                  <a:ea typeface="Calibri"/>
                  <a:cs typeface="Calibri"/>
                  <a:sym typeface="Calibri"/>
                </a:rPr>
                <a:t>Proyecto rentable y sostenible.</a:t>
              </a:r>
              <a:r>
                <a:rPr lang="es" sz="1000">
                  <a:solidFill>
                    <a:schemeClr val="dk1"/>
                  </a:solidFill>
                  <a:latin typeface="Roboto"/>
                  <a:ea typeface="Roboto"/>
                  <a:cs typeface="Roboto"/>
                  <a:sym typeface="Roboto"/>
                </a:rPr>
                <a:t> </a:t>
              </a:r>
              <a:endParaRPr sz="1000">
                <a:solidFill>
                  <a:schemeClr val="dk1"/>
                </a:solidFill>
                <a:latin typeface="Roboto"/>
                <a:ea typeface="Roboto"/>
                <a:cs typeface="Roboto"/>
                <a:sym typeface="Roboto"/>
              </a:endParaRPr>
            </a:p>
          </p:txBody>
        </p:sp>
      </p:grpSp>
      <p:grpSp>
        <p:nvGrpSpPr>
          <p:cNvPr id="395" name="Google Shape;395;p39"/>
          <p:cNvGrpSpPr/>
          <p:nvPr/>
        </p:nvGrpSpPr>
        <p:grpSpPr>
          <a:xfrm>
            <a:off x="4280149" y="822146"/>
            <a:ext cx="1854000" cy="2068508"/>
            <a:chOff x="4455905" y="1644751"/>
            <a:chExt cx="1854000" cy="1854000"/>
          </a:xfrm>
        </p:grpSpPr>
        <p:sp>
          <p:nvSpPr>
            <p:cNvPr id="396" name="Google Shape;396;p39"/>
            <p:cNvSpPr/>
            <p:nvPr/>
          </p:nvSpPr>
          <p:spPr>
            <a:xfrm>
              <a:off x="4455905" y="1644751"/>
              <a:ext cx="1854000" cy="1854000"/>
            </a:xfrm>
            <a:prstGeom prst="ellipse">
              <a:avLst/>
            </a:prstGeom>
            <a:solidFill>
              <a:schemeClr val="lt1"/>
            </a:solid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9"/>
            <p:cNvSpPr txBox="1"/>
            <p:nvPr/>
          </p:nvSpPr>
          <p:spPr>
            <a:xfrm>
              <a:off x="4800955" y="1863586"/>
              <a:ext cx="1082100" cy="1424400"/>
            </a:xfrm>
            <a:prstGeom prst="rect">
              <a:avLst/>
            </a:prstGeom>
            <a:solidFill>
              <a:schemeClr val="lt1"/>
            </a:solidFill>
            <a:ln cap="flat" cmpd="sng" w="2857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s" sz="1100">
                  <a:solidFill>
                    <a:schemeClr val="dk1"/>
                  </a:solidFill>
                  <a:latin typeface="Calibri"/>
                  <a:ea typeface="Calibri"/>
                  <a:cs typeface="Calibri"/>
                  <a:sym typeface="Calibri"/>
                </a:rPr>
                <a:t>Nuevo producto→ Mezcla de dos culturas. </a:t>
              </a:r>
              <a:endParaRPr sz="1100">
                <a:solidFill>
                  <a:schemeClr val="dk1"/>
                </a:solidFill>
                <a:latin typeface="Calibri"/>
                <a:ea typeface="Calibri"/>
                <a:cs typeface="Calibri"/>
                <a:sym typeface="Calibri"/>
              </a:endParaRPr>
            </a:p>
            <a:p>
              <a:pPr indent="0" lvl="0" marL="0" rtl="0" algn="ctr">
                <a:lnSpc>
                  <a:spcPct val="100000"/>
                </a:lnSpc>
                <a:spcBef>
                  <a:spcPts val="0"/>
                </a:spcBef>
                <a:spcAft>
                  <a:spcPts val="0"/>
                </a:spcAft>
                <a:buNone/>
              </a:pPr>
              <a:r>
                <a:rPr lang="es" sz="1100">
                  <a:solidFill>
                    <a:schemeClr val="dk1"/>
                  </a:solidFill>
                  <a:latin typeface="Calibri"/>
                  <a:ea typeface="Calibri"/>
                  <a:cs typeface="Calibri"/>
                  <a:sym typeface="Calibri"/>
                </a:rPr>
                <a:t>Pueden optar por el ceviche tradicional y distintos sabor</a:t>
              </a:r>
              <a:r>
                <a:rPr lang="es" sz="1000">
                  <a:solidFill>
                    <a:schemeClr val="dk1"/>
                  </a:solidFill>
                  <a:latin typeface="Roboto"/>
                  <a:ea typeface="Roboto"/>
                  <a:cs typeface="Roboto"/>
                  <a:sym typeface="Roboto"/>
                </a:rPr>
                <a:t>es.</a:t>
              </a:r>
              <a:r>
                <a:rPr lang="es" sz="1000">
                  <a:solidFill>
                    <a:srgbClr val="FFFFFF"/>
                  </a:solidFill>
                  <a:latin typeface="Roboto"/>
                  <a:ea typeface="Roboto"/>
                  <a:cs typeface="Roboto"/>
                  <a:sym typeface="Roboto"/>
                </a:rPr>
                <a:t>ss.</a:t>
              </a:r>
              <a:endParaRPr sz="1000">
                <a:solidFill>
                  <a:srgbClr val="FFFFFF"/>
                </a:solidFill>
                <a:latin typeface="Roboto"/>
                <a:ea typeface="Roboto"/>
                <a:cs typeface="Roboto"/>
                <a:sym typeface="Roboto"/>
              </a:endParaRPr>
            </a:p>
          </p:txBody>
        </p:sp>
      </p:grpSp>
      <p:grpSp>
        <p:nvGrpSpPr>
          <p:cNvPr id="398" name="Google Shape;398;p39"/>
          <p:cNvGrpSpPr/>
          <p:nvPr/>
        </p:nvGrpSpPr>
        <p:grpSpPr>
          <a:xfrm>
            <a:off x="2654349" y="822015"/>
            <a:ext cx="1854000" cy="2068508"/>
            <a:chOff x="2834102" y="1644762"/>
            <a:chExt cx="1854000" cy="1854000"/>
          </a:xfrm>
        </p:grpSpPr>
        <p:sp>
          <p:nvSpPr>
            <p:cNvPr id="399" name="Google Shape;399;p39"/>
            <p:cNvSpPr/>
            <p:nvPr/>
          </p:nvSpPr>
          <p:spPr>
            <a:xfrm>
              <a:off x="2834102" y="1644762"/>
              <a:ext cx="1854000" cy="1854000"/>
            </a:xfrm>
            <a:prstGeom prst="ellipse">
              <a:avLst/>
            </a:prstGeom>
            <a:solidFill>
              <a:schemeClr val="lt1"/>
            </a:solidFill>
            <a:ln cap="flat" cmpd="sng" w="28575">
              <a:solidFill>
                <a:srgbClr val="65F0A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9"/>
            <p:cNvSpPr txBox="1"/>
            <p:nvPr/>
          </p:nvSpPr>
          <p:spPr>
            <a:xfrm>
              <a:off x="3165302" y="1761080"/>
              <a:ext cx="1290600" cy="1388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s" sz="1100">
                  <a:solidFill>
                    <a:schemeClr val="dk1"/>
                  </a:solidFill>
                  <a:latin typeface="Calibri"/>
                  <a:ea typeface="Calibri"/>
                  <a:cs typeface="Calibri"/>
                  <a:sym typeface="Calibri"/>
                </a:rPr>
                <a:t>Rápida consumición. </a:t>
              </a:r>
              <a:endParaRPr sz="1100">
                <a:solidFill>
                  <a:schemeClr val="dk1"/>
                </a:solidFill>
                <a:latin typeface="Calibri"/>
                <a:ea typeface="Calibri"/>
                <a:cs typeface="Calibri"/>
                <a:sym typeface="Calibri"/>
              </a:endParaRPr>
            </a:p>
            <a:p>
              <a:pPr indent="0" lvl="0" marL="0" rtl="0" algn="ctr">
                <a:lnSpc>
                  <a:spcPct val="115000"/>
                </a:lnSpc>
                <a:spcBef>
                  <a:spcPts val="0"/>
                </a:spcBef>
                <a:spcAft>
                  <a:spcPts val="0"/>
                </a:spcAft>
                <a:buNone/>
              </a:pPr>
              <a:r>
                <a:rPr lang="es" sz="1100">
                  <a:solidFill>
                    <a:schemeClr val="dk1"/>
                  </a:solidFill>
                  <a:latin typeface="Calibri"/>
                  <a:ea typeface="Calibri"/>
                  <a:cs typeface="Calibri"/>
                  <a:sym typeface="Calibri"/>
                </a:rPr>
                <a:t>Objetivo general: innovación del producto y fortalecer su posición →entrada de nuevo producto</a:t>
              </a:r>
              <a:endParaRPr sz="1100">
                <a:solidFill>
                  <a:schemeClr val="dk1"/>
                </a:solidFill>
                <a:latin typeface="Calibri"/>
                <a:ea typeface="Calibri"/>
                <a:cs typeface="Calibri"/>
                <a:sym typeface="Calibri"/>
              </a:endParaRPr>
            </a:p>
          </p:txBody>
        </p:sp>
      </p:grpSp>
      <p:grpSp>
        <p:nvGrpSpPr>
          <p:cNvPr id="401" name="Google Shape;401;p39"/>
          <p:cNvGrpSpPr/>
          <p:nvPr/>
        </p:nvGrpSpPr>
        <p:grpSpPr>
          <a:xfrm>
            <a:off x="998374" y="822017"/>
            <a:ext cx="1854000" cy="2068508"/>
            <a:chOff x="1212300" y="1644762"/>
            <a:chExt cx="1854000" cy="1854000"/>
          </a:xfrm>
        </p:grpSpPr>
        <p:sp>
          <p:nvSpPr>
            <p:cNvPr id="402" name="Google Shape;402;p39"/>
            <p:cNvSpPr/>
            <p:nvPr/>
          </p:nvSpPr>
          <p:spPr>
            <a:xfrm>
              <a:off x="1212300" y="1644762"/>
              <a:ext cx="1854000" cy="1854000"/>
            </a:xfrm>
            <a:prstGeom prst="ellipse">
              <a:avLst/>
            </a:prstGeom>
            <a:solidFill>
              <a:schemeClr val="lt1"/>
            </a:solidFill>
            <a:ln cap="flat" cmpd="sng" w="28575">
              <a:solidFill>
                <a:srgbClr val="219BC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9"/>
            <p:cNvSpPr txBox="1"/>
            <p:nvPr/>
          </p:nvSpPr>
          <p:spPr>
            <a:xfrm>
              <a:off x="1576650" y="1845234"/>
              <a:ext cx="1125300" cy="1305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 sz="1200">
                  <a:solidFill>
                    <a:schemeClr val="dk1"/>
                  </a:solidFill>
                  <a:latin typeface="Calibri"/>
                  <a:ea typeface="Calibri"/>
                  <a:cs typeface="Calibri"/>
                  <a:sym typeface="Calibri"/>
                </a:rPr>
                <a:t>Base solida para transformarse en un modelo  de negocio más innovador y competitivo.</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000">
                <a:solidFill>
                  <a:srgbClr val="FFFFFF"/>
                </a:solidFill>
                <a:latin typeface="Roboto"/>
                <a:ea typeface="Roboto"/>
                <a:cs typeface="Roboto"/>
                <a:sym typeface="Roboto"/>
              </a:endParaRPr>
            </a:p>
          </p:txBody>
        </p:sp>
      </p:grpSp>
      <p:grpSp>
        <p:nvGrpSpPr>
          <p:cNvPr id="404" name="Google Shape;404;p39"/>
          <p:cNvGrpSpPr/>
          <p:nvPr/>
        </p:nvGrpSpPr>
        <p:grpSpPr>
          <a:xfrm>
            <a:off x="6054064" y="879719"/>
            <a:ext cx="1853907" cy="2011069"/>
            <a:chOff x="6077700" y="1548125"/>
            <a:chExt cx="1983000" cy="1950600"/>
          </a:xfrm>
        </p:grpSpPr>
        <p:sp>
          <p:nvSpPr>
            <p:cNvPr id="405" name="Google Shape;405;p39"/>
            <p:cNvSpPr/>
            <p:nvPr/>
          </p:nvSpPr>
          <p:spPr>
            <a:xfrm>
              <a:off x="6077700" y="1548125"/>
              <a:ext cx="1983000" cy="1950600"/>
            </a:xfrm>
            <a:prstGeom prst="ellipse">
              <a:avLst/>
            </a:prstGeom>
            <a:solidFill>
              <a:schemeClr val="lt1"/>
            </a:solidFill>
            <a:ln cap="flat" cmpd="sng" w="28575">
              <a:solidFill>
                <a:srgbClr val="C27BA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9"/>
            <p:cNvSpPr txBox="1"/>
            <p:nvPr/>
          </p:nvSpPr>
          <p:spPr>
            <a:xfrm>
              <a:off x="6373385" y="1856500"/>
              <a:ext cx="1362600" cy="1265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 sz="1200">
                  <a:solidFill>
                    <a:schemeClr val="dk1"/>
                  </a:solidFill>
                  <a:latin typeface="Calibri"/>
                  <a:ea typeface="Calibri"/>
                  <a:cs typeface="Calibri"/>
                  <a:sym typeface="Calibri"/>
                </a:rPr>
                <a:t>Alternativa  gourmet.</a:t>
              </a:r>
              <a:endParaRPr sz="1200">
                <a:solidFill>
                  <a:schemeClr val="dk1"/>
                </a:solidFill>
                <a:latin typeface="Calibri"/>
                <a:ea typeface="Calibri"/>
                <a:cs typeface="Calibri"/>
                <a:sym typeface="Calibri"/>
              </a:endParaRPr>
            </a:p>
            <a:p>
              <a:pPr indent="0" lvl="0" marL="0" rtl="0" algn="ctr">
                <a:lnSpc>
                  <a:spcPct val="115000"/>
                </a:lnSpc>
                <a:spcBef>
                  <a:spcPts val="0"/>
                </a:spcBef>
                <a:spcAft>
                  <a:spcPts val="0"/>
                </a:spcAft>
                <a:buNone/>
              </a:pPr>
              <a:r>
                <a:rPr lang="es" sz="1200">
                  <a:solidFill>
                    <a:schemeClr val="dk1"/>
                  </a:solidFill>
                  <a:latin typeface="Calibri"/>
                  <a:ea typeface="Calibri"/>
                  <a:cs typeface="Calibri"/>
                  <a:sym typeface="Calibri"/>
                </a:rPr>
                <a:t>Responde a distintas tendencias</a:t>
              </a:r>
              <a:endParaRPr sz="1200">
                <a:solidFill>
                  <a:schemeClr val="dk1"/>
                </a:solidFill>
                <a:latin typeface="Calibri"/>
                <a:ea typeface="Calibri"/>
                <a:cs typeface="Calibri"/>
                <a:sym typeface="Calibri"/>
              </a:endParaRPr>
            </a:p>
          </p:txBody>
        </p:sp>
      </p:grpSp>
      <p:grpSp>
        <p:nvGrpSpPr>
          <p:cNvPr id="407" name="Google Shape;407;p39"/>
          <p:cNvGrpSpPr/>
          <p:nvPr/>
        </p:nvGrpSpPr>
        <p:grpSpPr>
          <a:xfrm>
            <a:off x="4280075" y="2890612"/>
            <a:ext cx="1961903" cy="1911474"/>
            <a:chOff x="6077707" y="1644751"/>
            <a:chExt cx="1854000" cy="1854000"/>
          </a:xfrm>
        </p:grpSpPr>
        <p:sp>
          <p:nvSpPr>
            <p:cNvPr id="408" name="Google Shape;408;p39"/>
            <p:cNvSpPr/>
            <p:nvPr/>
          </p:nvSpPr>
          <p:spPr>
            <a:xfrm>
              <a:off x="6077707" y="1644751"/>
              <a:ext cx="1854000" cy="1854000"/>
            </a:xfrm>
            <a:prstGeom prst="ellipse">
              <a:avLst/>
            </a:prstGeom>
            <a:solidFill>
              <a:schemeClr val="lt1"/>
            </a:solidFill>
            <a:ln cap="flat" cmpd="sng" w="28575">
              <a:solidFill>
                <a:srgbClr val="E6913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9"/>
            <p:cNvSpPr txBox="1"/>
            <p:nvPr/>
          </p:nvSpPr>
          <p:spPr>
            <a:xfrm>
              <a:off x="6394357" y="1888001"/>
              <a:ext cx="1220700" cy="1240200"/>
            </a:xfrm>
            <a:prstGeom prst="rect">
              <a:avLst/>
            </a:prstGeom>
            <a:solidFill>
              <a:schemeClr val="lt1"/>
            </a:solidFill>
            <a:ln cap="flat" cmpd="sng" w="28575">
              <a:solidFill>
                <a:schemeClr val="lt1"/>
              </a:solidFill>
              <a:prstDash val="dash"/>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 sz="1200">
                  <a:solidFill>
                    <a:schemeClr val="dk1"/>
                  </a:solidFill>
                  <a:latin typeface="Calibri"/>
                  <a:ea typeface="Calibri"/>
                  <a:cs typeface="Calibri"/>
                  <a:sym typeface="Calibri"/>
                </a:rPr>
                <a:t>Mejoras en la producción , envases sostenibles , logística y digitalización comercial.</a:t>
              </a:r>
              <a:endParaRPr sz="1200">
                <a:solidFill>
                  <a:schemeClr val="dk1"/>
                </a:solidFill>
                <a:latin typeface="Calibri"/>
                <a:ea typeface="Calibri"/>
                <a:cs typeface="Calibri"/>
                <a:sym typeface="Calibri"/>
              </a:endParaRPr>
            </a:p>
          </p:txBody>
        </p:sp>
      </p:gr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0"/>
          <p:cNvSpPr txBox="1"/>
          <p:nvPr>
            <p:ph type="title"/>
          </p:nvPr>
        </p:nvSpPr>
        <p:spPr>
          <a:xfrm>
            <a:off x="438150" y="285750"/>
            <a:ext cx="4072500" cy="655800"/>
          </a:xfrm>
          <a:prstGeom prst="rect">
            <a:avLst/>
          </a:prstGeom>
          <a:noFill/>
          <a:ln>
            <a:noFill/>
          </a:ln>
        </p:spPr>
        <p:txBody>
          <a:bodyPr anchorCtr="0" anchor="t" bIns="22850" lIns="45725" spcFirstLastPara="1" rIns="45725" wrap="square" tIns="22850">
            <a:spAutoFit/>
          </a:bodyPr>
          <a:lstStyle/>
          <a:p>
            <a:pPr indent="0" lvl="0" marL="0" rtl="0" algn="l">
              <a:lnSpc>
                <a:spcPct val="90000"/>
              </a:lnSpc>
              <a:spcBef>
                <a:spcPts val="0"/>
              </a:spcBef>
              <a:spcAft>
                <a:spcPts val="0"/>
              </a:spcAft>
              <a:buNone/>
            </a:pPr>
            <a:r>
              <a:rPr lang="es">
                <a:solidFill>
                  <a:schemeClr val="accent1"/>
                </a:solidFill>
              </a:rPr>
              <a:t>Apartado 09</a:t>
            </a:r>
            <a:br>
              <a:rPr lang="es">
                <a:solidFill>
                  <a:schemeClr val="accent1"/>
                </a:solidFill>
              </a:rPr>
            </a:br>
            <a:r>
              <a:rPr lang="es">
                <a:solidFill>
                  <a:schemeClr val="accent5"/>
                </a:solidFill>
                <a:latin typeface="Libre Franklin Medium"/>
                <a:ea typeface="Libre Franklin Medium"/>
                <a:cs typeface="Libre Franklin Medium"/>
                <a:sym typeface="Libre Franklin Medium"/>
              </a:rPr>
              <a:t>Limitaciones y  prospectiva</a:t>
            </a:r>
            <a:endParaRPr>
              <a:solidFill>
                <a:schemeClr val="accent1"/>
              </a:solidFill>
            </a:endParaRPr>
          </a:p>
        </p:txBody>
      </p:sp>
      <p:sp>
        <p:nvSpPr>
          <p:cNvPr id="415" name="Google Shape;415;p40"/>
          <p:cNvSpPr txBox="1"/>
          <p:nvPr/>
        </p:nvSpPr>
        <p:spPr>
          <a:xfrm>
            <a:off x="8458200" y="4536282"/>
            <a:ext cx="866700" cy="4770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b="1" lang="es" sz="1400">
                <a:solidFill>
                  <a:schemeClr val="accent2"/>
                </a:solidFill>
                <a:latin typeface="Libre Franklin Medium"/>
                <a:ea typeface="Libre Franklin Medium"/>
                <a:cs typeface="Libre Franklin Medium"/>
                <a:sym typeface="Libre Franklin Medium"/>
              </a:rPr>
              <a:t>pág.</a:t>
            </a:r>
            <a:endParaRPr sz="700"/>
          </a:p>
          <a:p>
            <a:pPr indent="0" lvl="0" marL="0" marR="0" rtl="0" algn="l">
              <a:spcBef>
                <a:spcPts val="0"/>
              </a:spcBef>
              <a:spcAft>
                <a:spcPts val="0"/>
              </a:spcAft>
              <a:buNone/>
            </a:pPr>
            <a:r>
              <a:rPr b="1" lang="es" sz="1400">
                <a:solidFill>
                  <a:schemeClr val="accent2"/>
                </a:solidFill>
                <a:latin typeface="Libre Franklin Medium"/>
                <a:ea typeface="Libre Franklin Medium"/>
                <a:cs typeface="Libre Franklin Medium"/>
                <a:sym typeface="Libre Franklin Medium"/>
              </a:rPr>
              <a:t>0</a:t>
            </a:r>
            <a:fld id="{00000000-1234-1234-1234-123412341234}" type="slidenum">
              <a:rPr b="1" lang="es" sz="1400">
                <a:solidFill>
                  <a:schemeClr val="accent2"/>
                </a:solidFill>
                <a:latin typeface="Libre Franklin Medium"/>
                <a:ea typeface="Libre Franklin Medium"/>
                <a:cs typeface="Libre Franklin Medium"/>
                <a:sym typeface="Libre Franklin Medium"/>
              </a:rPr>
              <a:t>‹#›</a:t>
            </a:fld>
            <a:endParaRPr b="1" sz="1400">
              <a:solidFill>
                <a:schemeClr val="accent2"/>
              </a:solidFill>
              <a:latin typeface="Libre Franklin Medium"/>
              <a:ea typeface="Libre Franklin Medium"/>
              <a:cs typeface="Libre Franklin Medium"/>
              <a:sym typeface="Libre Franklin Medium"/>
            </a:endParaRPr>
          </a:p>
        </p:txBody>
      </p:sp>
      <p:graphicFrame>
        <p:nvGraphicFramePr>
          <p:cNvPr id="416" name="Google Shape;416;p40"/>
          <p:cNvGraphicFramePr/>
          <p:nvPr/>
        </p:nvGraphicFramePr>
        <p:xfrm>
          <a:off x="438150" y="941550"/>
          <a:ext cx="3000000" cy="3000000"/>
        </p:xfrm>
        <a:graphic>
          <a:graphicData uri="http://schemas.openxmlformats.org/drawingml/2006/table">
            <a:tbl>
              <a:tblPr>
                <a:noFill/>
                <a:tableStyleId>{8ABBEE87-62AD-4EDD-BEDA-F695716BED0F}</a:tableStyleId>
              </a:tblPr>
              <a:tblGrid>
                <a:gridCol w="3619500"/>
                <a:gridCol w="3619500"/>
              </a:tblGrid>
              <a:tr h="381000">
                <a:tc>
                  <a:txBody>
                    <a:bodyPr/>
                    <a:lstStyle/>
                    <a:p>
                      <a:pPr indent="0" lvl="0" marL="0" rtl="0" algn="l">
                        <a:spcBef>
                          <a:spcPts val="0"/>
                        </a:spcBef>
                        <a:spcAft>
                          <a:spcPts val="0"/>
                        </a:spcAft>
                        <a:buNone/>
                      </a:pPr>
                      <a:r>
                        <a:rPr b="1" lang="es">
                          <a:latin typeface="Calibri"/>
                          <a:ea typeface="Calibri"/>
                          <a:cs typeface="Calibri"/>
                          <a:sym typeface="Calibri"/>
                        </a:rPr>
                        <a:t>Limitaciones</a:t>
                      </a:r>
                      <a:endParaRPr b="1">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93C47D"/>
                      </a:solidFill>
                      <a:prstDash val="dash"/>
                      <a:round/>
                      <a:headEnd len="sm" w="sm" type="none"/>
                      <a:tailEnd len="sm" w="sm" type="none"/>
                    </a:lnT>
                    <a:lnB cap="flat" cmpd="sng" w="19050">
                      <a:solidFill>
                        <a:srgbClr val="93C47D"/>
                      </a:solidFill>
                      <a:prstDash val="dash"/>
                      <a:round/>
                      <a:headEnd len="sm" w="sm" type="none"/>
                      <a:tailEnd len="sm" w="sm" type="none"/>
                    </a:lnB>
                  </a:tcPr>
                </a:tc>
                <a:tc>
                  <a:txBody>
                    <a:bodyPr/>
                    <a:lstStyle/>
                    <a:p>
                      <a:pPr indent="0" lvl="0" marL="0" rtl="0" algn="l">
                        <a:spcBef>
                          <a:spcPts val="0"/>
                        </a:spcBef>
                        <a:spcAft>
                          <a:spcPts val="0"/>
                        </a:spcAft>
                        <a:buNone/>
                      </a:pPr>
                      <a:r>
                        <a:rPr b="1" lang="es">
                          <a:latin typeface="Calibri"/>
                          <a:ea typeface="Calibri"/>
                          <a:cs typeface="Calibri"/>
                          <a:sym typeface="Calibri"/>
                        </a:rPr>
                        <a:t>Prospectiva</a:t>
                      </a:r>
                      <a:endParaRPr b="1">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219BC3"/>
                      </a:solidFill>
                      <a:prstDash val="dash"/>
                      <a:round/>
                      <a:headEnd len="sm" w="sm" type="none"/>
                      <a:tailEnd len="sm" w="sm" type="none"/>
                    </a:lnR>
                    <a:lnT cap="flat" cmpd="sng" w="19050">
                      <a:solidFill>
                        <a:srgbClr val="219BC3"/>
                      </a:solidFill>
                      <a:prstDash val="dash"/>
                      <a:round/>
                      <a:headEnd len="sm" w="sm" type="none"/>
                      <a:tailEnd len="sm" w="sm" type="none"/>
                    </a:lnT>
                    <a:lnB cap="flat" cmpd="sng" w="19050">
                      <a:solidFill>
                        <a:srgbClr val="219BC3"/>
                      </a:solidFill>
                      <a:prstDash val="dash"/>
                      <a:round/>
                      <a:headEnd len="sm" w="sm" type="none"/>
                      <a:tailEnd len="sm" w="sm" type="none"/>
                    </a:lnB>
                  </a:tcPr>
                </a:tc>
              </a:tr>
              <a:tr h="381000">
                <a:tc>
                  <a:txBody>
                    <a:bodyPr/>
                    <a:lstStyle/>
                    <a:p>
                      <a:pPr indent="0" lvl="0" marL="0" rtl="0" algn="l">
                        <a:spcBef>
                          <a:spcPts val="0"/>
                        </a:spcBef>
                        <a:spcAft>
                          <a:spcPts val="0"/>
                        </a:spcAft>
                        <a:buNone/>
                      </a:pPr>
                      <a:r>
                        <a:rPr lang="es">
                          <a:latin typeface="Calibri"/>
                          <a:ea typeface="Calibri"/>
                          <a:cs typeface="Calibri"/>
                          <a:sym typeface="Calibri"/>
                        </a:rPr>
                        <a:t>Alta inversión inicial</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93C47D"/>
                      </a:solidFill>
                      <a:prstDash val="dash"/>
                      <a:round/>
                      <a:headEnd len="sm" w="sm" type="none"/>
                      <a:tailEnd len="sm" w="sm" type="none"/>
                    </a:lnT>
                    <a:lnB cap="flat" cmpd="sng" w="19050">
                      <a:solidFill>
                        <a:srgbClr val="93C47D"/>
                      </a:solidFill>
                      <a:prstDash val="dash"/>
                      <a:round/>
                      <a:headEnd len="sm" w="sm" type="none"/>
                      <a:tailEnd len="sm" w="sm" type="none"/>
                    </a:lnB>
                  </a:tcPr>
                </a:tc>
                <a:tc>
                  <a:txBody>
                    <a:bodyPr/>
                    <a:lstStyle/>
                    <a:p>
                      <a:pPr indent="0" lvl="0" marL="0" rtl="0" algn="l">
                        <a:spcBef>
                          <a:spcPts val="0"/>
                        </a:spcBef>
                        <a:spcAft>
                          <a:spcPts val="0"/>
                        </a:spcAft>
                        <a:buNone/>
                      </a:pPr>
                      <a:r>
                        <a:rPr lang="es">
                          <a:latin typeface="Calibri"/>
                          <a:ea typeface="Calibri"/>
                          <a:cs typeface="Calibri"/>
                          <a:sym typeface="Calibri"/>
                        </a:rPr>
                        <a:t>Escalabilidad </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219BC3"/>
                      </a:solidFill>
                      <a:prstDash val="dash"/>
                      <a:round/>
                      <a:headEnd len="sm" w="sm" type="none"/>
                      <a:tailEnd len="sm" w="sm" type="none"/>
                    </a:lnR>
                    <a:lnT cap="flat" cmpd="sng" w="19050">
                      <a:solidFill>
                        <a:srgbClr val="219BC3"/>
                      </a:solidFill>
                      <a:prstDash val="dash"/>
                      <a:round/>
                      <a:headEnd len="sm" w="sm" type="none"/>
                      <a:tailEnd len="sm" w="sm" type="none"/>
                    </a:lnT>
                    <a:lnB cap="flat" cmpd="sng" w="19050">
                      <a:solidFill>
                        <a:srgbClr val="219BC3"/>
                      </a:solidFill>
                      <a:prstDash val="dash"/>
                      <a:round/>
                      <a:headEnd len="sm" w="sm" type="none"/>
                      <a:tailEnd len="sm" w="sm" type="none"/>
                    </a:lnB>
                  </a:tcPr>
                </a:tc>
              </a:tr>
              <a:tr h="381000">
                <a:tc>
                  <a:txBody>
                    <a:bodyPr/>
                    <a:lstStyle/>
                    <a:p>
                      <a:pPr indent="0" lvl="0" marL="0" rtl="0" algn="l">
                        <a:spcBef>
                          <a:spcPts val="0"/>
                        </a:spcBef>
                        <a:spcAft>
                          <a:spcPts val="0"/>
                        </a:spcAft>
                        <a:buNone/>
                      </a:pPr>
                      <a:r>
                        <a:rPr lang="es">
                          <a:latin typeface="Calibri"/>
                          <a:ea typeface="Calibri"/>
                          <a:cs typeface="Calibri"/>
                          <a:sym typeface="Calibri"/>
                        </a:rPr>
                        <a:t>Barreras de entrada</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93C47D"/>
                      </a:solidFill>
                      <a:prstDash val="dash"/>
                      <a:round/>
                      <a:headEnd len="sm" w="sm" type="none"/>
                      <a:tailEnd len="sm" w="sm" type="none"/>
                    </a:lnT>
                    <a:lnB cap="flat" cmpd="sng" w="19050">
                      <a:solidFill>
                        <a:srgbClr val="93C47D"/>
                      </a:solidFill>
                      <a:prstDash val="dash"/>
                      <a:round/>
                      <a:headEnd len="sm" w="sm" type="none"/>
                      <a:tailEnd len="sm" w="sm" type="none"/>
                    </a:lnB>
                  </a:tcPr>
                </a:tc>
                <a:tc>
                  <a:txBody>
                    <a:bodyPr/>
                    <a:lstStyle/>
                    <a:p>
                      <a:pPr indent="0" lvl="0" marL="0" rtl="0" algn="l">
                        <a:spcBef>
                          <a:spcPts val="0"/>
                        </a:spcBef>
                        <a:spcAft>
                          <a:spcPts val="0"/>
                        </a:spcAft>
                        <a:buNone/>
                      </a:pPr>
                      <a:r>
                        <a:rPr lang="es">
                          <a:latin typeface="Calibri"/>
                          <a:ea typeface="Calibri"/>
                          <a:cs typeface="Calibri"/>
                          <a:sym typeface="Calibri"/>
                        </a:rPr>
                        <a:t>Acceso a nuevos mercados</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219BC3"/>
                      </a:solidFill>
                      <a:prstDash val="dash"/>
                      <a:round/>
                      <a:headEnd len="sm" w="sm" type="none"/>
                      <a:tailEnd len="sm" w="sm" type="none"/>
                    </a:lnR>
                    <a:lnT cap="flat" cmpd="sng" w="19050">
                      <a:solidFill>
                        <a:srgbClr val="219BC3"/>
                      </a:solidFill>
                      <a:prstDash val="dash"/>
                      <a:round/>
                      <a:headEnd len="sm" w="sm" type="none"/>
                      <a:tailEnd len="sm" w="sm" type="none"/>
                    </a:lnT>
                    <a:lnB cap="flat" cmpd="sng" w="19050">
                      <a:solidFill>
                        <a:srgbClr val="219BC3"/>
                      </a:solidFill>
                      <a:prstDash val="dash"/>
                      <a:round/>
                      <a:headEnd len="sm" w="sm" type="none"/>
                      <a:tailEnd len="sm" w="sm" type="none"/>
                    </a:lnB>
                  </a:tcPr>
                </a:tc>
              </a:tr>
              <a:tr h="381000">
                <a:tc>
                  <a:txBody>
                    <a:bodyPr/>
                    <a:lstStyle/>
                    <a:p>
                      <a:pPr indent="0" lvl="0" marL="0" rtl="0" algn="l">
                        <a:spcBef>
                          <a:spcPts val="0"/>
                        </a:spcBef>
                        <a:spcAft>
                          <a:spcPts val="0"/>
                        </a:spcAft>
                        <a:buNone/>
                      </a:pPr>
                      <a:r>
                        <a:rPr lang="es">
                          <a:latin typeface="Calibri"/>
                          <a:ea typeface="Calibri"/>
                          <a:cs typeface="Calibri"/>
                          <a:sym typeface="Calibri"/>
                        </a:rPr>
                        <a:t>Dependencia</a:t>
                      </a:r>
                      <a:r>
                        <a:rPr lang="es">
                          <a:latin typeface="Calibri"/>
                          <a:ea typeface="Calibri"/>
                          <a:cs typeface="Calibri"/>
                          <a:sym typeface="Calibri"/>
                        </a:rPr>
                        <a:t> de la demanda del minorista</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93C47D"/>
                      </a:solidFill>
                      <a:prstDash val="dash"/>
                      <a:round/>
                      <a:headEnd len="sm" w="sm" type="none"/>
                      <a:tailEnd len="sm" w="sm" type="none"/>
                    </a:lnT>
                    <a:lnB cap="flat" cmpd="sng" w="19050">
                      <a:solidFill>
                        <a:srgbClr val="93C47D"/>
                      </a:solidFill>
                      <a:prstDash val="dash"/>
                      <a:round/>
                      <a:headEnd len="sm" w="sm" type="none"/>
                      <a:tailEnd len="sm" w="sm" type="none"/>
                    </a:lnB>
                  </a:tcPr>
                </a:tc>
                <a:tc>
                  <a:txBody>
                    <a:bodyPr/>
                    <a:lstStyle/>
                    <a:p>
                      <a:pPr indent="0" lvl="0" marL="0" rtl="0" algn="l">
                        <a:spcBef>
                          <a:spcPts val="0"/>
                        </a:spcBef>
                        <a:spcAft>
                          <a:spcPts val="0"/>
                        </a:spcAft>
                        <a:buNone/>
                      </a:pPr>
                      <a:r>
                        <a:rPr lang="es">
                          <a:latin typeface="Calibri"/>
                          <a:ea typeface="Calibri"/>
                          <a:cs typeface="Calibri"/>
                          <a:sym typeface="Calibri"/>
                        </a:rPr>
                        <a:t>Optimización de costos</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219BC3"/>
                      </a:solidFill>
                      <a:prstDash val="dash"/>
                      <a:round/>
                      <a:headEnd len="sm" w="sm" type="none"/>
                      <a:tailEnd len="sm" w="sm" type="none"/>
                    </a:lnR>
                    <a:lnT cap="flat" cmpd="sng" w="19050">
                      <a:solidFill>
                        <a:srgbClr val="219BC3"/>
                      </a:solidFill>
                      <a:prstDash val="dash"/>
                      <a:round/>
                      <a:headEnd len="sm" w="sm" type="none"/>
                      <a:tailEnd len="sm" w="sm" type="none"/>
                    </a:lnT>
                    <a:lnB cap="flat" cmpd="sng" w="19050">
                      <a:solidFill>
                        <a:srgbClr val="219BC3"/>
                      </a:solidFill>
                      <a:prstDash val="dash"/>
                      <a:round/>
                      <a:headEnd len="sm" w="sm" type="none"/>
                      <a:tailEnd len="sm" w="sm" type="none"/>
                    </a:lnB>
                  </a:tcPr>
                </a:tc>
              </a:tr>
              <a:tr h="381000">
                <a:tc>
                  <a:txBody>
                    <a:bodyPr/>
                    <a:lstStyle/>
                    <a:p>
                      <a:pPr indent="0" lvl="0" marL="0" rtl="0" algn="l">
                        <a:spcBef>
                          <a:spcPts val="0"/>
                        </a:spcBef>
                        <a:spcAft>
                          <a:spcPts val="0"/>
                        </a:spcAft>
                        <a:buNone/>
                      </a:pPr>
                      <a:r>
                        <a:rPr lang="es">
                          <a:latin typeface="Calibri"/>
                          <a:ea typeface="Calibri"/>
                          <a:cs typeface="Calibri"/>
                          <a:sym typeface="Calibri"/>
                        </a:rPr>
                        <a:t>Logística compleja</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93C47D"/>
                      </a:solidFill>
                      <a:prstDash val="dash"/>
                      <a:round/>
                      <a:headEnd len="sm" w="sm" type="none"/>
                      <a:tailEnd len="sm" w="sm" type="none"/>
                    </a:lnT>
                    <a:lnB cap="flat" cmpd="sng" w="19050">
                      <a:solidFill>
                        <a:srgbClr val="93C47D"/>
                      </a:solidFill>
                      <a:prstDash val="dash"/>
                      <a:round/>
                      <a:headEnd len="sm" w="sm" type="none"/>
                      <a:tailEnd len="sm" w="sm" type="none"/>
                    </a:lnB>
                  </a:tcPr>
                </a:tc>
                <a:tc>
                  <a:txBody>
                    <a:bodyPr/>
                    <a:lstStyle/>
                    <a:p>
                      <a:pPr indent="0" lvl="0" marL="0" rtl="0" algn="l">
                        <a:spcBef>
                          <a:spcPts val="0"/>
                        </a:spcBef>
                        <a:spcAft>
                          <a:spcPts val="0"/>
                        </a:spcAft>
                        <a:buNone/>
                      </a:pPr>
                      <a:r>
                        <a:rPr lang="es">
                          <a:latin typeface="Calibri"/>
                          <a:ea typeface="Calibri"/>
                          <a:cs typeface="Calibri"/>
                          <a:sym typeface="Calibri"/>
                        </a:rPr>
                        <a:t>Posicionamiento de marca.</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219BC3"/>
                      </a:solidFill>
                      <a:prstDash val="dash"/>
                      <a:round/>
                      <a:headEnd len="sm" w="sm" type="none"/>
                      <a:tailEnd len="sm" w="sm" type="none"/>
                    </a:lnR>
                    <a:lnT cap="flat" cmpd="sng" w="19050">
                      <a:solidFill>
                        <a:srgbClr val="219BC3"/>
                      </a:solidFill>
                      <a:prstDash val="dash"/>
                      <a:round/>
                      <a:headEnd len="sm" w="sm" type="none"/>
                      <a:tailEnd len="sm" w="sm" type="none"/>
                    </a:lnT>
                    <a:lnB cap="flat" cmpd="sng" w="19050">
                      <a:solidFill>
                        <a:srgbClr val="219BC3"/>
                      </a:solidFill>
                      <a:prstDash val="dash"/>
                      <a:round/>
                      <a:headEnd len="sm" w="sm" type="none"/>
                      <a:tailEnd len="sm" w="sm" type="none"/>
                    </a:lnB>
                  </a:tcPr>
                </a:tc>
              </a:tr>
              <a:tr h="381000">
                <a:tc>
                  <a:txBody>
                    <a:bodyPr/>
                    <a:lstStyle/>
                    <a:p>
                      <a:pPr indent="0" lvl="0" marL="0" rtl="0" algn="l">
                        <a:spcBef>
                          <a:spcPts val="0"/>
                        </a:spcBef>
                        <a:spcAft>
                          <a:spcPts val="0"/>
                        </a:spcAft>
                        <a:buNone/>
                      </a:pPr>
                      <a:r>
                        <a:rPr lang="es">
                          <a:latin typeface="Calibri"/>
                          <a:ea typeface="Calibri"/>
                          <a:cs typeface="Calibri"/>
                          <a:sym typeface="Calibri"/>
                        </a:rPr>
                        <a:t>Escaso feedback con el consumidor final.</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93C47D"/>
                      </a:solidFill>
                      <a:prstDash val="dash"/>
                      <a:round/>
                      <a:headEnd len="sm" w="sm" type="none"/>
                      <a:tailEnd len="sm" w="sm" type="none"/>
                    </a:lnR>
                    <a:lnT cap="flat" cmpd="sng" w="19050">
                      <a:solidFill>
                        <a:srgbClr val="93C47D"/>
                      </a:solidFill>
                      <a:prstDash val="dash"/>
                      <a:round/>
                      <a:headEnd len="sm" w="sm" type="none"/>
                      <a:tailEnd len="sm" w="sm" type="none"/>
                    </a:lnT>
                    <a:lnB cap="flat" cmpd="sng" w="19050">
                      <a:solidFill>
                        <a:srgbClr val="93C47D"/>
                      </a:solidFill>
                      <a:prstDash val="dash"/>
                      <a:round/>
                      <a:headEnd len="sm" w="sm" type="none"/>
                      <a:tailEnd len="sm" w="sm" type="none"/>
                    </a:lnB>
                  </a:tcPr>
                </a:tc>
                <a:tc>
                  <a:txBody>
                    <a:bodyPr/>
                    <a:lstStyle/>
                    <a:p>
                      <a:pPr indent="0" lvl="0" marL="0" rtl="0" algn="l">
                        <a:spcBef>
                          <a:spcPts val="0"/>
                        </a:spcBef>
                        <a:spcAft>
                          <a:spcPts val="0"/>
                        </a:spcAft>
                        <a:buNone/>
                      </a:pPr>
                      <a:r>
                        <a:rPr lang="es">
                          <a:latin typeface="Calibri"/>
                          <a:ea typeface="Calibri"/>
                          <a:cs typeface="Calibri"/>
                          <a:sym typeface="Calibri"/>
                        </a:rPr>
                        <a:t>Innovación en la cadena de suministro</a:t>
                      </a:r>
                      <a:endParaRPr>
                        <a:latin typeface="Calibri"/>
                        <a:ea typeface="Calibri"/>
                        <a:cs typeface="Calibri"/>
                        <a:sym typeface="Calibri"/>
                      </a:endParaRPr>
                    </a:p>
                  </a:txBody>
                  <a:tcPr marT="91425" marB="91425" marR="91425" marL="91425">
                    <a:lnL cap="flat" cmpd="sng" w="19050">
                      <a:solidFill>
                        <a:srgbClr val="93C47D"/>
                      </a:solidFill>
                      <a:prstDash val="dash"/>
                      <a:round/>
                      <a:headEnd len="sm" w="sm" type="none"/>
                      <a:tailEnd len="sm" w="sm" type="none"/>
                    </a:lnL>
                    <a:lnR cap="flat" cmpd="sng" w="19050">
                      <a:solidFill>
                        <a:srgbClr val="219BC3"/>
                      </a:solidFill>
                      <a:prstDash val="dash"/>
                      <a:round/>
                      <a:headEnd len="sm" w="sm" type="none"/>
                      <a:tailEnd len="sm" w="sm" type="none"/>
                    </a:lnR>
                    <a:lnT cap="flat" cmpd="sng" w="19050">
                      <a:solidFill>
                        <a:srgbClr val="219BC3"/>
                      </a:solidFill>
                      <a:prstDash val="dash"/>
                      <a:round/>
                      <a:headEnd len="sm" w="sm" type="none"/>
                      <a:tailEnd len="sm" w="sm" type="none"/>
                    </a:lnT>
                    <a:lnB cap="flat" cmpd="sng" w="19050">
                      <a:solidFill>
                        <a:srgbClr val="219BC3"/>
                      </a:solidFill>
                      <a:prstDash val="dash"/>
                      <a:round/>
                      <a:headEnd len="sm" w="sm" type="none"/>
                      <a:tailEnd len="sm" w="sm" type="none"/>
                    </a:lnB>
                  </a:tcPr>
                </a:tc>
              </a:tr>
            </a:tbl>
          </a:graphicData>
        </a:graphic>
      </p:graphicFrame>
      <p:sp>
        <p:nvSpPr>
          <p:cNvPr id="417" name="Google Shape;417;p40"/>
          <p:cNvSpPr/>
          <p:nvPr/>
        </p:nvSpPr>
        <p:spPr>
          <a:xfrm>
            <a:off x="3115425" y="3318750"/>
            <a:ext cx="573000" cy="407400"/>
          </a:xfrm>
          <a:prstGeom prst="downArrow">
            <a:avLst>
              <a:gd fmla="val 50000" name="adj1"/>
              <a:gd fmla="val 50000" name="adj2"/>
            </a:avLst>
          </a:prstGeom>
          <a:solidFill>
            <a:srgbClr val="93C47D"/>
          </a:solidFill>
          <a:ln cap="flat" cmpd="sng" w="19050">
            <a:solidFill>
              <a:srgbClr val="666666"/>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40"/>
          <p:cNvSpPr txBox="1"/>
          <p:nvPr/>
        </p:nvSpPr>
        <p:spPr>
          <a:xfrm>
            <a:off x="1225900" y="3726150"/>
            <a:ext cx="6162000" cy="1004400"/>
          </a:xfrm>
          <a:prstGeom prst="rect">
            <a:avLst/>
          </a:prstGeom>
          <a:solidFill>
            <a:srgbClr val="93C47D"/>
          </a:solidFill>
          <a:ln cap="flat" cmpd="sng" w="19050">
            <a:solidFill>
              <a:srgbClr val="000000"/>
            </a:solidFill>
            <a:prstDash val="lg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
                <a:solidFill>
                  <a:schemeClr val="lt1"/>
                </a:solidFill>
                <a:latin typeface="Calibri"/>
                <a:ea typeface="Calibri"/>
                <a:cs typeface="Calibri"/>
                <a:sym typeface="Calibri"/>
              </a:rPr>
              <a:t>Recomendaciones: Se debe de realizar más estudios de mercado, negociar las condiciones de fabricantes y transportistas. </a:t>
            </a:r>
            <a:endParaRPr b="1">
              <a:solidFill>
                <a:schemeClr val="lt1"/>
              </a:solidFill>
              <a:latin typeface="Calibri"/>
              <a:ea typeface="Calibri"/>
              <a:cs typeface="Calibri"/>
              <a:sym typeface="Calibri"/>
            </a:endParaRPr>
          </a:p>
          <a:p>
            <a:pPr indent="0" lvl="0" marL="0" rtl="0" algn="ctr">
              <a:spcBef>
                <a:spcPts val="0"/>
              </a:spcBef>
              <a:spcAft>
                <a:spcPts val="0"/>
              </a:spcAft>
              <a:buNone/>
            </a:pPr>
            <a:r>
              <a:rPr b="1" lang="es">
                <a:solidFill>
                  <a:schemeClr val="lt1"/>
                </a:solidFill>
                <a:latin typeface="Calibri"/>
                <a:ea typeface="Calibri"/>
                <a:cs typeface="Calibri"/>
                <a:sym typeface="Calibri"/>
              </a:rPr>
              <a:t>Necesaria una estrategia en relación con los precios teniendo en cuenta los márgenes sostenibles.</a:t>
            </a:r>
            <a:endParaRPr b="1">
              <a:solidFill>
                <a:schemeClr val="lt1"/>
              </a:solidFill>
              <a:latin typeface="Calibri"/>
              <a:ea typeface="Calibri"/>
              <a:cs typeface="Calibri"/>
              <a:sym typeface="Calibri"/>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1"/>
          <p:cNvSpPr txBox="1"/>
          <p:nvPr/>
        </p:nvSpPr>
        <p:spPr>
          <a:xfrm>
            <a:off x="2990850" y="2294732"/>
            <a:ext cx="3162300" cy="554038"/>
          </a:xfrm>
          <a:prstGeom prst="rect">
            <a:avLst/>
          </a:prstGeom>
          <a:noFill/>
          <a:ln>
            <a:noFill/>
          </a:ln>
        </p:spPr>
        <p:txBody>
          <a:bodyPr anchorCtr="0" anchor="t" bIns="22850" lIns="45725" spcFirstLastPara="1" rIns="45725" wrap="square" tIns="22850">
            <a:spAutoFit/>
          </a:bodyPr>
          <a:lstStyle/>
          <a:p>
            <a:pPr indent="0" lvl="0" marL="0" marR="0" rtl="0" algn="ctr">
              <a:spcBef>
                <a:spcPts val="0"/>
              </a:spcBef>
              <a:spcAft>
                <a:spcPts val="0"/>
              </a:spcAft>
              <a:buNone/>
            </a:pPr>
            <a:r>
              <a:rPr b="1" lang="es" sz="3300">
                <a:solidFill>
                  <a:schemeClr val="accent1"/>
                </a:solidFill>
                <a:latin typeface="Libre Franklin"/>
                <a:ea typeface="Libre Franklin"/>
                <a:cs typeface="Libre Franklin"/>
                <a:sym typeface="Libre Franklin"/>
              </a:rPr>
              <a:t>muchas </a:t>
            </a:r>
            <a:r>
              <a:rPr b="1" lang="es" sz="3300">
                <a:solidFill>
                  <a:schemeClr val="accent5"/>
                </a:solidFill>
                <a:latin typeface="Libre Franklin"/>
                <a:ea typeface="Libre Franklin"/>
                <a:cs typeface="Libre Franklin"/>
                <a:sym typeface="Libre Franklin"/>
              </a:rPr>
              <a:t>gracias.</a:t>
            </a:r>
            <a:endParaRPr sz="700"/>
          </a:p>
        </p:txBody>
      </p:sp>
      <p:grpSp>
        <p:nvGrpSpPr>
          <p:cNvPr id="424" name="Google Shape;424;p41"/>
          <p:cNvGrpSpPr/>
          <p:nvPr/>
        </p:nvGrpSpPr>
        <p:grpSpPr>
          <a:xfrm>
            <a:off x="2755107" y="2228850"/>
            <a:ext cx="342900" cy="342900"/>
            <a:chOff x="6324600" y="4114799"/>
            <a:chExt cx="685800" cy="685800"/>
          </a:xfrm>
        </p:grpSpPr>
        <p:cxnSp>
          <p:nvCxnSpPr>
            <p:cNvPr id="425" name="Google Shape;425;p41"/>
            <p:cNvCxnSpPr/>
            <p:nvPr/>
          </p:nvCxnSpPr>
          <p:spPr>
            <a:xfrm rot="10800000">
              <a:off x="6324600" y="4114799"/>
              <a:ext cx="0" cy="685800"/>
            </a:xfrm>
            <a:prstGeom prst="straightConnector1">
              <a:avLst/>
            </a:prstGeom>
            <a:noFill/>
            <a:ln cap="sq" cmpd="sng" w="38100">
              <a:solidFill>
                <a:schemeClr val="accent1"/>
              </a:solidFill>
              <a:prstDash val="solid"/>
              <a:bevel/>
              <a:headEnd len="sm" w="sm" type="none"/>
              <a:tailEnd len="sm" w="sm" type="none"/>
            </a:ln>
          </p:spPr>
        </p:cxnSp>
        <p:cxnSp>
          <p:nvCxnSpPr>
            <p:cNvPr id="426" name="Google Shape;426;p41"/>
            <p:cNvCxnSpPr/>
            <p:nvPr/>
          </p:nvCxnSpPr>
          <p:spPr>
            <a:xfrm>
              <a:off x="6324600" y="4114799"/>
              <a:ext cx="685800" cy="0"/>
            </a:xfrm>
            <a:prstGeom prst="straightConnector1">
              <a:avLst/>
            </a:prstGeom>
            <a:noFill/>
            <a:ln cap="sq" cmpd="sng" w="38100">
              <a:solidFill>
                <a:schemeClr val="accent1"/>
              </a:solidFill>
              <a:prstDash val="solid"/>
              <a:bevel/>
              <a:headEnd len="sm" w="sm" type="none"/>
              <a:tailEnd len="sm" w="sm" type="none"/>
            </a:ln>
          </p:spPr>
        </p:cxnSp>
      </p:grpSp>
      <p:grpSp>
        <p:nvGrpSpPr>
          <p:cNvPr id="427" name="Google Shape;427;p41"/>
          <p:cNvGrpSpPr/>
          <p:nvPr/>
        </p:nvGrpSpPr>
        <p:grpSpPr>
          <a:xfrm rot="10800000">
            <a:off x="6005513" y="2571750"/>
            <a:ext cx="342900" cy="342900"/>
            <a:chOff x="6324600" y="4114799"/>
            <a:chExt cx="685800" cy="685800"/>
          </a:xfrm>
        </p:grpSpPr>
        <p:cxnSp>
          <p:nvCxnSpPr>
            <p:cNvPr id="428" name="Google Shape;428;p41"/>
            <p:cNvCxnSpPr/>
            <p:nvPr/>
          </p:nvCxnSpPr>
          <p:spPr>
            <a:xfrm rot="10800000">
              <a:off x="6324600" y="4114799"/>
              <a:ext cx="0" cy="685800"/>
            </a:xfrm>
            <a:prstGeom prst="straightConnector1">
              <a:avLst/>
            </a:prstGeom>
            <a:noFill/>
            <a:ln cap="sq" cmpd="sng" w="38100">
              <a:solidFill>
                <a:schemeClr val="accent1"/>
              </a:solidFill>
              <a:prstDash val="solid"/>
              <a:bevel/>
              <a:headEnd len="sm" w="sm" type="none"/>
              <a:tailEnd len="sm" w="sm" type="none"/>
            </a:ln>
          </p:spPr>
        </p:cxnSp>
        <p:cxnSp>
          <p:nvCxnSpPr>
            <p:cNvPr id="429" name="Google Shape;429;p41"/>
            <p:cNvCxnSpPr/>
            <p:nvPr/>
          </p:nvCxnSpPr>
          <p:spPr>
            <a:xfrm>
              <a:off x="6324600" y="4114799"/>
              <a:ext cx="685800" cy="0"/>
            </a:xfrm>
            <a:prstGeom prst="straightConnector1">
              <a:avLst/>
            </a:prstGeom>
            <a:noFill/>
            <a:ln cap="sq" cmpd="sng" w="38100">
              <a:solidFill>
                <a:schemeClr val="accent1"/>
              </a:solidFill>
              <a:prstDash val="solid"/>
              <a:bevel/>
              <a:headEnd len="sm" w="sm" type="none"/>
              <a:tailEnd len="sm" w="sm" type="none"/>
            </a:ln>
          </p:spPr>
        </p:cxnSp>
      </p:grpSp>
    </p:spTree>
  </p:cSld>
  <p:clrMapOvr>
    <a:masterClrMapping/>
  </p:clrMapOvr>
  <p:transition spd="med">
    <p:push dir="r"/>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AM SLIDES">
  <a:themeElements>
    <a:clrScheme name="UNIR">
      <a:dk1>
        <a:srgbClr val="0C0B0B"/>
      </a:dk1>
      <a:lt1>
        <a:srgbClr val="FFFFFF"/>
      </a:lt1>
      <a:dk2>
        <a:srgbClr val="858591"/>
      </a:dk2>
      <a:lt2>
        <a:srgbClr val="F2F2F5"/>
      </a:lt2>
      <a:accent1>
        <a:srgbClr val="219BC3"/>
      </a:accent1>
      <a:accent2>
        <a:srgbClr val="C0C0C8"/>
      </a:accent2>
      <a:accent3>
        <a:srgbClr val="219BC3"/>
      </a:accent3>
      <a:accent4>
        <a:srgbClr val="FFFFFF"/>
      </a:accent4>
      <a:accent5>
        <a:srgbClr val="00566C"/>
      </a:accent5>
      <a:accent6>
        <a:srgbClr val="00566C"/>
      </a:accent6>
      <a:hlink>
        <a:srgbClr val="00566C"/>
      </a:hlink>
      <a:folHlink>
        <a:srgbClr val="1E9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